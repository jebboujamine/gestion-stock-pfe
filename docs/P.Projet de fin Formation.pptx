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78" r:id="rId5"/>
    <p:sldId id="259" r:id="rId6"/>
    <p:sldId id="260" r:id="rId7"/>
    <p:sldId id="261" r:id="rId8"/>
    <p:sldId id="262" r:id="rId9"/>
    <p:sldId id="263" r:id="rId10"/>
    <p:sldId id="264" r:id="rId11"/>
    <p:sldId id="265" r:id="rId12"/>
    <p:sldId id="268" r:id="rId13"/>
    <p:sldId id="266" r:id="rId14"/>
    <p:sldId id="267" r:id="rId15"/>
    <p:sldId id="269" r:id="rId16"/>
    <p:sldId id="270" r:id="rId17"/>
    <p:sldId id="271" r:id="rId18"/>
    <p:sldId id="277" r:id="rId19"/>
    <p:sldId id="272" r:id="rId20"/>
    <p:sldId id="273" r:id="rId21"/>
    <p:sldId id="274" r:id="rId22"/>
    <p:sldId id="275" r:id="rId23"/>
    <p:sldId id="279" r:id="rId24"/>
    <p:sldId id="280" r:id="rId25"/>
    <p:sldId id="281" r:id="rId26"/>
    <p:sldId id="282" r:id="rId27"/>
    <p:sldId id="283" r:id="rId28"/>
    <p:sldId id="284" r:id="rId29"/>
    <p:sldId id="276"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544" autoAdjust="0"/>
    <p:restoredTop sz="93812" autoAdjust="0"/>
  </p:normalViewPr>
  <p:slideViewPr>
    <p:cSldViewPr snapToGrid="0">
      <p:cViewPr varScale="1">
        <p:scale>
          <a:sx n="63" d="100"/>
          <a:sy n="63" d="100"/>
        </p:scale>
        <p:origin x="1158" y="60"/>
      </p:cViewPr>
      <p:guideLst/>
    </p:cSldViewPr>
  </p:slideViewPr>
  <p:outlineViewPr>
    <p:cViewPr>
      <p:scale>
        <a:sx n="33" d="100"/>
        <a:sy n="33" d="100"/>
      </p:scale>
      <p:origin x="0" y="-1662"/>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2" name="Title 1"/>
          <p:cNvSpPr>
            <a:spLocks noGrp="1"/>
          </p:cNvSpPr>
          <p:nvPr>
            <p:ph type="ctrTitle"/>
          </p:nvPr>
        </p:nvSpPr>
        <p:spPr>
          <a:xfrm>
            <a:off x="365759" y="2166364"/>
            <a:ext cx="11471565" cy="1739347"/>
          </a:xfrm>
        </p:spPr>
        <p:txBody>
          <a:bodyPr tIns="45720" bIns="45720" anchor="ctr">
            <a:normAutofit/>
          </a:bodyPr>
          <a:lstStyle>
            <a:lvl1pPr algn="ctr">
              <a:lnSpc>
                <a:spcPct val="80000"/>
              </a:lnSpc>
              <a:defRPr sz="6000" spc="150" baseline="0"/>
            </a:lvl1pPr>
          </a:lstStyle>
          <a:p>
            <a:r>
              <a:rPr lang="fr-FR"/>
              <a:t>Modifiez le style du titre</a:t>
            </a:r>
            <a:endParaRPr lang="en-US" dirty="0"/>
          </a:p>
        </p:txBody>
      </p:sp>
      <p:sp>
        <p:nvSpPr>
          <p:cNvPr id="3" name="Subtitle 2"/>
          <p:cNvSpPr>
            <a:spLocks noGrp="1"/>
          </p:cNvSpPr>
          <p:nvPr>
            <p:ph type="subTitle" idx="1"/>
          </p:nvPr>
        </p:nvSpPr>
        <p:spPr>
          <a:xfrm>
            <a:off x="1524000" y="3996250"/>
            <a:ext cx="9144000" cy="1309255"/>
          </a:xfrm>
        </p:spPr>
        <p:txBody>
          <a:bodyPr>
            <a:normAutofit/>
          </a:bodyPr>
          <a:lstStyle>
            <a:lvl1pPr marL="0" indent="0" algn="ctr">
              <a:buNone/>
              <a:defRPr sz="2000"/>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540F4149-C94D-47F4-B908-DD24E6451525}" type="datetimeFigureOut">
              <a:rPr lang="fr-FR" smtClean="0"/>
              <a:t>07/07/2026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1A9C2453-0CA5-470A-9F95-61119CAFC32F}" type="slidenum">
              <a:rPr lang="fr-FR" smtClean="0"/>
              <a:t>‹N°›</a:t>
            </a:fld>
            <a:endParaRPr lang="fr-FR"/>
          </a:p>
        </p:txBody>
      </p:sp>
    </p:spTree>
    <p:extLst>
      <p:ext uri="{BB962C8B-B14F-4D97-AF65-F5344CB8AC3E}">
        <p14:creationId xmlns:p14="http://schemas.microsoft.com/office/powerpoint/2010/main" val="11728372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540F4149-C94D-47F4-B908-DD24E6451525}" type="datetimeFigureOut">
              <a:rPr lang="fr-FR" smtClean="0"/>
              <a:t>07/07/2026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1A9C2453-0CA5-470A-9F95-61119CAFC32F}" type="slidenum">
              <a:rPr lang="fr-FR" smtClean="0"/>
              <a:t>‹N°›</a:t>
            </a:fld>
            <a:endParaRPr lang="fr-FR"/>
          </a:p>
        </p:txBody>
      </p:sp>
    </p:spTree>
    <p:extLst>
      <p:ext uri="{BB962C8B-B14F-4D97-AF65-F5344CB8AC3E}">
        <p14:creationId xmlns:p14="http://schemas.microsoft.com/office/powerpoint/2010/main" val="38647862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Ref idx="1001">
        <a:schemeClr val="bg1"/>
      </p:bgRef>
    </p:bg>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2" name="Title 1"/>
          <p:cNvSpPr>
            <a:spLocks noGrp="1"/>
          </p:cNvSpPr>
          <p:nvPr>
            <p:ph type="title"/>
          </p:nvPr>
        </p:nvSpPr>
        <p:spPr>
          <a:xfrm>
            <a:off x="833191" y="2208879"/>
            <a:ext cx="10515600" cy="1676400"/>
          </a:xfrm>
        </p:spPr>
        <p:txBody>
          <a:bodyPr anchor="ctr">
            <a:noAutofit/>
          </a:bodyPr>
          <a:lstStyle>
            <a:lvl1pPr algn="ctr">
              <a:lnSpc>
                <a:spcPct val="80000"/>
              </a:lnSpc>
              <a:defRPr sz="6000" b="0" spc="150" baseline="0">
                <a:solidFill>
                  <a:schemeClr val="bg1"/>
                </a:solidFill>
              </a:defRPr>
            </a:lvl1pPr>
          </a:lstStyle>
          <a:p>
            <a:r>
              <a:rPr lang="fr-FR"/>
              <a:t>Modifiez le style du titre</a:t>
            </a:r>
            <a:endParaRPr lang="en-US" dirty="0"/>
          </a:p>
        </p:txBody>
      </p:sp>
      <p:sp>
        <p:nvSpPr>
          <p:cNvPr id="3" name="Text Placeholder 2"/>
          <p:cNvSpPr>
            <a:spLocks noGrp="1"/>
          </p:cNvSpPr>
          <p:nvPr>
            <p:ph type="body" idx="1"/>
          </p:nvPr>
        </p:nvSpPr>
        <p:spPr>
          <a:xfrm>
            <a:off x="833191" y="4010334"/>
            <a:ext cx="10515600" cy="1174639"/>
          </a:xfrm>
        </p:spPr>
        <p:txBody>
          <a:bodyPr anchor="t">
            <a:normAutofit/>
          </a:bodyPr>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lvl1pPr>
              <a:defRPr>
                <a:solidFill>
                  <a:schemeClr val="tx2"/>
                </a:solidFill>
              </a:defRPr>
            </a:lvl1pPr>
          </a:lstStyle>
          <a:p>
            <a:fld id="{540F4149-C94D-47F4-B908-DD24E6451525}" type="datetimeFigureOut">
              <a:rPr lang="fr-FR" smtClean="0"/>
              <a:t>07/07/2026</a:t>
            </a:fld>
            <a:endParaRPr lang="fr-FR"/>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fr-FR"/>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1A9C2453-0CA5-470A-9F95-61119CAFC32F}" type="slidenum">
              <a:rPr lang="fr-FR" smtClean="0"/>
              <a:t>‹N°›</a:t>
            </a:fld>
            <a:endParaRPr lang="fr-FR"/>
          </a:p>
        </p:txBody>
      </p:sp>
    </p:spTree>
    <p:extLst>
      <p:ext uri="{BB962C8B-B14F-4D97-AF65-F5344CB8AC3E}">
        <p14:creationId xmlns:p14="http://schemas.microsoft.com/office/powerpoint/2010/main" val="1564361849"/>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1205344"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230391"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540F4149-C94D-47F4-B908-DD24E6451525}" type="datetimeFigureOut">
              <a:rPr lang="fr-FR" smtClean="0"/>
              <a:t>07/07/2026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1A9C2453-0CA5-470A-9F95-61119CAFC32F}" type="slidenum">
              <a:rPr lang="fr-FR" smtClean="0"/>
              <a:t>‹N°›</a:t>
            </a:fld>
            <a:endParaRPr lang="fr-FR"/>
          </a:p>
        </p:txBody>
      </p:sp>
    </p:spTree>
    <p:extLst>
      <p:ext uri="{BB962C8B-B14F-4D97-AF65-F5344CB8AC3E}">
        <p14:creationId xmlns:p14="http://schemas.microsoft.com/office/powerpoint/2010/main" val="42320699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fr-FR"/>
              <a:t>Modifiez le style du titre</a:t>
            </a:r>
            <a:endParaRPr lang="en-US" dirty="0"/>
          </a:p>
        </p:txBody>
      </p:sp>
      <p:sp>
        <p:nvSpPr>
          <p:cNvPr id="3" name="Text Placeholder 2"/>
          <p:cNvSpPr>
            <a:spLocks noGrp="1"/>
          </p:cNvSpPr>
          <p:nvPr>
            <p:ph type="body" idx="1"/>
          </p:nvPr>
        </p:nvSpPr>
        <p:spPr>
          <a:xfrm>
            <a:off x="1207008"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1207008" y="2656566"/>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231230"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231230" y="2656564"/>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540F4149-C94D-47F4-B908-DD24E6451525}" type="datetimeFigureOut">
              <a:rPr lang="fr-FR" smtClean="0"/>
              <a:t>07/07/2026</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1A9C2453-0CA5-470A-9F95-61119CAFC32F}" type="slidenum">
              <a:rPr lang="fr-FR" smtClean="0"/>
              <a:t>‹N°›</a:t>
            </a:fld>
            <a:endParaRPr lang="fr-FR"/>
          </a:p>
        </p:txBody>
      </p:sp>
    </p:spTree>
    <p:extLst>
      <p:ext uri="{BB962C8B-B14F-4D97-AF65-F5344CB8AC3E}">
        <p14:creationId xmlns:p14="http://schemas.microsoft.com/office/powerpoint/2010/main" val="1078169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540F4149-C94D-47F4-B908-DD24E6451525}" type="datetimeFigureOut">
              <a:rPr lang="fr-FR" smtClean="0"/>
              <a:t>07/07/2026</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1A9C2453-0CA5-470A-9F95-61119CAFC32F}" type="slidenum">
              <a:rPr lang="fr-FR" smtClean="0"/>
              <a:t>‹N°›</a:t>
            </a:fld>
            <a:endParaRPr lang="fr-FR"/>
          </a:p>
        </p:txBody>
      </p:sp>
    </p:spTree>
    <p:extLst>
      <p:ext uri="{BB962C8B-B14F-4D97-AF65-F5344CB8AC3E}">
        <p14:creationId xmlns:p14="http://schemas.microsoft.com/office/powerpoint/2010/main" val="37722724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0F4149-C94D-47F4-B908-DD24E6451525}" type="datetimeFigureOut">
              <a:rPr lang="fr-FR" smtClean="0"/>
              <a:t>07/07/2026</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1A9C2453-0CA5-470A-9F95-61119CAFC32F}" type="slidenum">
              <a:rPr lang="fr-FR" smtClean="0"/>
              <a:t>‹N°›</a:t>
            </a:fld>
            <a:endParaRPr lang="fr-FR"/>
          </a:p>
        </p:txBody>
      </p:sp>
    </p:spTree>
    <p:extLst>
      <p:ext uri="{BB962C8B-B14F-4D97-AF65-F5344CB8AC3E}">
        <p14:creationId xmlns:p14="http://schemas.microsoft.com/office/powerpoint/2010/main" val="17153408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a:xfrm>
            <a:off x="1207008" y="2120054"/>
            <a:ext cx="6126480" cy="41148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7789023" y="2147486"/>
            <a:ext cx="3200400" cy="3432319"/>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540F4149-C94D-47F4-B908-DD24E6451525}" type="datetimeFigureOut">
              <a:rPr lang="fr-FR" smtClean="0"/>
              <a:t>07/07/2026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1A9C2453-0CA5-470A-9F95-61119CAFC32F}" type="slidenum">
              <a:rPr lang="fr-FR" smtClean="0"/>
              <a:t>‹N°›</a:t>
            </a:fld>
            <a:endParaRPr lang="fr-FR"/>
          </a:p>
        </p:txBody>
      </p:sp>
    </p:spTree>
    <p:extLst>
      <p:ext uri="{BB962C8B-B14F-4D97-AF65-F5344CB8AC3E}">
        <p14:creationId xmlns:p14="http://schemas.microsoft.com/office/powerpoint/2010/main" val="40838567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fr-FR"/>
              <a:t>Modifiez le style du titre</a:t>
            </a:r>
            <a:endParaRPr lang="en-US" dirty="0"/>
          </a:p>
        </p:txBody>
      </p:sp>
      <p:sp>
        <p:nvSpPr>
          <p:cNvPr id="3" name="Picture Placeholder 2"/>
          <p:cNvSpPr>
            <a:spLocks noGrp="1" noChangeAspect="1"/>
          </p:cNvSpPr>
          <p:nvPr>
            <p:ph type="pic" idx="1"/>
          </p:nvPr>
        </p:nvSpPr>
        <p:spPr>
          <a:xfrm>
            <a:off x="1280160" y="2211494"/>
            <a:ext cx="6126480" cy="3931920"/>
          </a:xfrm>
          <a:solidFill>
            <a:schemeClr val="tx2">
              <a:lumMod val="60000"/>
              <a:lumOff val="40000"/>
            </a:schemeClr>
          </a:solidFill>
        </p:spPr>
        <p:txBody>
          <a:bodyPr tIns="365760" anchor="t"/>
          <a:lstStyle>
            <a:lvl1pPr marL="0" indent="0" algn="ctr">
              <a:buNone/>
              <a:defRPr sz="3200">
                <a:solidFill>
                  <a:schemeClr val="tx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7790688" y="2150621"/>
            <a:ext cx="3200400" cy="3429000"/>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540F4149-C94D-47F4-B908-DD24E6451525}" type="datetimeFigureOut">
              <a:rPr lang="fr-FR" smtClean="0"/>
              <a:t>07/07/2026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1A9C2453-0CA5-470A-9F95-61119CAFC32F}" type="slidenum">
              <a:rPr lang="fr-FR" smtClean="0"/>
              <a:t>‹N°›</a:t>
            </a:fld>
            <a:endParaRPr lang="fr-FR"/>
          </a:p>
        </p:txBody>
      </p:sp>
    </p:spTree>
    <p:extLst>
      <p:ext uri="{BB962C8B-B14F-4D97-AF65-F5344CB8AC3E}">
        <p14:creationId xmlns:p14="http://schemas.microsoft.com/office/powerpoint/2010/main" val="10110597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540F4149-C94D-47F4-B908-DD24E6451525}" type="datetimeFigureOut">
              <a:rPr lang="fr-FR" smtClean="0"/>
              <a:t>07/07/2026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1A9C2453-0CA5-470A-9F95-61119CAFC32F}" type="slidenum">
              <a:rPr lang="fr-FR" smtClean="0"/>
              <a:t>‹N°›</a:t>
            </a:fld>
            <a:endParaRPr lang="fr-FR"/>
          </a:p>
        </p:txBody>
      </p:sp>
    </p:spTree>
    <p:extLst>
      <p:ext uri="{BB962C8B-B14F-4D97-AF65-F5344CB8AC3E}">
        <p14:creationId xmlns:p14="http://schemas.microsoft.com/office/powerpoint/2010/main" val="20654219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sp>
        <p:nvSpPr>
          <p:cNvPr id="7" name="Rectangle 6"/>
          <p:cNvSpPr/>
          <p:nvPr/>
        </p:nvSpPr>
        <p:spPr>
          <a:xfrm>
            <a:off x="9019312" y="0"/>
            <a:ext cx="2743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2" name="Vertical Title 1"/>
          <p:cNvSpPr>
            <a:spLocks noGrp="1"/>
          </p:cNvSpPr>
          <p:nvPr>
            <p:ph type="title" orient="vert"/>
          </p:nvPr>
        </p:nvSpPr>
        <p:spPr>
          <a:xfrm>
            <a:off x="9160624" y="274638"/>
            <a:ext cx="2402380" cy="5897562"/>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199" y="274638"/>
            <a:ext cx="7973291" cy="5897562"/>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a:xfrm>
            <a:off x="838200" y="6422854"/>
            <a:ext cx="2743196" cy="365125"/>
          </a:xfrm>
        </p:spPr>
        <p:txBody>
          <a:bodyPr/>
          <a:lstStyle/>
          <a:p>
            <a:fld id="{540F4149-C94D-47F4-B908-DD24E6451525}" type="datetimeFigureOut">
              <a:rPr lang="fr-FR" smtClean="0"/>
              <a:t>07/07/2026</a:t>
            </a:fld>
            <a:endParaRPr lang="fr-FR"/>
          </a:p>
        </p:txBody>
      </p:sp>
      <p:sp>
        <p:nvSpPr>
          <p:cNvPr id="5" name="Footer Placeholder 4"/>
          <p:cNvSpPr>
            <a:spLocks noGrp="1"/>
          </p:cNvSpPr>
          <p:nvPr>
            <p:ph type="ftr" sz="quarter" idx="11"/>
          </p:nvPr>
        </p:nvSpPr>
        <p:spPr>
          <a:xfrm>
            <a:off x="3776135" y="6422854"/>
            <a:ext cx="4279669" cy="365125"/>
          </a:xfrm>
        </p:spPr>
        <p:txBody>
          <a:bodyPr/>
          <a:lstStyle/>
          <a:p>
            <a:endParaRPr lang="fr-FR"/>
          </a:p>
        </p:txBody>
      </p:sp>
      <p:sp>
        <p:nvSpPr>
          <p:cNvPr id="6" name="Slide Number Placeholder 5"/>
          <p:cNvSpPr>
            <a:spLocks noGrp="1"/>
          </p:cNvSpPr>
          <p:nvPr>
            <p:ph type="sldNum" sz="quarter" idx="12"/>
          </p:nvPr>
        </p:nvSpPr>
        <p:spPr>
          <a:xfrm>
            <a:off x="8073048" y="6422854"/>
            <a:ext cx="879759" cy="365125"/>
          </a:xfrm>
        </p:spPr>
        <p:txBody>
          <a:bodyPr/>
          <a:lstStyle/>
          <a:p>
            <a:fld id="{1A9C2453-0CA5-470A-9F95-61119CAFC32F}" type="slidenum">
              <a:rPr lang="fr-FR" smtClean="0"/>
              <a:t>‹N°›</a:t>
            </a:fld>
            <a:endParaRPr lang="fr-FR"/>
          </a:p>
        </p:txBody>
      </p:sp>
    </p:spTree>
    <p:extLst>
      <p:ext uri="{BB962C8B-B14F-4D97-AF65-F5344CB8AC3E}">
        <p14:creationId xmlns:p14="http://schemas.microsoft.com/office/powerpoint/2010/main" val="16690748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483" y="176109"/>
            <a:ext cx="12188952" cy="16459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2" name="Title Placeholder 1"/>
          <p:cNvSpPr>
            <a:spLocks noGrp="1"/>
          </p:cNvSpPr>
          <p:nvPr>
            <p:ph type="title"/>
          </p:nvPr>
        </p:nvSpPr>
        <p:spPr>
          <a:xfrm>
            <a:off x="1202919" y="284176"/>
            <a:ext cx="9784080" cy="1508760"/>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1202919" y="2011680"/>
            <a:ext cx="9784080" cy="4206240"/>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1202266" y="6422854"/>
            <a:ext cx="3000894" cy="365125"/>
          </a:xfrm>
          <a:prstGeom prst="rect">
            <a:avLst/>
          </a:prstGeom>
        </p:spPr>
        <p:txBody>
          <a:bodyPr vert="horz" lIns="91440" tIns="45720" rIns="45720" bIns="45720" rtlCol="0" anchor="ctr"/>
          <a:lstStyle>
            <a:lvl1pPr algn="l">
              <a:defRPr sz="1050">
                <a:solidFill>
                  <a:schemeClr val="tx1"/>
                </a:solidFill>
              </a:defRPr>
            </a:lvl1pPr>
          </a:lstStyle>
          <a:p>
            <a:fld id="{540F4149-C94D-47F4-B908-DD24E6451525}" type="datetimeFigureOut">
              <a:rPr lang="fr-FR" smtClean="0"/>
              <a:t>07/07/2026</a:t>
            </a:fld>
            <a:endParaRPr lang="fr-FR"/>
          </a:p>
        </p:txBody>
      </p:sp>
      <p:sp>
        <p:nvSpPr>
          <p:cNvPr id="5" name="Footer Placeholder 4"/>
          <p:cNvSpPr>
            <a:spLocks noGrp="1"/>
          </p:cNvSpPr>
          <p:nvPr>
            <p:ph type="ftr" sz="quarter" idx="3"/>
          </p:nvPr>
        </p:nvSpPr>
        <p:spPr>
          <a:xfrm>
            <a:off x="5596471" y="6422854"/>
            <a:ext cx="5044440" cy="365125"/>
          </a:xfrm>
          <a:prstGeom prst="rect">
            <a:avLst/>
          </a:prstGeom>
        </p:spPr>
        <p:txBody>
          <a:bodyPr vert="horz" lIns="91440" tIns="45720" rIns="91440" bIns="45720" rtlCol="0" anchor="ctr"/>
          <a:lstStyle>
            <a:lvl1pPr algn="r">
              <a:defRPr sz="1050">
                <a:solidFill>
                  <a:schemeClr val="tx1"/>
                </a:solidFill>
              </a:defRPr>
            </a:lvl1pPr>
          </a:lstStyle>
          <a:p>
            <a:endParaRPr lang="fr-FR"/>
          </a:p>
        </p:txBody>
      </p:sp>
      <p:sp>
        <p:nvSpPr>
          <p:cNvPr id="6" name="Slide Number Placeholder 5"/>
          <p:cNvSpPr>
            <a:spLocks noGrp="1"/>
          </p:cNvSpPr>
          <p:nvPr>
            <p:ph type="sldNum" sz="quarter" idx="4"/>
          </p:nvPr>
        </p:nvSpPr>
        <p:spPr>
          <a:xfrm>
            <a:off x="10658927" y="6422854"/>
            <a:ext cx="946264" cy="365125"/>
          </a:xfrm>
          <a:prstGeom prst="rect">
            <a:avLst/>
          </a:prstGeom>
        </p:spPr>
        <p:txBody>
          <a:bodyPr vert="horz" lIns="45720" tIns="45720" rIns="91440" bIns="45720" rtlCol="0" anchor="ctr"/>
          <a:lstStyle>
            <a:lvl1pPr algn="l">
              <a:defRPr sz="1200" b="0">
                <a:solidFill>
                  <a:schemeClr val="tx1"/>
                </a:solidFill>
              </a:defRPr>
            </a:lvl1pPr>
          </a:lstStyle>
          <a:p>
            <a:fld id="{1A9C2453-0CA5-470A-9F95-61119CAFC32F}" type="slidenum">
              <a:rPr lang="fr-FR" smtClean="0"/>
              <a:t>‹N°›</a:t>
            </a:fld>
            <a:endParaRPr lang="fr-FR"/>
          </a:p>
        </p:txBody>
      </p:sp>
    </p:spTree>
    <p:extLst>
      <p:ext uri="{BB962C8B-B14F-4D97-AF65-F5344CB8AC3E}">
        <p14:creationId xmlns:p14="http://schemas.microsoft.com/office/powerpoint/2010/main" val="310421598"/>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000" kern="1200" cap="all" baseline="0">
          <a:solidFill>
            <a:schemeClr val="bg2"/>
          </a:solidFill>
          <a:latin typeface="+mj-lt"/>
          <a:ea typeface="+mj-ea"/>
          <a:cs typeface="+mj-cs"/>
        </a:defRPr>
      </a:lvl1pPr>
    </p:titleStyle>
    <p:bodyStyle>
      <a:lvl1pPr marL="182880" indent="-182880" algn="l" defTabSz="914400" rtl="0" eaLnBrk="1" latinLnBrk="0" hangingPunct="1">
        <a:lnSpc>
          <a:spcPct val="90000"/>
        </a:lnSpc>
        <a:spcBef>
          <a:spcPts val="1200"/>
        </a:spcBef>
        <a:spcAft>
          <a:spcPts val="200"/>
        </a:spcAft>
        <a:buClr>
          <a:schemeClr val="tx1"/>
        </a:buClr>
        <a:buFont typeface="Wingdings" pitchFamily="2" charset="2"/>
        <a:buChar char=""/>
        <a:defRPr sz="2200" kern="1200">
          <a:solidFill>
            <a:schemeClr val="tx1"/>
          </a:solidFill>
          <a:latin typeface="+mn-lt"/>
          <a:ea typeface="+mn-ea"/>
          <a:cs typeface="+mn-cs"/>
        </a:defRPr>
      </a:lvl1pPr>
      <a:lvl2pPr marL="411480" indent="-182880" algn="l" defTabSz="914400" rtl="0" eaLnBrk="1" latinLnBrk="0" hangingPunct="1">
        <a:lnSpc>
          <a:spcPct val="90000"/>
        </a:lnSpc>
        <a:spcBef>
          <a:spcPts val="200"/>
        </a:spcBef>
        <a:spcAft>
          <a:spcPts val="400"/>
        </a:spcAft>
        <a:buClr>
          <a:schemeClr val="tx1"/>
        </a:buClr>
        <a:buFont typeface="Wingdings" pitchFamily="2" charset="2"/>
        <a:buChar char=""/>
        <a:defRPr sz="2000" kern="1200">
          <a:solidFill>
            <a:schemeClr val="tx1"/>
          </a:solidFill>
          <a:latin typeface="+mn-lt"/>
          <a:ea typeface="+mn-ea"/>
          <a:cs typeface="+mn-cs"/>
        </a:defRPr>
      </a:lvl2pPr>
      <a:lvl3pPr marL="640080" indent="-182880" algn="l" defTabSz="914400" rtl="0" eaLnBrk="1" latinLnBrk="0" hangingPunct="1">
        <a:lnSpc>
          <a:spcPct val="90000"/>
        </a:lnSpc>
        <a:spcBef>
          <a:spcPts val="200"/>
        </a:spcBef>
        <a:spcAft>
          <a:spcPts val="400"/>
        </a:spcAft>
        <a:buClr>
          <a:schemeClr val="tx1"/>
        </a:buClr>
        <a:buFont typeface="Wingdings" pitchFamily="2" charset="2"/>
        <a:buChar char=""/>
        <a:defRPr sz="1800" kern="1200">
          <a:solidFill>
            <a:schemeClr val="tx1"/>
          </a:solidFill>
          <a:latin typeface="+mn-lt"/>
          <a:ea typeface="+mn-ea"/>
          <a:cs typeface="+mn-cs"/>
        </a:defRPr>
      </a:lvl3pPr>
      <a:lvl4pPr marL="8686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4pPr>
      <a:lvl5pPr marL="10972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5pPr>
      <a:lvl6pPr marL="12846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6pPr>
      <a:lvl7pPr marL="14718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7pPr>
      <a:lvl8pPr marL="16290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8pPr>
      <a:lvl9pPr marL="18062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groupeitag.net/" TargetMode="External"/><Relationship Id="rId2" Type="http://schemas.openxmlformats.org/officeDocument/2006/relationships/hyperlink" Target="mailto:itagtemara2020@gmail.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4C4E04F-D70D-D25B-3835-AF7D4CE08444}"/>
              </a:ext>
            </a:extLst>
          </p:cNvPr>
          <p:cNvSpPr>
            <a:spLocks noGrp="1"/>
          </p:cNvSpPr>
          <p:nvPr>
            <p:ph type="ctrTitle"/>
          </p:nvPr>
        </p:nvSpPr>
        <p:spPr>
          <a:xfrm>
            <a:off x="243839" y="2011679"/>
            <a:ext cx="11471565" cy="1943343"/>
          </a:xfrm>
        </p:spPr>
        <p:txBody>
          <a:bodyPr>
            <a:noAutofit/>
          </a:bodyPr>
          <a:lstStyle/>
          <a:p>
            <a:r>
              <a:rPr lang="fr-FR" sz="2000" b="1"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Projet de fin Formation</a:t>
            </a:r>
            <a:br>
              <a:rPr lang="fr-FR" sz="2000" dirty="0">
                <a:latin typeface="Arial" panose="020B0604020202020204" pitchFamily="34" charset="0"/>
                <a:ea typeface="Times New Roman" panose="02020603050405020304" pitchFamily="18" charset="0"/>
                <a:cs typeface="Times New Roman" panose="02020603050405020304" pitchFamily="18" charset="0"/>
              </a:rPr>
            </a:br>
            <a:r>
              <a:rPr lang="fr-FR" sz="2000" b="1"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 GESTION DE STOCK »</a:t>
            </a:r>
            <a:br>
              <a:rPr lang="fr-FR" sz="2000" dirty="0">
                <a:latin typeface="Times New Roman" panose="02020603050405020304" pitchFamily="18" charset="0"/>
                <a:ea typeface="Times New Roman" panose="02020603050405020304" pitchFamily="18" charset="0"/>
              </a:rPr>
            </a:br>
            <a:r>
              <a:rPr lang="fr-FR" sz="2000" b="1"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Filière </a:t>
            </a:r>
            <a:r>
              <a:rPr lang="fr-FR" sz="2000" b="1" dirty="0">
                <a:solidFill>
                  <a:srgbClr val="000000"/>
                </a:solidFill>
                <a:latin typeface="Times New Roman" panose="02020603050405020304" pitchFamily="18" charset="0"/>
                <a:ea typeface="Times New Roman" panose="02020603050405020304" pitchFamily="18" charset="0"/>
              </a:rPr>
              <a:t>:</a:t>
            </a:r>
            <a:br>
              <a:rPr lang="fr-FR" sz="2000" dirty="0">
                <a:latin typeface="Times New Roman" panose="02020603050405020304" pitchFamily="18" charset="0"/>
                <a:ea typeface="Times New Roman" panose="02020603050405020304" pitchFamily="18" charset="0"/>
              </a:rPr>
            </a:br>
            <a:r>
              <a:rPr lang="fr-FR" sz="2000" b="1" i="1" dirty="0">
                <a:solidFill>
                  <a:srgbClr val="000000"/>
                </a:solidFill>
                <a:latin typeface="Arial" panose="020B0604020202020204" pitchFamily="34" charset="0"/>
                <a:ea typeface="Times New Roman" panose="02020603050405020304" pitchFamily="18" charset="0"/>
              </a:rPr>
              <a:t>Technicien Spécialisé </a:t>
            </a:r>
            <a:br>
              <a:rPr lang="fr-FR" sz="2000" dirty="0">
                <a:latin typeface="Times New Roman" panose="02020603050405020304" pitchFamily="18" charset="0"/>
                <a:ea typeface="Times New Roman" panose="02020603050405020304" pitchFamily="18" charset="0"/>
              </a:rPr>
            </a:br>
            <a:r>
              <a:rPr lang="fr-FR" sz="2000" b="1" i="1" dirty="0">
                <a:solidFill>
                  <a:srgbClr val="000000"/>
                </a:solidFill>
                <a:latin typeface="Arial" panose="020B0604020202020204" pitchFamily="34" charset="0"/>
                <a:ea typeface="Times New Roman" panose="02020603050405020304" pitchFamily="18" charset="0"/>
              </a:rPr>
              <a:t>« En Développement Informatique »</a:t>
            </a:r>
            <a:br>
              <a:rPr lang="fr-FR" sz="2000" dirty="0">
                <a:latin typeface="Times New Roman" panose="02020603050405020304" pitchFamily="18" charset="0"/>
                <a:ea typeface="Times New Roman" panose="02020603050405020304" pitchFamily="18" charset="0"/>
              </a:rPr>
            </a:br>
            <a:r>
              <a:rPr lang="fr-FR" sz="2000" b="1" i="1" dirty="0">
                <a:latin typeface="Arial" panose="020B0604020202020204" pitchFamily="34" charset="0"/>
                <a:ea typeface="Times New Roman" panose="02020603050405020304" pitchFamily="18" charset="0"/>
              </a:rPr>
              <a:t> </a:t>
            </a:r>
            <a:br>
              <a:rPr lang="fr-FR" sz="2000" dirty="0">
                <a:latin typeface="Times New Roman" panose="02020603050405020304" pitchFamily="18" charset="0"/>
                <a:ea typeface="Times New Roman" panose="02020603050405020304" pitchFamily="18" charset="0"/>
              </a:rPr>
            </a:br>
            <a:r>
              <a:rPr lang="fr-FR" sz="2000" dirty="0">
                <a:solidFill>
                  <a:srgbClr val="000000"/>
                </a:solidFill>
                <a:latin typeface="Times New Roman" panose="02020603050405020304" pitchFamily="18" charset="0"/>
                <a:ea typeface="Times New Roman" panose="02020603050405020304" pitchFamily="18" charset="0"/>
              </a:rPr>
              <a:t> 			</a:t>
            </a:r>
            <a:r>
              <a:rPr lang="fr-FR" sz="2000" b="1" i="1" dirty="0">
                <a:solidFill>
                  <a:srgbClr val="000000"/>
                </a:solidFill>
                <a:latin typeface="Times New Roman" panose="02020603050405020304" pitchFamily="18" charset="0"/>
                <a:ea typeface="Times New Roman" panose="02020603050405020304" pitchFamily="18" charset="0"/>
              </a:rPr>
              <a:t>Encadré par</a:t>
            </a:r>
            <a:r>
              <a:rPr lang="fr-FR" sz="2000" dirty="0">
                <a:solidFill>
                  <a:srgbClr val="000000"/>
                </a:solidFill>
                <a:latin typeface="Times New Roman" panose="02020603050405020304" pitchFamily="18" charset="0"/>
                <a:ea typeface="Times New Roman" panose="02020603050405020304" pitchFamily="18" charset="0"/>
              </a:rPr>
              <a:t> :  </a:t>
            </a:r>
            <a:r>
              <a:rPr lang="fr-FR" sz="2000" dirty="0"/>
              <a:t>M. MUSTAPHA LAGHZIL</a:t>
            </a:r>
          </a:p>
        </p:txBody>
      </p:sp>
      <p:sp>
        <p:nvSpPr>
          <p:cNvPr id="3" name="Sous-titre 2">
            <a:extLst>
              <a:ext uri="{FF2B5EF4-FFF2-40B4-BE49-F238E27FC236}">
                <a16:creationId xmlns:a16="http://schemas.microsoft.com/office/drawing/2014/main" id="{E3AF6484-C12A-FB09-6C51-C7673122888D}"/>
              </a:ext>
            </a:extLst>
          </p:cNvPr>
          <p:cNvSpPr>
            <a:spLocks noGrp="1"/>
          </p:cNvSpPr>
          <p:nvPr>
            <p:ph type="subTitle" idx="1"/>
          </p:nvPr>
        </p:nvSpPr>
        <p:spPr>
          <a:xfrm>
            <a:off x="1524000" y="582490"/>
            <a:ext cx="9144000" cy="1309255"/>
          </a:xfrm>
        </p:spPr>
        <p:txBody>
          <a:bodyPr>
            <a:normAutofit fontScale="62500" lnSpcReduction="20000"/>
          </a:bodyPr>
          <a:lstStyle/>
          <a:p>
            <a:r>
              <a:rPr lang="fr-FR" b="1" dirty="0">
                <a:latin typeface="Times New Roman" panose="02020603050405020304" pitchFamily="18" charset="0"/>
              </a:rPr>
              <a:t>ECOLE ITAG TEMARA – ETABLISSEMENT PRIVE</a:t>
            </a:r>
            <a:endParaRPr lang="fr-FR" sz="4800" b="1" dirty="0">
              <a:latin typeface="Algerian" panose="04020705040A02060702" pitchFamily="82" charset="0"/>
            </a:endParaRPr>
          </a:p>
          <a:p>
            <a:pPr marL="457200">
              <a:tabLst>
                <a:tab pos="1447800" algn="l"/>
                <a:tab pos="1798320" algn="l"/>
                <a:tab pos="2247900" algn="l"/>
                <a:tab pos="2697480" algn="l"/>
                <a:tab pos="5143500" algn="l"/>
              </a:tabLst>
            </a:pPr>
            <a:r>
              <a:rPr lang="fr-FR" sz="1800" dirty="0">
                <a:latin typeface="Tahoma" panose="020B0604030504040204" pitchFamily="34" charset="0"/>
                <a:ea typeface="Times New Roman" panose="02020603050405020304" pitchFamily="18" charset="0"/>
              </a:rPr>
              <a:t>   Autorisation n° : 4/09/01/94</a:t>
            </a:r>
            <a:endParaRPr lang="fr-FR" sz="1200" dirty="0">
              <a:latin typeface="Times New Roman" panose="02020603050405020304" pitchFamily="18" charset="0"/>
              <a:ea typeface="Times New Roman" panose="02020603050405020304" pitchFamily="18" charset="0"/>
            </a:endParaRPr>
          </a:p>
          <a:p>
            <a:pPr marL="457200">
              <a:tabLst>
                <a:tab pos="1447800" algn="l"/>
                <a:tab pos="1798320" algn="l"/>
                <a:tab pos="2247900" algn="l"/>
                <a:tab pos="2697480" algn="l"/>
                <a:tab pos="5143500" algn="l"/>
              </a:tabLst>
            </a:pPr>
            <a:r>
              <a:rPr lang="fr-FR" sz="1800" dirty="0">
                <a:latin typeface="Tahoma" panose="020B0604030504040204" pitchFamily="34" charset="0"/>
                <a:ea typeface="Times New Roman" panose="02020603050405020304" pitchFamily="18" charset="0"/>
              </a:rPr>
              <a:t>245,AV Moulay Ali Chérif Massira 1 - Témara</a:t>
            </a:r>
            <a:endParaRPr lang="fr-FR" sz="1200" dirty="0">
              <a:latin typeface="Times New Roman" panose="02020603050405020304" pitchFamily="18" charset="0"/>
              <a:ea typeface="Times New Roman" panose="02020603050405020304" pitchFamily="18" charset="0"/>
            </a:endParaRPr>
          </a:p>
          <a:p>
            <a:pPr lvl="5"/>
            <a:r>
              <a:rPr lang="de-DE" dirty="0">
                <a:latin typeface="Times New Roman" panose="02020603050405020304" pitchFamily="18" charset="0"/>
                <a:ea typeface="Times New Roman" panose="02020603050405020304" pitchFamily="18" charset="0"/>
              </a:rPr>
              <a:t>E-Mail: </a:t>
            </a:r>
            <a:r>
              <a:rPr lang="de-DE" u="sng" dirty="0">
                <a:solidFill>
                  <a:srgbClr val="0000FF"/>
                </a:solidFill>
                <a:latin typeface="Tahoma" panose="020B0604030504040204" pitchFamily="34" charset="0"/>
                <a:ea typeface="Times New Roman" panose="02020603050405020304" pitchFamily="18" charset="0"/>
                <a:hlinkClick r:id="rId2"/>
              </a:rPr>
              <a:t>itagtemara2020@gmail.com</a:t>
            </a:r>
            <a:endParaRPr lang="fr-FR" sz="1200" dirty="0">
              <a:latin typeface="Times New Roman" panose="02020603050405020304" pitchFamily="18" charset="0"/>
              <a:ea typeface="Times New Roman" panose="02020603050405020304" pitchFamily="18" charset="0"/>
            </a:endParaRPr>
          </a:p>
          <a:p>
            <a:pPr lvl="5"/>
            <a:r>
              <a:rPr lang="nl-NL" dirty="0">
                <a:latin typeface="Times New Roman" panose="02020603050405020304" pitchFamily="18" charset="0"/>
                <a:ea typeface="Times New Roman" panose="02020603050405020304" pitchFamily="18" charset="0"/>
              </a:rPr>
              <a:t>Site web: </a:t>
            </a:r>
            <a:r>
              <a:rPr lang="nl-NL" u="sng" dirty="0">
                <a:solidFill>
                  <a:srgbClr val="0000FF"/>
                </a:solidFill>
                <a:latin typeface="Tahoma" panose="020B0604030504040204" pitchFamily="34" charset="0"/>
                <a:ea typeface="Times New Roman" panose="02020603050405020304" pitchFamily="18" charset="0"/>
                <a:hlinkClick r:id="rId3"/>
              </a:rPr>
              <a:t>www.groupeitag.net</a:t>
            </a:r>
            <a:endParaRPr lang="fr-FR" dirty="0"/>
          </a:p>
          <a:p>
            <a:endParaRPr lang="fr-FR" dirty="0"/>
          </a:p>
        </p:txBody>
      </p:sp>
      <p:sp>
        <p:nvSpPr>
          <p:cNvPr id="5" name="ZoneTexte 4">
            <a:extLst>
              <a:ext uri="{FF2B5EF4-FFF2-40B4-BE49-F238E27FC236}">
                <a16:creationId xmlns:a16="http://schemas.microsoft.com/office/drawing/2014/main" id="{AD3CBCA2-F895-2726-942E-326ACB788EDA}"/>
              </a:ext>
            </a:extLst>
          </p:cNvPr>
          <p:cNvSpPr txBox="1"/>
          <p:nvPr/>
        </p:nvSpPr>
        <p:spPr>
          <a:xfrm>
            <a:off x="655320" y="4641502"/>
            <a:ext cx="3230880" cy="646331"/>
          </a:xfrm>
          <a:prstGeom prst="rect">
            <a:avLst/>
          </a:prstGeom>
          <a:noFill/>
        </p:spPr>
        <p:txBody>
          <a:bodyPr wrap="square">
            <a:spAutoFit/>
          </a:bodyPr>
          <a:lstStyle/>
          <a:p>
            <a:r>
              <a:rPr lang="fr-FR" sz="1800" b="1" i="1" dirty="0">
                <a:effectLst/>
                <a:latin typeface="Times New Roman" panose="02020603050405020304" pitchFamily="18" charset="0"/>
                <a:ea typeface="Times New Roman" panose="02020603050405020304" pitchFamily="18" charset="0"/>
              </a:rPr>
              <a:t>Réalisé par</a:t>
            </a:r>
            <a:r>
              <a:rPr lang="fr-FR" sz="1800" dirty="0">
                <a:effectLst/>
                <a:latin typeface="Times New Roman" panose="02020603050405020304" pitchFamily="18" charset="0"/>
                <a:ea typeface="Times New Roman" panose="02020603050405020304" pitchFamily="18" charset="0"/>
              </a:rPr>
              <a:t> :</a:t>
            </a:r>
            <a:r>
              <a:rPr lang="fr-FR" dirty="0"/>
              <a:t> AMINE JEBBOUJ</a:t>
            </a:r>
            <a:r>
              <a:rPr lang="fr-FR" sz="1800" dirty="0">
                <a:effectLst/>
                <a:latin typeface="Times New Roman" panose="02020603050405020304" pitchFamily="18" charset="0"/>
                <a:ea typeface="Times New Roman" panose="02020603050405020304" pitchFamily="18" charset="0"/>
              </a:rPr>
              <a:t>	</a:t>
            </a:r>
            <a:endParaRPr lang="fr-FR" sz="105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0693294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A76DFAB-A7C6-9A38-E94A-7CD356DD6471}"/>
              </a:ext>
            </a:extLst>
          </p:cNvPr>
          <p:cNvSpPr>
            <a:spLocks noGrp="1"/>
          </p:cNvSpPr>
          <p:nvPr>
            <p:ph type="title"/>
          </p:nvPr>
        </p:nvSpPr>
        <p:spPr/>
        <p:txBody>
          <a:bodyPr/>
          <a:lstStyle/>
          <a:p>
            <a:pPr marL="571500" indent="-571500" algn="ctr">
              <a:buFont typeface="Wingdings" panose="05000000000000000000" pitchFamily="2" charset="2"/>
              <a:buChar char="v"/>
            </a:pPr>
            <a:r>
              <a:rPr lang="fr-FR" b="1" dirty="0">
                <a:effectLst>
                  <a:outerShdw blurRad="38100" dist="38100" dir="2700000" algn="tl">
                    <a:srgbClr val="000000">
                      <a:alpha val="43137"/>
                    </a:srgbClr>
                  </a:outerShdw>
                </a:effectLst>
              </a:rPr>
              <a:t>PLAN</a:t>
            </a:r>
            <a:endParaRPr lang="fr-FR" dirty="0"/>
          </a:p>
        </p:txBody>
      </p:sp>
      <p:sp>
        <p:nvSpPr>
          <p:cNvPr id="4" name="Espace réservé du contenu 2">
            <a:extLst>
              <a:ext uri="{FF2B5EF4-FFF2-40B4-BE49-F238E27FC236}">
                <a16:creationId xmlns:a16="http://schemas.microsoft.com/office/drawing/2014/main" id="{D24E20BD-EFBF-11A2-87AA-131BF1D997DE}"/>
              </a:ext>
            </a:extLst>
          </p:cNvPr>
          <p:cNvSpPr>
            <a:spLocks noGrp="1"/>
          </p:cNvSpPr>
          <p:nvPr>
            <p:ph idx="1"/>
          </p:nvPr>
        </p:nvSpPr>
        <p:spPr>
          <a:xfrm>
            <a:off x="1203325" y="2011363"/>
            <a:ext cx="9783763" cy="4562461"/>
          </a:xfrm>
        </p:spPr>
        <p:txBody>
          <a:bodyPr>
            <a:noAutofit/>
          </a:bodyPr>
          <a:lstStyle/>
          <a:p>
            <a:pPr marL="228600" indent="-228600">
              <a:buFont typeface="+mj-lt"/>
              <a:buAutoNum type="arabicPeriod"/>
            </a:pPr>
            <a:r>
              <a:rPr lang="fr-FR" sz="1500" b="1" dirty="0">
                <a:solidFill>
                  <a:schemeClr val="bg1">
                    <a:lumMod val="95000"/>
                    <a:lumOff val="5000"/>
                  </a:schemeClr>
                </a:solidFill>
                <a:effectLst>
                  <a:outerShdw blurRad="38100" dist="38100" dir="2700000" algn="tl">
                    <a:srgbClr val="000000">
                      <a:alpha val="43137"/>
                    </a:srgbClr>
                  </a:outerShdw>
                </a:effectLst>
              </a:rPr>
              <a:t>INTRODUCTION</a:t>
            </a:r>
          </a:p>
          <a:p>
            <a:pPr marL="228600" indent="-228600">
              <a:buFont typeface="+mj-lt"/>
              <a:buAutoNum type="arabicPeriod"/>
            </a:pPr>
            <a:r>
              <a:rPr lang="fr-FR" sz="1500" b="1" dirty="0">
                <a:solidFill>
                  <a:schemeClr val="bg1">
                    <a:lumMod val="95000"/>
                    <a:lumOff val="5000"/>
                  </a:schemeClr>
                </a:solidFill>
                <a:effectLst>
                  <a:outerShdw blurRad="38100" dist="38100" dir="2700000" algn="tl">
                    <a:srgbClr val="000000">
                      <a:alpha val="43137"/>
                    </a:srgbClr>
                  </a:outerShdw>
                </a:effectLst>
              </a:rPr>
              <a:t>PRESENTATION</a:t>
            </a:r>
          </a:p>
          <a:p>
            <a:pPr marL="228600" indent="-228600">
              <a:buFont typeface="+mj-lt"/>
              <a:buAutoNum type="arabicPeriod"/>
            </a:pPr>
            <a:r>
              <a:rPr lang="fr-FR" sz="1500" b="1" dirty="0">
                <a:solidFill>
                  <a:schemeClr val="bg1">
                    <a:lumMod val="95000"/>
                    <a:lumOff val="5000"/>
                  </a:schemeClr>
                </a:solidFill>
                <a:effectLst>
                  <a:outerShdw blurRad="38100" dist="38100" dir="2700000" algn="tl">
                    <a:srgbClr val="000000">
                      <a:alpha val="43137"/>
                    </a:srgbClr>
                  </a:outerShdw>
                </a:effectLst>
              </a:rPr>
              <a:t>PARTIE ANALYSE</a:t>
            </a:r>
          </a:p>
          <a:p>
            <a:pPr lvl="1"/>
            <a:r>
              <a:rPr lang="fr-FR" sz="1200" b="1" dirty="0">
                <a:solidFill>
                  <a:schemeClr val="bg1">
                    <a:lumMod val="95000"/>
                    <a:lumOff val="5000"/>
                  </a:schemeClr>
                </a:solidFill>
                <a:effectLst>
                  <a:outerShdw blurRad="38100" dist="38100" dir="2700000" algn="tl">
                    <a:srgbClr val="000000">
                      <a:alpha val="43137"/>
                    </a:srgbClr>
                  </a:outerShdw>
                </a:effectLst>
              </a:rPr>
              <a:t>Dictionnaire de Données</a:t>
            </a:r>
          </a:p>
          <a:p>
            <a:pPr lvl="1"/>
            <a:r>
              <a:rPr lang="fr-FR" sz="1200" b="1" dirty="0">
                <a:solidFill>
                  <a:schemeClr val="bg1">
                    <a:lumMod val="95000"/>
                    <a:lumOff val="5000"/>
                  </a:schemeClr>
                </a:solidFill>
                <a:effectLst>
                  <a:outerShdw blurRad="38100" dist="38100" dir="2700000" algn="tl">
                    <a:srgbClr val="000000">
                      <a:alpha val="43137"/>
                    </a:srgbClr>
                  </a:outerShdw>
                </a:effectLst>
              </a:rPr>
              <a:t>Règles de Gestion</a:t>
            </a:r>
          </a:p>
          <a:p>
            <a:pPr lvl="1"/>
            <a:r>
              <a:rPr lang="fr-FR" sz="1200" b="1" dirty="0">
                <a:solidFill>
                  <a:schemeClr val="bg1">
                    <a:lumMod val="95000"/>
                    <a:lumOff val="5000"/>
                  </a:schemeClr>
                </a:solidFill>
                <a:effectLst>
                  <a:outerShdw blurRad="38100" dist="38100" dir="2700000" algn="tl">
                    <a:srgbClr val="000000">
                      <a:alpha val="43137"/>
                    </a:srgbClr>
                  </a:outerShdw>
                </a:effectLst>
              </a:rPr>
              <a:t>Modèle  Conceptuel de Données (MCD )</a:t>
            </a:r>
          </a:p>
          <a:p>
            <a:pPr lvl="1"/>
            <a:r>
              <a:rPr lang="fr-FR" sz="1200" b="1" dirty="0">
                <a:solidFill>
                  <a:schemeClr val="bg1">
                    <a:lumMod val="95000"/>
                    <a:lumOff val="5000"/>
                  </a:schemeClr>
                </a:solidFill>
                <a:effectLst>
                  <a:outerShdw blurRad="38100" dist="38100" dir="2700000" algn="tl">
                    <a:srgbClr val="000000">
                      <a:alpha val="43137"/>
                    </a:srgbClr>
                  </a:outerShdw>
                </a:effectLst>
              </a:rPr>
              <a:t>Modèle Logique de Données(MLD)</a:t>
            </a:r>
          </a:p>
          <a:p>
            <a:pPr lvl="1"/>
            <a:r>
              <a:rPr lang="fr-FR" sz="1200" b="1" dirty="0">
                <a:solidFill>
                  <a:schemeClr val="bg1">
                    <a:lumMod val="95000"/>
                    <a:lumOff val="5000"/>
                  </a:schemeClr>
                </a:solidFill>
                <a:effectLst>
                  <a:outerShdw blurRad="38100" dist="38100" dir="2700000" algn="tl">
                    <a:srgbClr val="000000">
                      <a:alpha val="43137"/>
                    </a:srgbClr>
                  </a:outerShdw>
                </a:effectLst>
              </a:rPr>
              <a:t>Modèle Physiques de Données(MPD)</a:t>
            </a:r>
          </a:p>
          <a:p>
            <a:pPr marL="228600" indent="-228600">
              <a:buFont typeface="+mj-lt"/>
              <a:buAutoNum type="arabicPeriod"/>
            </a:pPr>
            <a:r>
              <a:rPr lang="fr-FR" sz="1500" b="1" dirty="0">
                <a:solidFill>
                  <a:schemeClr val="bg1">
                    <a:lumMod val="95000"/>
                    <a:lumOff val="5000"/>
                  </a:schemeClr>
                </a:solidFill>
                <a:effectLst>
                  <a:outerShdw blurRad="38100" dist="38100" dir="2700000" algn="tl">
                    <a:srgbClr val="000000">
                      <a:alpha val="43137"/>
                    </a:srgbClr>
                  </a:outerShdw>
                </a:effectLst>
              </a:rPr>
              <a:t>Unified Modeling Language  (UML)</a:t>
            </a:r>
          </a:p>
          <a:p>
            <a:pPr lvl="1"/>
            <a:r>
              <a:rPr lang="fr-FR" sz="1200" b="1" dirty="0">
                <a:solidFill>
                  <a:schemeClr val="bg1">
                    <a:lumMod val="95000"/>
                    <a:lumOff val="5000"/>
                  </a:schemeClr>
                </a:solidFill>
                <a:effectLst>
                  <a:outerShdw blurRad="38100" dist="38100" dir="2700000" algn="tl">
                    <a:srgbClr val="000000">
                      <a:alpha val="43137"/>
                    </a:srgbClr>
                  </a:outerShdw>
                </a:effectLst>
              </a:rPr>
              <a:t>Diagramme de Cas d’Utilisation</a:t>
            </a:r>
          </a:p>
          <a:p>
            <a:pPr lvl="1"/>
            <a:r>
              <a:rPr lang="fr-FR" sz="1200" b="1" dirty="0">
                <a:solidFill>
                  <a:schemeClr val="bg1">
                    <a:lumMod val="95000"/>
                    <a:lumOff val="5000"/>
                  </a:schemeClr>
                </a:solidFill>
                <a:effectLst>
                  <a:outerShdw blurRad="38100" dist="38100" dir="2700000" algn="tl">
                    <a:srgbClr val="000000">
                      <a:alpha val="43137"/>
                    </a:srgbClr>
                  </a:outerShdw>
                </a:effectLst>
              </a:rPr>
              <a:t>Diagramme de Classe </a:t>
            </a:r>
          </a:p>
          <a:p>
            <a:pPr lvl="1"/>
            <a:r>
              <a:rPr lang="fr-FR" sz="1200" b="1" dirty="0">
                <a:solidFill>
                  <a:schemeClr val="bg1">
                    <a:lumMod val="95000"/>
                    <a:lumOff val="5000"/>
                  </a:schemeClr>
                </a:solidFill>
                <a:effectLst>
                  <a:outerShdw blurRad="38100" dist="38100" dir="2700000" algn="tl">
                    <a:srgbClr val="000000">
                      <a:alpha val="43137"/>
                    </a:srgbClr>
                  </a:outerShdw>
                </a:effectLst>
              </a:rPr>
              <a:t>Diagramme de Séquence</a:t>
            </a:r>
          </a:p>
          <a:p>
            <a:pPr marL="228600" indent="-228600">
              <a:buFont typeface="+mj-lt"/>
              <a:buAutoNum type="arabicPeriod"/>
            </a:pPr>
            <a:r>
              <a:rPr lang="fr-FR" sz="1500" b="1" dirty="0">
                <a:solidFill>
                  <a:schemeClr val="bg1">
                    <a:lumMod val="95000"/>
                    <a:lumOff val="5000"/>
                  </a:schemeClr>
                </a:solidFill>
                <a:effectLst>
                  <a:outerShdw blurRad="38100" dist="38100" dir="2700000" algn="tl">
                    <a:srgbClr val="000000">
                      <a:alpha val="43137"/>
                    </a:srgbClr>
                  </a:outerShdw>
                </a:effectLst>
              </a:rPr>
              <a:t>DÉMONSTRATION</a:t>
            </a:r>
          </a:p>
          <a:p>
            <a:pPr marL="228600" indent="-228600">
              <a:buFont typeface="+mj-lt"/>
              <a:buAutoNum type="arabicPeriod"/>
            </a:pPr>
            <a:r>
              <a:rPr lang="fr-FR" sz="1500" b="1" dirty="0">
                <a:solidFill>
                  <a:schemeClr val="bg1">
                    <a:lumMod val="95000"/>
                    <a:lumOff val="5000"/>
                  </a:schemeClr>
                </a:solidFill>
                <a:effectLst>
                  <a:outerShdw blurRad="38100" dist="38100" dir="2700000" algn="tl">
                    <a:srgbClr val="000000">
                      <a:alpha val="43137"/>
                    </a:srgbClr>
                  </a:outerShdw>
                </a:effectLst>
              </a:rPr>
              <a:t>CONCLUSION</a:t>
            </a:r>
          </a:p>
        </p:txBody>
      </p:sp>
    </p:spTree>
    <p:extLst>
      <p:ext uri="{BB962C8B-B14F-4D97-AF65-F5344CB8AC3E}">
        <p14:creationId xmlns:p14="http://schemas.microsoft.com/office/powerpoint/2010/main" val="5275973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A34BA7-6C17-47B1-A547-F0D2630F13B4}"/>
              </a:ext>
            </a:extLst>
          </p:cNvPr>
          <p:cNvSpPr>
            <a:spLocks noGrp="1"/>
          </p:cNvSpPr>
          <p:nvPr>
            <p:ph type="title"/>
          </p:nvPr>
        </p:nvSpPr>
        <p:spPr/>
        <p:txBody>
          <a:bodyPr/>
          <a:lstStyle/>
          <a:p>
            <a:pPr algn="ctr"/>
            <a:r>
              <a:rPr lang="fr-FR" dirty="0"/>
              <a:t>Introduction</a:t>
            </a:r>
          </a:p>
        </p:txBody>
      </p:sp>
      <p:sp>
        <p:nvSpPr>
          <p:cNvPr id="3" name="Espace réservé du contenu 2">
            <a:extLst>
              <a:ext uri="{FF2B5EF4-FFF2-40B4-BE49-F238E27FC236}">
                <a16:creationId xmlns:a16="http://schemas.microsoft.com/office/drawing/2014/main" id="{63251424-7F3B-667D-4A8F-3C26AD70586D}"/>
              </a:ext>
            </a:extLst>
          </p:cNvPr>
          <p:cNvSpPr>
            <a:spLocks noGrp="1"/>
          </p:cNvSpPr>
          <p:nvPr>
            <p:ph idx="1"/>
          </p:nvPr>
        </p:nvSpPr>
        <p:spPr>
          <a:xfrm>
            <a:off x="304799" y="2120054"/>
            <a:ext cx="5519555" cy="4114800"/>
          </a:xfrm>
        </p:spPr>
        <p:txBody>
          <a:bodyPr numCol="1">
            <a:noAutofit/>
          </a:bodyPr>
          <a:lstStyle/>
          <a:p>
            <a:pPr>
              <a:buFont typeface="Wingdings" panose="05000000000000000000" pitchFamily="2" charset="2"/>
              <a:buChar char="Ø"/>
            </a:pPr>
            <a:r>
              <a:rPr lang="fr-FR" sz="1400" b="1" dirty="0"/>
              <a:t>Contexte</a:t>
            </a:r>
          </a:p>
          <a:p>
            <a:pPr marL="0" indent="0">
              <a:buNone/>
            </a:pPr>
            <a:r>
              <a:rPr lang="fr-FR" sz="1200" dirty="0"/>
              <a:t>La gestion de stock est essentielle pour toute entreprise afin de contrôler les entrées, les sorties et les quantités disponibles .</a:t>
            </a:r>
          </a:p>
          <a:p>
            <a:pPr marL="0" indent="0">
              <a:buNone/>
            </a:pPr>
            <a:r>
              <a:rPr lang="fr-FR" sz="1200" dirty="0"/>
              <a:t>Dans de nombreuses entreprises, cette gestion est encore réalisée manuellement, ce qui provoque :</a:t>
            </a:r>
          </a:p>
          <a:p>
            <a:r>
              <a:rPr lang="fr-FR" sz="1200" dirty="0"/>
              <a:t>erreurs de saisie </a:t>
            </a:r>
          </a:p>
          <a:p>
            <a:r>
              <a:rPr lang="fr-FR" sz="1200" dirty="0"/>
              <a:t>perte de temps </a:t>
            </a:r>
          </a:p>
          <a:p>
            <a:r>
              <a:rPr lang="fr-FR" sz="1200" dirty="0"/>
              <a:t>manque de traçabilité </a:t>
            </a:r>
          </a:p>
          <a:p>
            <a:r>
              <a:rPr lang="fr-FR" sz="1200" dirty="0"/>
              <a:t>erreurs de stock </a:t>
            </a:r>
          </a:p>
          <a:p>
            <a:endParaRPr lang="fr-FR" sz="1400" b="1" dirty="0"/>
          </a:p>
        </p:txBody>
      </p:sp>
      <p:sp>
        <p:nvSpPr>
          <p:cNvPr id="4" name="Espace réservé du contenu 2">
            <a:extLst>
              <a:ext uri="{FF2B5EF4-FFF2-40B4-BE49-F238E27FC236}">
                <a16:creationId xmlns:a16="http://schemas.microsoft.com/office/drawing/2014/main" id="{A52AE80B-11FE-5F81-D5FD-5F2E692B80A8}"/>
              </a:ext>
            </a:extLst>
          </p:cNvPr>
          <p:cNvSpPr txBox="1">
            <a:spLocks/>
          </p:cNvSpPr>
          <p:nvPr/>
        </p:nvSpPr>
        <p:spPr>
          <a:xfrm>
            <a:off x="6032635" y="1984464"/>
            <a:ext cx="5854566" cy="4488905"/>
          </a:xfrm>
          <a:prstGeom prst="rect">
            <a:avLst/>
          </a:prstGeom>
        </p:spPr>
        <p:txBody>
          <a:bodyPr vert="horz" lIns="91440" tIns="45720" rIns="91440" bIns="45720" numCol="1" rtlCol="0">
            <a:noAutofit/>
          </a:bodyPr>
          <a:lstStyle>
            <a:lvl1pPr marL="182880" indent="-182880" algn="l" defTabSz="914400" rtl="0" eaLnBrk="1" latinLnBrk="0" hangingPunct="1">
              <a:lnSpc>
                <a:spcPct val="90000"/>
              </a:lnSpc>
              <a:spcBef>
                <a:spcPts val="1200"/>
              </a:spcBef>
              <a:spcAft>
                <a:spcPts val="200"/>
              </a:spcAft>
              <a:buClr>
                <a:schemeClr val="tx1"/>
              </a:buClr>
              <a:buFont typeface="Wingdings" pitchFamily="2" charset="2"/>
              <a:buChar char=""/>
              <a:defRPr sz="2200" kern="1200">
                <a:solidFill>
                  <a:schemeClr val="tx1"/>
                </a:solidFill>
                <a:latin typeface="+mn-lt"/>
                <a:ea typeface="+mn-ea"/>
                <a:cs typeface="+mn-cs"/>
              </a:defRPr>
            </a:lvl1pPr>
            <a:lvl2pPr marL="411480" indent="-182880" algn="l" defTabSz="914400" rtl="0" eaLnBrk="1" latinLnBrk="0" hangingPunct="1">
              <a:lnSpc>
                <a:spcPct val="90000"/>
              </a:lnSpc>
              <a:spcBef>
                <a:spcPts val="200"/>
              </a:spcBef>
              <a:spcAft>
                <a:spcPts val="400"/>
              </a:spcAft>
              <a:buClr>
                <a:schemeClr val="tx1"/>
              </a:buClr>
              <a:buFont typeface="Wingdings" pitchFamily="2" charset="2"/>
              <a:buChar char=""/>
              <a:defRPr sz="2000" kern="1200">
                <a:solidFill>
                  <a:schemeClr val="tx1"/>
                </a:solidFill>
                <a:latin typeface="+mn-lt"/>
                <a:ea typeface="+mn-ea"/>
                <a:cs typeface="+mn-cs"/>
              </a:defRPr>
            </a:lvl2pPr>
            <a:lvl3pPr marL="640080" indent="-182880" algn="l" defTabSz="914400" rtl="0" eaLnBrk="1" latinLnBrk="0" hangingPunct="1">
              <a:lnSpc>
                <a:spcPct val="90000"/>
              </a:lnSpc>
              <a:spcBef>
                <a:spcPts val="200"/>
              </a:spcBef>
              <a:spcAft>
                <a:spcPts val="400"/>
              </a:spcAft>
              <a:buClr>
                <a:schemeClr val="tx1"/>
              </a:buClr>
              <a:buFont typeface="Wingdings" pitchFamily="2" charset="2"/>
              <a:buChar char=""/>
              <a:defRPr sz="1800" kern="1200">
                <a:solidFill>
                  <a:schemeClr val="tx1"/>
                </a:solidFill>
                <a:latin typeface="+mn-lt"/>
                <a:ea typeface="+mn-ea"/>
                <a:cs typeface="+mn-cs"/>
              </a:defRPr>
            </a:lvl3pPr>
            <a:lvl4pPr marL="8686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4pPr>
            <a:lvl5pPr marL="10972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5pPr>
            <a:lvl6pPr marL="12846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6pPr>
            <a:lvl7pPr marL="14718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7pPr>
            <a:lvl8pPr marL="16290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8pPr>
            <a:lvl9pPr marL="18062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9pPr>
          </a:lstStyle>
          <a:p>
            <a:pPr>
              <a:buFont typeface="Wingdings" panose="05000000000000000000" pitchFamily="2" charset="2"/>
              <a:buChar char="Ø"/>
            </a:pPr>
            <a:r>
              <a:rPr lang="fr-FR" sz="1400" b="1" dirty="0"/>
              <a:t>Objectif</a:t>
            </a:r>
          </a:p>
          <a:p>
            <a:pPr marL="0" indent="0">
              <a:buFont typeface="Wingdings" pitchFamily="2" charset="2"/>
              <a:buNone/>
            </a:pPr>
            <a:r>
              <a:rPr lang="fr-FR" sz="1200" dirty="0"/>
              <a:t>L'objectif de mon projet est de développer une application permettant :</a:t>
            </a:r>
          </a:p>
          <a:p>
            <a:r>
              <a:rPr lang="fr-FR" sz="1200" dirty="0"/>
              <a:t>gérer les produits </a:t>
            </a:r>
          </a:p>
          <a:p>
            <a:r>
              <a:rPr lang="fr-FR" sz="1200" dirty="0"/>
              <a:t>gérer les fournisseurs </a:t>
            </a:r>
          </a:p>
          <a:p>
            <a:r>
              <a:rPr lang="fr-FR" sz="1200" dirty="0"/>
              <a:t>gérer les clients </a:t>
            </a:r>
          </a:p>
          <a:p>
            <a:r>
              <a:rPr lang="fr-FR" sz="1200" dirty="0"/>
              <a:t>gérer les achats </a:t>
            </a:r>
          </a:p>
          <a:p>
            <a:r>
              <a:rPr lang="fr-FR" sz="1200" dirty="0"/>
              <a:t>gérer les ventes </a:t>
            </a:r>
          </a:p>
          <a:p>
            <a:r>
              <a:rPr lang="fr-FR" sz="1200" dirty="0"/>
              <a:t>gérer les utilisateurs </a:t>
            </a:r>
          </a:p>
          <a:p>
            <a:r>
              <a:rPr lang="fr-FR" sz="1200" dirty="0"/>
              <a:t>gérer les rôles </a:t>
            </a:r>
          </a:p>
          <a:p>
            <a:r>
              <a:rPr lang="fr-FR" sz="1200" dirty="0"/>
              <a:t>assurer un audit des opérations</a:t>
            </a:r>
          </a:p>
        </p:txBody>
      </p:sp>
      <p:graphicFrame>
        <p:nvGraphicFramePr>
          <p:cNvPr id="5" name="Tableau 4">
            <a:extLst>
              <a:ext uri="{FF2B5EF4-FFF2-40B4-BE49-F238E27FC236}">
                <a16:creationId xmlns:a16="http://schemas.microsoft.com/office/drawing/2014/main" id="{4F717CC3-12C9-8BB8-B68E-1541C462BA8F}"/>
              </a:ext>
            </a:extLst>
          </p:cNvPr>
          <p:cNvGraphicFramePr>
            <a:graphicFrameLocks noGrp="1"/>
          </p:cNvGraphicFramePr>
          <p:nvPr>
            <p:extLst>
              <p:ext uri="{D42A27DB-BD31-4B8C-83A1-F6EECF244321}">
                <p14:modId xmlns:p14="http://schemas.microsoft.com/office/powerpoint/2010/main" val="1084493414"/>
              </p:ext>
            </p:extLst>
          </p:nvPr>
        </p:nvGraphicFramePr>
        <p:xfrm>
          <a:off x="5824354" y="1984464"/>
          <a:ext cx="208280" cy="4488905"/>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2689193431"/>
                    </a:ext>
                  </a:extLst>
                </a:gridCol>
              </a:tblGrid>
              <a:tr h="4488905">
                <a:tc>
                  <a:txBody>
                    <a:bodyPr/>
                    <a:lstStyle/>
                    <a:p>
                      <a:endParaRPr lang="fr-FR" dirty="0">
                        <a:solidFill>
                          <a:schemeClr val="tx2">
                            <a:lumMod val="10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10000"/>
                      </a:schemeClr>
                    </a:solidFill>
                  </a:tcPr>
                </a:tc>
                <a:extLst>
                  <a:ext uri="{0D108BD9-81ED-4DB2-BD59-A6C34878D82A}">
                    <a16:rowId xmlns:a16="http://schemas.microsoft.com/office/drawing/2014/main" val="3929754147"/>
                  </a:ext>
                </a:extLst>
              </a:tr>
            </a:tbl>
          </a:graphicData>
        </a:graphic>
      </p:graphicFrame>
    </p:spTree>
    <p:extLst>
      <p:ext uri="{BB962C8B-B14F-4D97-AF65-F5344CB8AC3E}">
        <p14:creationId xmlns:p14="http://schemas.microsoft.com/office/powerpoint/2010/main" val="32302292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a:extLst>
              <a:ext uri="{FF2B5EF4-FFF2-40B4-BE49-F238E27FC236}">
                <a16:creationId xmlns:a16="http://schemas.microsoft.com/office/drawing/2014/main" id="{DF64C529-FCC2-F476-9561-44AAAF1E724F}"/>
              </a:ext>
            </a:extLst>
          </p:cNvPr>
          <p:cNvSpPr>
            <a:spLocks noGrp="1"/>
          </p:cNvSpPr>
          <p:nvPr>
            <p:ph type="title"/>
          </p:nvPr>
        </p:nvSpPr>
        <p:spPr/>
        <p:txBody>
          <a:bodyPr/>
          <a:lstStyle/>
          <a:p>
            <a:pPr algn="ctr"/>
            <a:r>
              <a:rPr lang="fr-FR" dirty="0"/>
              <a:t>Présentation de projet :</a:t>
            </a:r>
          </a:p>
        </p:txBody>
      </p:sp>
      <p:sp>
        <p:nvSpPr>
          <p:cNvPr id="9" name="ZoneTexte 8">
            <a:extLst>
              <a:ext uri="{FF2B5EF4-FFF2-40B4-BE49-F238E27FC236}">
                <a16:creationId xmlns:a16="http://schemas.microsoft.com/office/drawing/2014/main" id="{040C144C-AAFD-2D54-5AFA-0851BD465E43}"/>
              </a:ext>
            </a:extLst>
          </p:cNvPr>
          <p:cNvSpPr txBox="1"/>
          <p:nvPr/>
        </p:nvSpPr>
        <p:spPr>
          <a:xfrm>
            <a:off x="693800" y="1916922"/>
            <a:ext cx="10802318" cy="4247317"/>
          </a:xfrm>
          <a:prstGeom prst="rect">
            <a:avLst/>
          </a:prstGeom>
          <a:noFill/>
        </p:spPr>
        <p:txBody>
          <a:bodyPr wrap="square">
            <a:spAutoFit/>
          </a:bodyPr>
          <a:lstStyle/>
          <a:p>
            <a:pPr>
              <a:buNone/>
            </a:pPr>
            <a:r>
              <a:rPr lang="fr-FR" b="1" dirty="0">
                <a:solidFill>
                  <a:schemeClr val="bg1"/>
                </a:solidFill>
              </a:rPr>
              <a:t>Objectif :</a:t>
            </a:r>
            <a:br>
              <a:rPr lang="fr-FR" dirty="0">
                <a:solidFill>
                  <a:schemeClr val="bg1"/>
                </a:solidFill>
              </a:rPr>
            </a:br>
            <a:r>
              <a:rPr lang="fr-FR" sz="1500" dirty="0">
                <a:solidFill>
                  <a:schemeClr val="bg1"/>
                </a:solidFill>
              </a:rPr>
              <a:t>Développer une application permettant de gérer efficacement les produits, les achats, les ventes, les fournisseurs et les clients tout en assurant le suivi des mouvements de stock et la traçabilité des opérations.</a:t>
            </a:r>
          </a:p>
          <a:p>
            <a:pPr>
              <a:buNone/>
            </a:pPr>
            <a:r>
              <a:rPr lang="fr-FR" b="1" dirty="0">
                <a:solidFill>
                  <a:schemeClr val="bg1"/>
                </a:solidFill>
              </a:rPr>
              <a:t>Utilisateurs :</a:t>
            </a:r>
            <a:endParaRPr lang="fr-FR" dirty="0">
              <a:solidFill>
                <a:schemeClr val="bg1"/>
              </a:solidFill>
            </a:endParaRPr>
          </a:p>
          <a:p>
            <a:pPr>
              <a:buFont typeface="Arial" panose="020B0604020202020204" pitchFamily="34" charset="0"/>
              <a:buChar char="•"/>
            </a:pPr>
            <a:r>
              <a:rPr lang="fr-FR" sz="1500" dirty="0">
                <a:solidFill>
                  <a:schemeClr val="bg1"/>
                </a:solidFill>
              </a:rPr>
              <a:t>Administrateur </a:t>
            </a:r>
          </a:p>
          <a:p>
            <a:pPr>
              <a:buFont typeface="Arial" panose="020B0604020202020204" pitchFamily="34" charset="0"/>
              <a:buChar char="•"/>
            </a:pPr>
            <a:r>
              <a:rPr lang="fr-FR" sz="1500" dirty="0">
                <a:solidFill>
                  <a:schemeClr val="bg1"/>
                </a:solidFill>
              </a:rPr>
              <a:t>Gestionnaire de stock </a:t>
            </a:r>
          </a:p>
          <a:p>
            <a:pPr>
              <a:buNone/>
            </a:pPr>
            <a:r>
              <a:rPr lang="fr-FR" b="1" dirty="0">
                <a:solidFill>
                  <a:schemeClr val="bg1"/>
                </a:solidFill>
              </a:rPr>
              <a:t>Fonctionnalités principales :</a:t>
            </a:r>
            <a:endParaRPr lang="fr-FR" dirty="0">
              <a:solidFill>
                <a:schemeClr val="bg1"/>
              </a:solidFill>
            </a:endParaRPr>
          </a:p>
          <a:p>
            <a:pPr>
              <a:buFont typeface="Arial" panose="020B0604020202020204" pitchFamily="34" charset="0"/>
              <a:buChar char="•"/>
            </a:pPr>
            <a:r>
              <a:rPr lang="fr-FR" sz="1500" dirty="0">
                <a:solidFill>
                  <a:schemeClr val="bg1"/>
                </a:solidFill>
              </a:rPr>
              <a:t>Gestion des produits </a:t>
            </a:r>
          </a:p>
          <a:p>
            <a:pPr>
              <a:buFont typeface="Arial" panose="020B0604020202020204" pitchFamily="34" charset="0"/>
              <a:buChar char="•"/>
            </a:pPr>
            <a:r>
              <a:rPr lang="fr-FR" sz="1500" dirty="0">
                <a:solidFill>
                  <a:schemeClr val="bg1"/>
                </a:solidFill>
              </a:rPr>
              <a:t>Gestion des fournisseurs </a:t>
            </a:r>
          </a:p>
          <a:p>
            <a:pPr>
              <a:buFont typeface="Arial" panose="020B0604020202020204" pitchFamily="34" charset="0"/>
              <a:buChar char="•"/>
            </a:pPr>
            <a:r>
              <a:rPr lang="fr-FR" sz="1500" dirty="0">
                <a:solidFill>
                  <a:schemeClr val="bg1"/>
                </a:solidFill>
              </a:rPr>
              <a:t>Gestion des clients </a:t>
            </a:r>
          </a:p>
          <a:p>
            <a:pPr>
              <a:buFont typeface="Arial" panose="020B0604020202020204" pitchFamily="34" charset="0"/>
              <a:buChar char="•"/>
            </a:pPr>
            <a:r>
              <a:rPr lang="fr-FR" sz="1500" dirty="0">
                <a:solidFill>
                  <a:schemeClr val="bg1"/>
                </a:solidFill>
              </a:rPr>
              <a:t>Gestion des achats </a:t>
            </a:r>
          </a:p>
          <a:p>
            <a:pPr>
              <a:buFont typeface="Arial" panose="020B0604020202020204" pitchFamily="34" charset="0"/>
              <a:buChar char="•"/>
            </a:pPr>
            <a:r>
              <a:rPr lang="fr-FR" sz="1500" dirty="0">
                <a:solidFill>
                  <a:schemeClr val="bg1"/>
                </a:solidFill>
              </a:rPr>
              <a:t>Gestion des ventes </a:t>
            </a:r>
          </a:p>
          <a:p>
            <a:pPr>
              <a:buFont typeface="Arial" panose="020B0604020202020204" pitchFamily="34" charset="0"/>
              <a:buChar char="•"/>
            </a:pPr>
            <a:r>
              <a:rPr lang="fr-FR" sz="1500" dirty="0">
                <a:solidFill>
                  <a:schemeClr val="bg1"/>
                </a:solidFill>
              </a:rPr>
              <a:t>Gestion des utilisateurs </a:t>
            </a:r>
          </a:p>
          <a:p>
            <a:pPr>
              <a:buFont typeface="Arial" panose="020B0604020202020204" pitchFamily="34" charset="0"/>
              <a:buChar char="•"/>
            </a:pPr>
            <a:r>
              <a:rPr lang="fr-FR" sz="1500" dirty="0">
                <a:solidFill>
                  <a:schemeClr val="bg1"/>
                </a:solidFill>
              </a:rPr>
              <a:t>Gestion des rôles </a:t>
            </a:r>
          </a:p>
          <a:p>
            <a:pPr>
              <a:buFont typeface="Arial" panose="020B0604020202020204" pitchFamily="34" charset="0"/>
              <a:buChar char="•"/>
            </a:pPr>
            <a:r>
              <a:rPr lang="fr-FR" sz="1500" dirty="0">
                <a:solidFill>
                  <a:schemeClr val="bg1"/>
                </a:solidFill>
              </a:rPr>
              <a:t>Gestion des paiements </a:t>
            </a:r>
          </a:p>
          <a:p>
            <a:pPr>
              <a:buFont typeface="Arial" panose="020B0604020202020204" pitchFamily="34" charset="0"/>
              <a:buChar char="•"/>
            </a:pPr>
            <a:r>
              <a:rPr lang="fr-FR" sz="1500" dirty="0">
                <a:solidFill>
                  <a:schemeClr val="bg1"/>
                </a:solidFill>
              </a:rPr>
              <a:t>Gestion des inventaires </a:t>
            </a:r>
          </a:p>
          <a:p>
            <a:pPr>
              <a:buFont typeface="Arial" panose="020B0604020202020204" pitchFamily="34" charset="0"/>
              <a:buChar char="•"/>
            </a:pPr>
            <a:r>
              <a:rPr lang="fr-FR" sz="1500" dirty="0">
                <a:solidFill>
                  <a:schemeClr val="bg1"/>
                </a:solidFill>
              </a:rPr>
              <a:t>Audit des opérations </a:t>
            </a:r>
          </a:p>
        </p:txBody>
      </p:sp>
    </p:spTree>
    <p:extLst>
      <p:ext uri="{BB962C8B-B14F-4D97-AF65-F5344CB8AC3E}">
        <p14:creationId xmlns:p14="http://schemas.microsoft.com/office/powerpoint/2010/main" val="8451585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6DDF5E-9D31-913E-B62B-92303222AB64}"/>
              </a:ext>
            </a:extLst>
          </p:cNvPr>
          <p:cNvSpPr>
            <a:spLocks noGrp="1"/>
          </p:cNvSpPr>
          <p:nvPr>
            <p:ph type="title"/>
          </p:nvPr>
        </p:nvSpPr>
        <p:spPr/>
        <p:txBody>
          <a:bodyPr>
            <a:normAutofit/>
          </a:bodyPr>
          <a:lstStyle/>
          <a:p>
            <a:pPr algn="ctr"/>
            <a:r>
              <a:rPr lang="fr-FR" sz="3000" dirty="0"/>
              <a:t>Partie analyse :</a:t>
            </a:r>
            <a:br>
              <a:rPr lang="fr-FR" sz="3000" dirty="0"/>
            </a:br>
            <a:br>
              <a:rPr lang="fr-FR" sz="2000" dirty="0"/>
            </a:br>
            <a:r>
              <a:rPr lang="fr-FR" sz="2000" dirty="0"/>
              <a:t>Dictionnaire de données</a:t>
            </a:r>
          </a:p>
        </p:txBody>
      </p:sp>
      <p:graphicFrame>
        <p:nvGraphicFramePr>
          <p:cNvPr id="4" name="Espace réservé du contenu 3">
            <a:extLst>
              <a:ext uri="{FF2B5EF4-FFF2-40B4-BE49-F238E27FC236}">
                <a16:creationId xmlns:a16="http://schemas.microsoft.com/office/drawing/2014/main" id="{C9BDEBF4-7A7F-B3BA-35CF-F52EF83415CE}"/>
              </a:ext>
            </a:extLst>
          </p:cNvPr>
          <p:cNvGraphicFramePr>
            <a:graphicFrameLocks noGrp="1"/>
          </p:cNvGraphicFramePr>
          <p:nvPr>
            <p:ph idx="1"/>
            <p:extLst>
              <p:ext uri="{D42A27DB-BD31-4B8C-83A1-F6EECF244321}">
                <p14:modId xmlns:p14="http://schemas.microsoft.com/office/powerpoint/2010/main" val="2918269389"/>
              </p:ext>
            </p:extLst>
          </p:nvPr>
        </p:nvGraphicFramePr>
        <p:xfrm>
          <a:off x="976391" y="3579769"/>
          <a:ext cx="9784081" cy="1485296"/>
        </p:xfrm>
        <a:graphic>
          <a:graphicData uri="http://schemas.openxmlformats.org/drawingml/2006/table">
            <a:tbl>
              <a:tblPr firstRow="1" firstCol="1" bandRow="1">
                <a:tableStyleId>{5C22544A-7EE6-4342-B048-85BDC9FD1C3A}</a:tableStyleId>
              </a:tblPr>
              <a:tblGrid>
                <a:gridCol w="1437369">
                  <a:extLst>
                    <a:ext uri="{9D8B030D-6E8A-4147-A177-3AD203B41FA5}">
                      <a16:colId xmlns:a16="http://schemas.microsoft.com/office/drawing/2014/main" val="1606614681"/>
                    </a:ext>
                  </a:extLst>
                </a:gridCol>
                <a:gridCol w="1437369">
                  <a:extLst>
                    <a:ext uri="{9D8B030D-6E8A-4147-A177-3AD203B41FA5}">
                      <a16:colId xmlns:a16="http://schemas.microsoft.com/office/drawing/2014/main" val="1464648274"/>
                    </a:ext>
                  </a:extLst>
                </a:gridCol>
                <a:gridCol w="1437369">
                  <a:extLst>
                    <a:ext uri="{9D8B030D-6E8A-4147-A177-3AD203B41FA5}">
                      <a16:colId xmlns:a16="http://schemas.microsoft.com/office/drawing/2014/main" val="139232454"/>
                    </a:ext>
                  </a:extLst>
                </a:gridCol>
                <a:gridCol w="3111698">
                  <a:extLst>
                    <a:ext uri="{9D8B030D-6E8A-4147-A177-3AD203B41FA5}">
                      <a16:colId xmlns:a16="http://schemas.microsoft.com/office/drawing/2014/main" val="1232649012"/>
                    </a:ext>
                  </a:extLst>
                </a:gridCol>
                <a:gridCol w="2360276">
                  <a:extLst>
                    <a:ext uri="{9D8B030D-6E8A-4147-A177-3AD203B41FA5}">
                      <a16:colId xmlns:a16="http://schemas.microsoft.com/office/drawing/2014/main" val="1783671006"/>
                    </a:ext>
                  </a:extLst>
                </a:gridCol>
              </a:tblGrid>
              <a:tr h="0">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Propriété</a:t>
                      </a:r>
                    </a:p>
                  </a:txBody>
                  <a:tcPr marL="32195" marR="32195" marT="0" marB="0"/>
                </a:tc>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Type</a:t>
                      </a:r>
                    </a:p>
                  </a:txBody>
                  <a:tcPr marL="32195" marR="32195" marT="0" marB="0"/>
                </a:tc>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Description</a:t>
                      </a:r>
                    </a:p>
                  </a:txBody>
                  <a:tcPr marL="32195" marR="32195" marT="0" marB="0"/>
                </a:tc>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Entité</a:t>
                      </a:r>
                    </a:p>
                  </a:txBody>
                  <a:tcPr marL="32195" marR="32195" marT="0" marB="0" anchor="ctr"/>
                </a:tc>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Observation</a:t>
                      </a:r>
                    </a:p>
                  </a:txBody>
                  <a:tcPr marL="32195" marR="32195" marT="0" marB="0"/>
                </a:tc>
                <a:extLst>
                  <a:ext uri="{0D108BD9-81ED-4DB2-BD59-A6C34878D82A}">
                    <a16:rowId xmlns:a16="http://schemas.microsoft.com/office/drawing/2014/main" val="2270797497"/>
                  </a:ext>
                </a:extLst>
              </a:tr>
              <a:tr h="320213">
                <a:tc>
                  <a:txBody>
                    <a:bodyPr/>
                    <a:lstStyle/>
                    <a:p>
                      <a:pPr algn="ctr">
                        <a:buNone/>
                      </a:pPr>
                      <a:r>
                        <a:rPr lang="fr-FR" sz="1200" u="none" strike="noStrike">
                          <a:effectLst/>
                          <a:uFill>
                            <a:solidFill>
                              <a:srgbClr val="000000"/>
                            </a:solidFill>
                          </a:uFill>
                        </a:rPr>
                        <a:t>id_client</a:t>
                      </a:r>
                      <a:endParaRPr lang="fr-FR" sz="18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u="none" strike="noStrike">
                          <a:effectLst/>
                          <a:uFill>
                            <a:solidFill>
                              <a:srgbClr val="000000"/>
                            </a:solidFill>
                          </a:uFill>
                        </a:rPr>
                        <a:t>INT</a:t>
                      </a:r>
                      <a:endParaRPr lang="fr-FR" sz="18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u="none" strike="noStrike">
                          <a:effectLst/>
                          <a:uFill>
                            <a:solidFill>
                              <a:srgbClr val="000000"/>
                            </a:solidFill>
                          </a:uFill>
                        </a:rPr>
                        <a:t>Identifiant unique de client</a:t>
                      </a:r>
                      <a:endParaRPr lang="fr-FR" sz="18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rowSpan="5">
                  <a:txBody>
                    <a:bodyPr/>
                    <a:lstStyle/>
                    <a:p>
                      <a:pPr algn="ctr">
                        <a:buNone/>
                      </a:pPr>
                      <a:r>
                        <a:rPr lang="fr-FR" sz="1200" u="none" strike="noStrike" dirty="0">
                          <a:effectLst/>
                          <a:uFill>
                            <a:solidFill>
                              <a:srgbClr val="000000"/>
                            </a:solidFill>
                          </a:uFill>
                        </a:rPr>
                        <a:t> </a:t>
                      </a:r>
                      <a:endParaRPr lang="fr-FR" sz="1800" u="sng" dirty="0">
                        <a:effectLst/>
                        <a:uFill>
                          <a:solidFill>
                            <a:srgbClr val="000000"/>
                          </a:solidFill>
                        </a:uFill>
                      </a:endParaRPr>
                    </a:p>
                    <a:p>
                      <a:pPr algn="ctr">
                        <a:buNone/>
                      </a:pPr>
                      <a:r>
                        <a:rPr lang="fr-FR" sz="1200" u="none" strike="noStrike" dirty="0">
                          <a:effectLst/>
                          <a:uFill>
                            <a:solidFill>
                              <a:srgbClr val="000000"/>
                            </a:solidFill>
                          </a:uFill>
                        </a:rPr>
                        <a:t> </a:t>
                      </a:r>
                      <a:endParaRPr lang="fr-FR" sz="1800" u="sng" dirty="0">
                        <a:effectLst/>
                        <a:uFill>
                          <a:solidFill>
                            <a:srgbClr val="000000"/>
                          </a:solidFill>
                        </a:uFill>
                      </a:endParaRPr>
                    </a:p>
                    <a:p>
                      <a:pPr algn="ctr">
                        <a:buNone/>
                      </a:pPr>
                      <a:r>
                        <a:rPr lang="fr-FR" sz="1200" u="none" strike="noStrike" dirty="0">
                          <a:effectLst/>
                          <a:uFill>
                            <a:solidFill>
                              <a:srgbClr val="000000"/>
                            </a:solidFill>
                          </a:uFill>
                        </a:rPr>
                        <a:t>Client</a:t>
                      </a:r>
                      <a:endParaRPr lang="fr-FR" sz="18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u="none" strike="noStrike">
                          <a:effectLst/>
                          <a:uFill>
                            <a:solidFill>
                              <a:srgbClr val="000000"/>
                            </a:solidFill>
                          </a:uFill>
                        </a:rPr>
                        <a:t>Identifiant unique</a:t>
                      </a:r>
                      <a:endParaRPr lang="fr-FR" sz="18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4205138449"/>
                  </a:ext>
                </a:extLst>
              </a:tr>
              <a:tr h="320213">
                <a:tc>
                  <a:txBody>
                    <a:bodyPr/>
                    <a:lstStyle/>
                    <a:p>
                      <a:pPr algn="ctr">
                        <a:buNone/>
                      </a:pPr>
                      <a:r>
                        <a:rPr lang="fr-FR" sz="1200" u="none" strike="noStrike">
                          <a:effectLst/>
                          <a:uFill>
                            <a:solidFill>
                              <a:srgbClr val="000000"/>
                            </a:solidFill>
                          </a:uFill>
                        </a:rPr>
                        <a:t>nom_complet</a:t>
                      </a:r>
                      <a:endParaRPr lang="fr-FR" sz="18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u="none" strike="noStrike">
                          <a:effectLst/>
                          <a:uFill>
                            <a:solidFill>
                              <a:srgbClr val="000000"/>
                            </a:solidFill>
                          </a:uFill>
                        </a:rPr>
                        <a:t>VARCHAR</a:t>
                      </a:r>
                      <a:endParaRPr lang="fr-FR" sz="18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u="none" strike="noStrike">
                          <a:effectLst/>
                          <a:uFill>
                            <a:solidFill>
                              <a:srgbClr val="000000"/>
                            </a:solidFill>
                          </a:uFill>
                        </a:rPr>
                        <a:t>Nom et prénom de client</a:t>
                      </a:r>
                      <a:endParaRPr lang="fr-FR" sz="18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vMerge="1">
                  <a:txBody>
                    <a:bodyPr/>
                    <a:lstStyle/>
                    <a:p>
                      <a:endParaRPr lang="fr-FR"/>
                    </a:p>
                  </a:txBody>
                  <a:tcPr/>
                </a:tc>
                <a:tc>
                  <a:txBody>
                    <a:bodyPr/>
                    <a:lstStyle/>
                    <a:p>
                      <a:pPr algn="ctr">
                        <a:buNone/>
                      </a:pPr>
                      <a:r>
                        <a:rPr lang="fr-FR" sz="1200" u="none" strike="noStrike">
                          <a:effectLst/>
                          <a:uFill>
                            <a:solidFill>
                              <a:srgbClr val="000000"/>
                            </a:solidFill>
                          </a:uFill>
                        </a:rPr>
                        <a:t> </a:t>
                      </a:r>
                      <a:endParaRPr lang="fr-FR" sz="18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4134368674"/>
                  </a:ext>
                </a:extLst>
              </a:tr>
              <a:tr h="160106">
                <a:tc>
                  <a:txBody>
                    <a:bodyPr/>
                    <a:lstStyle/>
                    <a:p>
                      <a:pPr algn="ctr">
                        <a:buNone/>
                      </a:pPr>
                      <a:r>
                        <a:rPr lang="fr-FR" sz="1200" u="none" strike="noStrike">
                          <a:effectLst/>
                          <a:uFill>
                            <a:solidFill>
                              <a:srgbClr val="000000"/>
                            </a:solidFill>
                          </a:uFill>
                        </a:rPr>
                        <a:t>telephone</a:t>
                      </a:r>
                      <a:endParaRPr lang="fr-FR" sz="18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u="none" strike="noStrike">
                          <a:effectLst/>
                          <a:uFill>
                            <a:solidFill>
                              <a:srgbClr val="000000"/>
                            </a:solidFill>
                          </a:uFill>
                        </a:rPr>
                        <a:t>VARCHAR</a:t>
                      </a:r>
                      <a:endParaRPr lang="fr-FR" sz="18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tc>
                <a:tc>
                  <a:txBody>
                    <a:bodyPr/>
                    <a:lstStyle/>
                    <a:p>
                      <a:pPr algn="ctr">
                        <a:buNone/>
                      </a:pPr>
                      <a:r>
                        <a:rPr lang="fr-FR" sz="1200" u="none" strike="noStrike">
                          <a:effectLst/>
                          <a:uFill>
                            <a:solidFill>
                              <a:srgbClr val="000000"/>
                            </a:solidFill>
                          </a:uFill>
                        </a:rPr>
                        <a:t>Téléphone de client</a:t>
                      </a:r>
                      <a:endParaRPr lang="fr-FR" sz="18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vMerge="1">
                  <a:txBody>
                    <a:bodyPr/>
                    <a:lstStyle/>
                    <a:p>
                      <a:endParaRPr lang="fr-FR"/>
                    </a:p>
                  </a:txBody>
                  <a:tcPr/>
                </a:tc>
                <a:tc>
                  <a:txBody>
                    <a:bodyPr/>
                    <a:lstStyle/>
                    <a:p>
                      <a:pPr algn="ctr">
                        <a:buNone/>
                      </a:pPr>
                      <a:r>
                        <a:rPr lang="fr-FR" sz="1200" u="none" strike="noStrike">
                          <a:effectLst/>
                          <a:uFill>
                            <a:solidFill>
                              <a:srgbClr val="000000"/>
                            </a:solidFill>
                          </a:uFill>
                        </a:rPr>
                        <a:t> </a:t>
                      </a:r>
                      <a:endParaRPr lang="fr-FR" sz="18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2046322518"/>
                  </a:ext>
                </a:extLst>
              </a:tr>
              <a:tr h="160106">
                <a:tc>
                  <a:txBody>
                    <a:bodyPr/>
                    <a:lstStyle/>
                    <a:p>
                      <a:pPr algn="ctr">
                        <a:buNone/>
                      </a:pPr>
                      <a:r>
                        <a:rPr lang="fr-FR" sz="1200" u="none" strike="noStrike">
                          <a:effectLst/>
                          <a:uFill>
                            <a:solidFill>
                              <a:srgbClr val="000000"/>
                            </a:solidFill>
                          </a:uFill>
                        </a:rPr>
                        <a:t>email</a:t>
                      </a:r>
                      <a:endParaRPr lang="fr-FR" sz="18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u="none" strike="noStrike">
                          <a:effectLst/>
                          <a:uFill>
                            <a:solidFill>
                              <a:srgbClr val="000000"/>
                            </a:solidFill>
                          </a:uFill>
                        </a:rPr>
                        <a:t>VARCHAR</a:t>
                      </a:r>
                      <a:endParaRPr lang="fr-FR" sz="18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u="none" strike="noStrike">
                          <a:effectLst/>
                          <a:uFill>
                            <a:solidFill>
                              <a:srgbClr val="000000"/>
                            </a:solidFill>
                          </a:uFill>
                        </a:rPr>
                        <a:t>Email de client</a:t>
                      </a:r>
                      <a:endParaRPr lang="fr-FR" sz="18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vMerge="1">
                  <a:txBody>
                    <a:bodyPr/>
                    <a:lstStyle/>
                    <a:p>
                      <a:endParaRPr lang="fr-FR"/>
                    </a:p>
                  </a:txBody>
                  <a:tcPr/>
                </a:tc>
                <a:tc>
                  <a:txBody>
                    <a:bodyPr/>
                    <a:lstStyle/>
                    <a:p>
                      <a:pPr algn="ctr">
                        <a:buNone/>
                      </a:pPr>
                      <a:r>
                        <a:rPr lang="fr-FR" sz="1200" u="none" strike="noStrike" dirty="0">
                          <a:effectLst/>
                          <a:uFill>
                            <a:solidFill>
                              <a:srgbClr val="000000"/>
                            </a:solidFill>
                          </a:uFill>
                        </a:rPr>
                        <a:t>Adresse </a:t>
                      </a:r>
                      <a:r>
                        <a:rPr lang="fr-FR" sz="1200" u="none" strike="noStrike" dirty="0" err="1">
                          <a:effectLst/>
                          <a:uFill>
                            <a:solidFill>
                              <a:srgbClr val="000000"/>
                            </a:solidFill>
                          </a:uFill>
                        </a:rPr>
                        <a:t>electronique</a:t>
                      </a:r>
                      <a:endParaRPr lang="fr-FR" sz="18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2640977840"/>
                  </a:ext>
                </a:extLst>
              </a:tr>
              <a:tr h="205136">
                <a:tc>
                  <a:txBody>
                    <a:bodyPr/>
                    <a:lstStyle/>
                    <a:p>
                      <a:pPr algn="ctr">
                        <a:buNone/>
                      </a:pPr>
                      <a:r>
                        <a:rPr lang="fr-FR" sz="1200" u="none" strike="noStrike">
                          <a:effectLst/>
                          <a:uFill>
                            <a:solidFill>
                              <a:srgbClr val="000000"/>
                            </a:solidFill>
                          </a:uFill>
                        </a:rPr>
                        <a:t>adresse</a:t>
                      </a:r>
                      <a:endParaRPr lang="fr-FR" sz="18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u="none" strike="noStrike" dirty="0">
                          <a:effectLst/>
                          <a:uFill>
                            <a:solidFill>
                              <a:srgbClr val="000000"/>
                            </a:solidFill>
                          </a:uFill>
                        </a:rPr>
                        <a:t>TEXT</a:t>
                      </a:r>
                      <a:endParaRPr lang="fr-FR" sz="18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tc>
                <a:tc>
                  <a:txBody>
                    <a:bodyPr/>
                    <a:lstStyle/>
                    <a:p>
                      <a:pPr algn="ctr">
                        <a:buNone/>
                      </a:pPr>
                      <a:r>
                        <a:rPr lang="fr-FR" sz="1200" u="none" strike="noStrike" dirty="0">
                          <a:effectLst/>
                          <a:uFill>
                            <a:solidFill>
                              <a:srgbClr val="000000"/>
                            </a:solidFill>
                          </a:uFill>
                        </a:rPr>
                        <a:t>Adresse de client</a:t>
                      </a:r>
                      <a:endParaRPr lang="fr-FR" sz="18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vMerge="1">
                  <a:txBody>
                    <a:bodyPr/>
                    <a:lstStyle/>
                    <a:p>
                      <a:endParaRPr lang="fr-FR"/>
                    </a:p>
                  </a:txBody>
                  <a:tcPr/>
                </a:tc>
                <a:tc>
                  <a:txBody>
                    <a:bodyPr/>
                    <a:lstStyle/>
                    <a:p>
                      <a:pPr algn="ctr">
                        <a:buNone/>
                      </a:pPr>
                      <a:r>
                        <a:rPr lang="fr-FR" sz="1200" u="none" strike="noStrike" dirty="0">
                          <a:effectLst/>
                          <a:uFill>
                            <a:solidFill>
                              <a:srgbClr val="000000"/>
                            </a:solidFill>
                          </a:uFill>
                        </a:rPr>
                        <a:t>Localisation</a:t>
                      </a:r>
                      <a:endParaRPr lang="fr-FR" sz="18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2162898949"/>
                  </a:ext>
                </a:extLst>
              </a:tr>
            </a:tbl>
          </a:graphicData>
        </a:graphic>
      </p:graphicFrame>
      <p:sp>
        <p:nvSpPr>
          <p:cNvPr id="6" name="Titre 1">
            <a:extLst>
              <a:ext uri="{FF2B5EF4-FFF2-40B4-BE49-F238E27FC236}">
                <a16:creationId xmlns:a16="http://schemas.microsoft.com/office/drawing/2014/main" id="{BDCCDDC1-D1B8-A358-00FC-3EC4C59D0C65}"/>
              </a:ext>
            </a:extLst>
          </p:cNvPr>
          <p:cNvSpPr txBox="1">
            <a:spLocks/>
          </p:cNvSpPr>
          <p:nvPr/>
        </p:nvSpPr>
        <p:spPr>
          <a:xfrm>
            <a:off x="976391" y="1813221"/>
            <a:ext cx="6662972" cy="1615779"/>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4000" kern="1200" cap="all" baseline="0">
                <a:solidFill>
                  <a:schemeClr val="bg2"/>
                </a:solidFill>
                <a:latin typeface="+mj-lt"/>
                <a:ea typeface="+mj-ea"/>
                <a:cs typeface="+mj-cs"/>
              </a:defRPr>
            </a:lvl1pPr>
          </a:lstStyle>
          <a:p>
            <a:r>
              <a:rPr lang="fr-FR" sz="1600" dirty="0">
                <a:solidFill>
                  <a:schemeClr val="bg1"/>
                </a:solidFill>
              </a:rPr>
              <a:t>Le dictionnaire de données regroupe l'ensemble des attributs utilisés dans le système. Il précise le nom de chaque champ, son type, sa description ainsi que son rôle avant la conception de la base de données.</a:t>
            </a:r>
          </a:p>
          <a:p>
            <a:endParaRPr lang="fr-FR" sz="1500" dirty="0">
              <a:solidFill>
                <a:schemeClr val="bg1"/>
              </a:solidFill>
            </a:endParaRPr>
          </a:p>
          <a:p>
            <a:r>
              <a:rPr lang="fr-FR" sz="1500" dirty="0">
                <a:solidFill>
                  <a:schemeClr val="bg1"/>
                </a:solidFill>
              </a:rPr>
              <a:t>Table </a:t>
            </a:r>
            <a:r>
              <a:rPr lang="fr-FR" sz="1600" dirty="0">
                <a:solidFill>
                  <a:schemeClr val="bg1"/>
                </a:solidFill>
                <a:uFill>
                  <a:solidFill>
                    <a:srgbClr val="000000"/>
                  </a:solidFill>
                </a:uFill>
              </a:rPr>
              <a:t>Client</a:t>
            </a:r>
            <a:r>
              <a:rPr lang="fr-FR" sz="1500" dirty="0">
                <a:solidFill>
                  <a:schemeClr val="bg1"/>
                </a:solidFill>
              </a:rPr>
              <a:t> :</a:t>
            </a:r>
          </a:p>
        </p:txBody>
      </p:sp>
      <p:graphicFrame>
        <p:nvGraphicFramePr>
          <p:cNvPr id="20" name="Espace réservé du contenu 3">
            <a:extLst>
              <a:ext uri="{FF2B5EF4-FFF2-40B4-BE49-F238E27FC236}">
                <a16:creationId xmlns:a16="http://schemas.microsoft.com/office/drawing/2014/main" id="{9223C4FA-4B55-CFB0-4657-91B6BC3C6056}"/>
              </a:ext>
            </a:extLst>
          </p:cNvPr>
          <p:cNvGraphicFramePr>
            <a:graphicFrameLocks/>
          </p:cNvGraphicFramePr>
          <p:nvPr>
            <p:extLst>
              <p:ext uri="{D42A27DB-BD31-4B8C-83A1-F6EECF244321}">
                <p14:modId xmlns:p14="http://schemas.microsoft.com/office/powerpoint/2010/main" val="802489277"/>
              </p:ext>
            </p:extLst>
          </p:nvPr>
        </p:nvGraphicFramePr>
        <p:xfrm>
          <a:off x="976392" y="5538877"/>
          <a:ext cx="8400081" cy="702945"/>
        </p:xfrm>
        <a:graphic>
          <a:graphicData uri="http://schemas.openxmlformats.org/drawingml/2006/table">
            <a:tbl>
              <a:tblPr firstRow="1" firstCol="1" bandRow="1">
                <a:tableStyleId>{5C22544A-7EE6-4342-B048-85BDC9FD1C3A}</a:tableStyleId>
              </a:tblPr>
              <a:tblGrid>
                <a:gridCol w="1234048">
                  <a:extLst>
                    <a:ext uri="{9D8B030D-6E8A-4147-A177-3AD203B41FA5}">
                      <a16:colId xmlns:a16="http://schemas.microsoft.com/office/drawing/2014/main" val="842503426"/>
                    </a:ext>
                  </a:extLst>
                </a:gridCol>
                <a:gridCol w="1234048">
                  <a:extLst>
                    <a:ext uri="{9D8B030D-6E8A-4147-A177-3AD203B41FA5}">
                      <a16:colId xmlns:a16="http://schemas.microsoft.com/office/drawing/2014/main" val="4221350816"/>
                    </a:ext>
                  </a:extLst>
                </a:gridCol>
                <a:gridCol w="2001365">
                  <a:extLst>
                    <a:ext uri="{9D8B030D-6E8A-4147-A177-3AD203B41FA5}">
                      <a16:colId xmlns:a16="http://schemas.microsoft.com/office/drawing/2014/main" val="1731659934"/>
                    </a:ext>
                  </a:extLst>
                </a:gridCol>
                <a:gridCol w="1904216">
                  <a:extLst>
                    <a:ext uri="{9D8B030D-6E8A-4147-A177-3AD203B41FA5}">
                      <a16:colId xmlns:a16="http://schemas.microsoft.com/office/drawing/2014/main" val="3830548918"/>
                    </a:ext>
                  </a:extLst>
                </a:gridCol>
                <a:gridCol w="2026404">
                  <a:extLst>
                    <a:ext uri="{9D8B030D-6E8A-4147-A177-3AD203B41FA5}">
                      <a16:colId xmlns:a16="http://schemas.microsoft.com/office/drawing/2014/main" val="2495977261"/>
                    </a:ext>
                  </a:extLst>
                </a:gridCol>
              </a:tblGrid>
              <a:tr h="234315">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Propriété</a:t>
                      </a:r>
                    </a:p>
                  </a:txBody>
                  <a:tcPr marL="32195" marR="32195" marT="0" marB="0"/>
                </a:tc>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Type</a:t>
                      </a:r>
                    </a:p>
                  </a:txBody>
                  <a:tcPr marL="32195" marR="32195" marT="0" marB="0"/>
                </a:tc>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Description</a:t>
                      </a:r>
                    </a:p>
                  </a:txBody>
                  <a:tcPr marL="32195" marR="32195" marT="0" marB="0"/>
                </a:tc>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Entité</a:t>
                      </a:r>
                    </a:p>
                  </a:txBody>
                  <a:tcPr marL="32195" marR="32195" marT="0" marB="0" anchor="ctr"/>
                </a:tc>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Observation</a:t>
                      </a:r>
                    </a:p>
                  </a:txBody>
                  <a:tcPr marL="32195" marR="32195" marT="0" marB="0"/>
                </a:tc>
                <a:extLst>
                  <a:ext uri="{0D108BD9-81ED-4DB2-BD59-A6C34878D82A}">
                    <a16:rowId xmlns:a16="http://schemas.microsoft.com/office/drawing/2014/main" val="2076792558"/>
                  </a:ext>
                </a:extLst>
              </a:tr>
              <a:tr h="234315">
                <a:tc>
                  <a:txBody>
                    <a:bodyPr/>
                    <a:lstStyle/>
                    <a:p>
                      <a:pPr algn="ctr">
                        <a:buNone/>
                      </a:pPr>
                      <a:r>
                        <a:rPr lang="fr-FR" sz="1200" u="none" strike="noStrike" dirty="0" err="1">
                          <a:effectLst/>
                          <a:uFill>
                            <a:solidFill>
                              <a:srgbClr val="000000"/>
                            </a:solidFill>
                          </a:uFill>
                        </a:rPr>
                        <a:t>id_categorie</a:t>
                      </a:r>
                      <a:endPar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u="none" strike="noStrike" dirty="0">
                          <a:effectLst/>
                          <a:uFill>
                            <a:solidFill>
                              <a:srgbClr val="000000"/>
                            </a:solidFill>
                          </a:uFill>
                        </a:rPr>
                        <a:t>INT</a:t>
                      </a:r>
                      <a:endPar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u="none" strike="noStrike" dirty="0">
                          <a:effectLst/>
                          <a:uFill>
                            <a:solidFill>
                              <a:srgbClr val="000000"/>
                            </a:solidFill>
                          </a:uFill>
                        </a:rPr>
                        <a:t>Identifiant de la catégorie</a:t>
                      </a:r>
                      <a:endPar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rowSpan="2">
                  <a:txBody>
                    <a:bodyPr/>
                    <a:lstStyle/>
                    <a:p>
                      <a:pPr algn="ctr">
                        <a:buNone/>
                      </a:pPr>
                      <a:r>
                        <a:rPr lang="fr-FR" sz="1200" u="none" strike="noStrike" dirty="0">
                          <a:effectLst/>
                          <a:uFill>
                            <a:solidFill>
                              <a:srgbClr val="000000"/>
                            </a:solidFill>
                          </a:uFill>
                        </a:rPr>
                        <a:t> </a:t>
                      </a:r>
                      <a:endParaRPr lang="fr-FR" sz="1200" u="sng" dirty="0">
                        <a:effectLst/>
                        <a:uFill>
                          <a:solidFill>
                            <a:srgbClr val="000000"/>
                          </a:solidFill>
                        </a:uFill>
                      </a:endParaRPr>
                    </a:p>
                    <a:p>
                      <a:pPr algn="ctr">
                        <a:buNone/>
                      </a:pPr>
                      <a:r>
                        <a:rPr lang="fr-FR" sz="1200" u="none" strike="noStrike" dirty="0" err="1">
                          <a:effectLst/>
                          <a:uFill>
                            <a:solidFill>
                              <a:srgbClr val="000000"/>
                            </a:solidFill>
                          </a:uFill>
                        </a:rPr>
                        <a:t>Categorie</a:t>
                      </a:r>
                      <a:endPar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u="none" strike="noStrike" dirty="0">
                          <a:effectLst/>
                          <a:uFill>
                            <a:solidFill>
                              <a:srgbClr val="000000"/>
                            </a:solidFill>
                          </a:uFill>
                        </a:rPr>
                        <a:t>Identifiant unique</a:t>
                      </a:r>
                      <a:endPar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1086001364"/>
                  </a:ext>
                </a:extLst>
              </a:tr>
              <a:tr h="234315">
                <a:tc>
                  <a:txBody>
                    <a:bodyPr/>
                    <a:lstStyle/>
                    <a:p>
                      <a:pPr algn="ctr">
                        <a:buNone/>
                      </a:pPr>
                      <a:r>
                        <a:rPr lang="fr-FR" sz="1200" u="none" strike="noStrike">
                          <a:effectLst/>
                          <a:uFill>
                            <a:solidFill>
                              <a:srgbClr val="000000"/>
                            </a:solidFill>
                          </a:uFill>
                        </a:rPr>
                        <a:t>nom_categorie</a:t>
                      </a:r>
                      <a:endParaRPr lang="fr-FR" sz="12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tc>
                <a:tc>
                  <a:txBody>
                    <a:bodyPr/>
                    <a:lstStyle/>
                    <a:p>
                      <a:pPr algn="ctr">
                        <a:buNone/>
                      </a:pPr>
                      <a:r>
                        <a:rPr lang="fr-FR" sz="1200" u="none" strike="noStrike">
                          <a:effectLst/>
                          <a:uFill>
                            <a:solidFill>
                              <a:srgbClr val="000000"/>
                            </a:solidFill>
                          </a:uFill>
                        </a:rPr>
                        <a:t>VARCHAR</a:t>
                      </a:r>
                      <a:endParaRPr lang="fr-FR" sz="12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tc>
                <a:tc>
                  <a:txBody>
                    <a:bodyPr/>
                    <a:lstStyle/>
                    <a:p>
                      <a:pPr algn="ctr">
                        <a:buNone/>
                      </a:pPr>
                      <a:r>
                        <a:rPr lang="fr-FR" sz="1200" u="none" strike="noStrike">
                          <a:effectLst/>
                          <a:uFill>
                            <a:solidFill>
                              <a:srgbClr val="000000"/>
                            </a:solidFill>
                          </a:uFill>
                        </a:rPr>
                        <a:t>Nom de la catégorie</a:t>
                      </a:r>
                      <a:endParaRPr lang="fr-FR" sz="12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vMerge="1">
                  <a:txBody>
                    <a:bodyPr/>
                    <a:lstStyle/>
                    <a:p>
                      <a:endParaRPr lang="fr-FR"/>
                    </a:p>
                  </a:txBody>
                  <a:tcPr/>
                </a:tc>
                <a:tc>
                  <a:txBody>
                    <a:bodyPr/>
                    <a:lstStyle/>
                    <a:p>
                      <a:pPr algn="ctr">
                        <a:buNone/>
                      </a:pPr>
                      <a:r>
                        <a:rPr lang="fr-FR" sz="1200" u="none" strike="noStrike" dirty="0">
                          <a:effectLst/>
                          <a:uFill>
                            <a:solidFill>
                              <a:srgbClr val="000000"/>
                            </a:solidFill>
                          </a:uFill>
                        </a:rPr>
                        <a:t> </a:t>
                      </a:r>
                      <a:endPar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2494216591"/>
                  </a:ext>
                </a:extLst>
              </a:tr>
            </a:tbl>
          </a:graphicData>
        </a:graphic>
      </p:graphicFrame>
      <p:sp>
        <p:nvSpPr>
          <p:cNvPr id="22" name="Titre 1">
            <a:extLst>
              <a:ext uri="{FF2B5EF4-FFF2-40B4-BE49-F238E27FC236}">
                <a16:creationId xmlns:a16="http://schemas.microsoft.com/office/drawing/2014/main" id="{BFB330DC-DF51-F3B4-A38D-CE60294869E3}"/>
              </a:ext>
            </a:extLst>
          </p:cNvPr>
          <p:cNvSpPr txBox="1">
            <a:spLocks/>
          </p:cNvSpPr>
          <p:nvPr/>
        </p:nvSpPr>
        <p:spPr>
          <a:xfrm>
            <a:off x="976392" y="5215833"/>
            <a:ext cx="9784080" cy="323044"/>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4000" kern="1200" cap="all" baseline="0">
                <a:solidFill>
                  <a:schemeClr val="bg2"/>
                </a:solidFill>
                <a:latin typeface="+mj-lt"/>
                <a:ea typeface="+mj-ea"/>
                <a:cs typeface="+mj-cs"/>
              </a:defRPr>
            </a:lvl1pPr>
          </a:lstStyle>
          <a:p>
            <a:r>
              <a:rPr lang="fr-FR" sz="1500" dirty="0">
                <a:solidFill>
                  <a:schemeClr val="tx2">
                    <a:lumMod val="10000"/>
                  </a:schemeClr>
                </a:solidFill>
              </a:rPr>
              <a:t>Table </a:t>
            </a:r>
            <a:r>
              <a:rPr lang="fr-FR" sz="1500" dirty="0" err="1">
                <a:solidFill>
                  <a:schemeClr val="tx2">
                    <a:lumMod val="10000"/>
                  </a:schemeClr>
                </a:solidFill>
              </a:rPr>
              <a:t>categorie</a:t>
            </a:r>
            <a:endParaRPr lang="fr-FR" sz="1500" dirty="0">
              <a:solidFill>
                <a:schemeClr val="tx2">
                  <a:lumMod val="10000"/>
                </a:schemeClr>
              </a:solidFill>
            </a:endParaRPr>
          </a:p>
        </p:txBody>
      </p:sp>
    </p:spTree>
    <p:extLst>
      <p:ext uri="{BB962C8B-B14F-4D97-AF65-F5344CB8AC3E}">
        <p14:creationId xmlns:p14="http://schemas.microsoft.com/office/powerpoint/2010/main" val="23475636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Espace réservé du contenu 3">
            <a:extLst>
              <a:ext uri="{FF2B5EF4-FFF2-40B4-BE49-F238E27FC236}">
                <a16:creationId xmlns:a16="http://schemas.microsoft.com/office/drawing/2014/main" id="{E32B7AE5-1112-3A9C-7EB2-893BB9DAA94C}"/>
              </a:ext>
            </a:extLst>
          </p:cNvPr>
          <p:cNvGraphicFramePr>
            <a:graphicFrameLocks/>
          </p:cNvGraphicFramePr>
          <p:nvPr>
            <p:extLst>
              <p:ext uri="{D42A27DB-BD31-4B8C-83A1-F6EECF244321}">
                <p14:modId xmlns:p14="http://schemas.microsoft.com/office/powerpoint/2010/main" val="4094676015"/>
              </p:ext>
            </p:extLst>
          </p:nvPr>
        </p:nvGraphicFramePr>
        <p:xfrm>
          <a:off x="1312447" y="715871"/>
          <a:ext cx="8400081" cy="1556154"/>
        </p:xfrm>
        <a:graphic>
          <a:graphicData uri="http://schemas.openxmlformats.org/drawingml/2006/table">
            <a:tbl>
              <a:tblPr firstRow="1" firstCol="1" bandRow="1">
                <a:tableStyleId>{5C22544A-7EE6-4342-B048-85BDC9FD1C3A}</a:tableStyleId>
              </a:tblPr>
              <a:tblGrid>
                <a:gridCol w="1234048">
                  <a:extLst>
                    <a:ext uri="{9D8B030D-6E8A-4147-A177-3AD203B41FA5}">
                      <a16:colId xmlns:a16="http://schemas.microsoft.com/office/drawing/2014/main" val="842503426"/>
                    </a:ext>
                  </a:extLst>
                </a:gridCol>
                <a:gridCol w="1234048">
                  <a:extLst>
                    <a:ext uri="{9D8B030D-6E8A-4147-A177-3AD203B41FA5}">
                      <a16:colId xmlns:a16="http://schemas.microsoft.com/office/drawing/2014/main" val="4221350816"/>
                    </a:ext>
                  </a:extLst>
                </a:gridCol>
                <a:gridCol w="2001365">
                  <a:extLst>
                    <a:ext uri="{9D8B030D-6E8A-4147-A177-3AD203B41FA5}">
                      <a16:colId xmlns:a16="http://schemas.microsoft.com/office/drawing/2014/main" val="1731659934"/>
                    </a:ext>
                  </a:extLst>
                </a:gridCol>
                <a:gridCol w="1904216">
                  <a:extLst>
                    <a:ext uri="{9D8B030D-6E8A-4147-A177-3AD203B41FA5}">
                      <a16:colId xmlns:a16="http://schemas.microsoft.com/office/drawing/2014/main" val="3830548918"/>
                    </a:ext>
                  </a:extLst>
                </a:gridCol>
                <a:gridCol w="2026404">
                  <a:extLst>
                    <a:ext uri="{9D8B030D-6E8A-4147-A177-3AD203B41FA5}">
                      <a16:colId xmlns:a16="http://schemas.microsoft.com/office/drawing/2014/main" val="2495977261"/>
                    </a:ext>
                  </a:extLst>
                </a:gridCol>
              </a:tblGrid>
              <a:tr h="303820">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Propriété</a:t>
                      </a:r>
                    </a:p>
                  </a:txBody>
                  <a:tcPr marL="32195" marR="32195" marT="0" marB="0"/>
                </a:tc>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Type</a:t>
                      </a:r>
                    </a:p>
                  </a:txBody>
                  <a:tcPr marL="32195" marR="32195" marT="0" marB="0"/>
                </a:tc>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Description</a:t>
                      </a:r>
                    </a:p>
                  </a:txBody>
                  <a:tcPr marL="32195" marR="32195" marT="0" marB="0"/>
                </a:tc>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Entité</a:t>
                      </a:r>
                    </a:p>
                  </a:txBody>
                  <a:tcPr marL="32195" marR="32195" marT="0" marB="0" anchor="ctr"/>
                </a:tc>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Observation</a:t>
                      </a:r>
                    </a:p>
                  </a:txBody>
                  <a:tcPr marL="32195" marR="32195" marT="0" marB="0"/>
                </a:tc>
                <a:extLst>
                  <a:ext uri="{0D108BD9-81ED-4DB2-BD59-A6C34878D82A}">
                    <a16:rowId xmlns:a16="http://schemas.microsoft.com/office/drawing/2014/main" val="2076792558"/>
                  </a:ext>
                </a:extLst>
              </a:tr>
              <a:tr h="303820">
                <a:tc>
                  <a:txBody>
                    <a:bodyPr/>
                    <a:lstStyle/>
                    <a:p>
                      <a:pPr algn="ctr">
                        <a:buNone/>
                      </a:pPr>
                      <a:r>
                        <a:rPr lang="fr-FR" sz="1200" b="0" u="none" strike="noStrike" dirty="0" err="1">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id_entrepot</a:t>
                      </a:r>
                      <a:endParaRPr lang="fr-FR" sz="1200" b="0"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NUMÉRIQUE</a:t>
                      </a:r>
                      <a:endParaRPr lang="fr-FR" sz="12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Identifiant de l'entrepôt</a:t>
                      </a:r>
                      <a:endParaRPr lang="fr-FR" sz="12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rowSpan="3">
                  <a:txBody>
                    <a:bodyPr/>
                    <a:lstStyle/>
                    <a:p>
                      <a:pPr algn="ctr">
                        <a:buNone/>
                      </a:pPr>
                      <a:r>
                        <a:rPr lang="fr-FR" sz="1200" b="0" u="none" strike="noStrike"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endParaRPr lang="fr-FR" sz="1200" b="0"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p>
                      <a:pPr algn="ctr">
                        <a:buNone/>
                      </a:pPr>
                      <a:r>
                        <a:rPr lang="fr-FR" sz="1200" b="0" u="none" strike="noStrike"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endParaRPr lang="fr-FR" sz="1200" b="0"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p>
                      <a:pPr algn="ctr">
                        <a:buNone/>
                      </a:pPr>
                      <a:r>
                        <a:rPr lang="fr-FR" sz="1200" b="0" u="none" strike="noStrike" dirty="0" err="1">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Entropot</a:t>
                      </a:r>
                      <a:endParaRPr lang="fr-FR" sz="1200" b="0"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Identifiant unique</a:t>
                      </a:r>
                      <a:endParaRPr lang="fr-FR" sz="1200" b="0"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1086001364"/>
                  </a:ext>
                </a:extLst>
              </a:tr>
              <a:tr h="474257">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nom_magasin</a:t>
                      </a:r>
                      <a:endParaRPr lang="fr-FR" sz="12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TEXTE</a:t>
                      </a:r>
                      <a:endParaRPr lang="fr-FR" sz="1200" b="0"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Nom du site (ex: Dépôt Rabat)</a:t>
                      </a:r>
                      <a:endParaRPr lang="fr-FR" sz="1200" b="0"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vMerge="1">
                  <a:txBody>
                    <a:bodyPr/>
                    <a:lstStyle/>
                    <a:p>
                      <a:endParaRPr lang="fr-FR"/>
                    </a:p>
                  </a:txBody>
                  <a:tcPr/>
                </a:tc>
                <a:tc>
                  <a:txBody>
                    <a:bodyPr/>
                    <a:lstStyle/>
                    <a:p>
                      <a:pPr algn="ctr">
                        <a:buNone/>
                      </a:pPr>
                      <a:r>
                        <a:rPr lang="fr-FR" sz="1200" b="0" u="none" strike="noStrike"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endParaRPr lang="fr-FR" sz="1200" b="0"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2494216591"/>
                  </a:ext>
                </a:extLst>
              </a:tr>
              <a:tr h="474257">
                <a:tc>
                  <a:txBody>
                    <a:bodyPr/>
                    <a:lstStyle/>
                    <a:p>
                      <a:pPr algn="ctr">
                        <a:buNone/>
                      </a:pPr>
                      <a:r>
                        <a:rPr lang="fr-FR" sz="1200" b="0"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adresse</a:t>
                      </a:r>
                    </a:p>
                  </a:txBody>
                  <a:tcPr marL="68580" marR="68580" marT="0" marB="0"/>
                </a:tc>
                <a:tc>
                  <a:txBody>
                    <a:bodyPr/>
                    <a:lstStyle/>
                    <a:p>
                      <a:pPr algn="ctr">
                        <a:buNone/>
                      </a:pPr>
                      <a:r>
                        <a:rPr lang="fr-FR" sz="1200" b="0" u="none" strike="noStrike"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TEXTE</a:t>
                      </a:r>
                      <a:endParaRPr lang="fr-FR" sz="1200" b="0"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Adresse de L’</a:t>
                      </a:r>
                      <a:r>
                        <a:rPr lang="fr-FR" sz="1200" b="0" u="sng" dirty="0" err="1">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entopot</a:t>
                      </a:r>
                      <a:endParaRPr lang="fr-FR" sz="1200" b="0"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vMerge="1">
                  <a:txBody>
                    <a:bodyPr/>
                    <a:lstStyle/>
                    <a:p>
                      <a:pPr algn="ctr">
                        <a:buNone/>
                      </a:pPr>
                      <a:endParaRPr lang="fr-FR" sz="18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endParaRPr lang="fr-FR" sz="1200" b="0"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353051212"/>
                  </a:ext>
                </a:extLst>
              </a:tr>
            </a:tbl>
          </a:graphicData>
        </a:graphic>
      </p:graphicFrame>
      <p:sp>
        <p:nvSpPr>
          <p:cNvPr id="17" name="Titre 1">
            <a:extLst>
              <a:ext uri="{FF2B5EF4-FFF2-40B4-BE49-F238E27FC236}">
                <a16:creationId xmlns:a16="http://schemas.microsoft.com/office/drawing/2014/main" id="{A120FD58-8C50-F48C-BF2F-B2C13D8B55E9}"/>
              </a:ext>
            </a:extLst>
          </p:cNvPr>
          <p:cNvSpPr txBox="1">
            <a:spLocks/>
          </p:cNvSpPr>
          <p:nvPr/>
        </p:nvSpPr>
        <p:spPr>
          <a:xfrm>
            <a:off x="1203959" y="386186"/>
            <a:ext cx="11887585" cy="222278"/>
          </a:xfrm>
          <a:prstGeom prst="rect">
            <a:avLst/>
          </a:prstGeom>
        </p:spPr>
        <p:txBody>
          <a:bodyPr vert="horz" lIns="91440" tIns="45720" rIns="91440" bIns="45720" rtlCol="0" anchor="ctr">
            <a:normAutofit fontScale="77500" lnSpcReduction="20000"/>
          </a:bodyPr>
          <a:lstStyle>
            <a:lvl1pPr algn="l" defTabSz="914400" rtl="0" eaLnBrk="1" latinLnBrk="0" hangingPunct="1">
              <a:lnSpc>
                <a:spcPct val="85000"/>
              </a:lnSpc>
              <a:spcBef>
                <a:spcPct val="0"/>
              </a:spcBef>
              <a:buNone/>
              <a:defRPr sz="4000" kern="1200" cap="all" baseline="0">
                <a:solidFill>
                  <a:schemeClr val="bg2"/>
                </a:solidFill>
                <a:latin typeface="+mj-lt"/>
                <a:ea typeface="+mj-ea"/>
                <a:cs typeface="+mj-cs"/>
              </a:defRPr>
            </a:lvl1pPr>
          </a:lstStyle>
          <a:p>
            <a:r>
              <a:rPr lang="fr-FR" sz="1500" dirty="0">
                <a:solidFill>
                  <a:schemeClr val="tx2">
                    <a:lumMod val="10000"/>
                  </a:schemeClr>
                </a:solidFill>
              </a:rPr>
              <a:t>Table </a:t>
            </a:r>
            <a:r>
              <a:rPr lang="fr-FR" sz="1500" dirty="0" err="1">
                <a:solidFill>
                  <a:schemeClr val="tx2">
                    <a:lumMod val="10000"/>
                  </a:schemeClr>
                </a:solidFill>
              </a:rPr>
              <a:t>Entropot</a:t>
            </a:r>
            <a:endParaRPr lang="fr-FR" sz="1500" dirty="0">
              <a:solidFill>
                <a:schemeClr val="tx2">
                  <a:lumMod val="10000"/>
                </a:schemeClr>
              </a:solidFill>
            </a:endParaRPr>
          </a:p>
        </p:txBody>
      </p:sp>
      <p:graphicFrame>
        <p:nvGraphicFramePr>
          <p:cNvPr id="19" name="Espace réservé du contenu 3">
            <a:extLst>
              <a:ext uri="{FF2B5EF4-FFF2-40B4-BE49-F238E27FC236}">
                <a16:creationId xmlns:a16="http://schemas.microsoft.com/office/drawing/2014/main" id="{CCE8805E-17AB-A7FF-C0DB-69D38CD3177F}"/>
              </a:ext>
            </a:extLst>
          </p:cNvPr>
          <p:cNvGraphicFramePr>
            <a:graphicFrameLocks/>
          </p:cNvGraphicFramePr>
          <p:nvPr>
            <p:extLst>
              <p:ext uri="{D42A27DB-BD31-4B8C-83A1-F6EECF244321}">
                <p14:modId xmlns:p14="http://schemas.microsoft.com/office/powerpoint/2010/main" val="4153763856"/>
              </p:ext>
            </p:extLst>
          </p:nvPr>
        </p:nvGraphicFramePr>
        <p:xfrm>
          <a:off x="1312446" y="2641230"/>
          <a:ext cx="8400081" cy="1814180"/>
        </p:xfrm>
        <a:graphic>
          <a:graphicData uri="http://schemas.openxmlformats.org/drawingml/2006/table">
            <a:tbl>
              <a:tblPr firstRow="1" firstCol="1" bandRow="1">
                <a:tableStyleId>{5C22544A-7EE6-4342-B048-85BDC9FD1C3A}</a:tableStyleId>
              </a:tblPr>
              <a:tblGrid>
                <a:gridCol w="1234048">
                  <a:extLst>
                    <a:ext uri="{9D8B030D-6E8A-4147-A177-3AD203B41FA5}">
                      <a16:colId xmlns:a16="http://schemas.microsoft.com/office/drawing/2014/main" val="842503426"/>
                    </a:ext>
                  </a:extLst>
                </a:gridCol>
                <a:gridCol w="1234048">
                  <a:extLst>
                    <a:ext uri="{9D8B030D-6E8A-4147-A177-3AD203B41FA5}">
                      <a16:colId xmlns:a16="http://schemas.microsoft.com/office/drawing/2014/main" val="4221350816"/>
                    </a:ext>
                  </a:extLst>
                </a:gridCol>
                <a:gridCol w="2001365">
                  <a:extLst>
                    <a:ext uri="{9D8B030D-6E8A-4147-A177-3AD203B41FA5}">
                      <a16:colId xmlns:a16="http://schemas.microsoft.com/office/drawing/2014/main" val="1731659934"/>
                    </a:ext>
                  </a:extLst>
                </a:gridCol>
                <a:gridCol w="1904216">
                  <a:extLst>
                    <a:ext uri="{9D8B030D-6E8A-4147-A177-3AD203B41FA5}">
                      <a16:colId xmlns:a16="http://schemas.microsoft.com/office/drawing/2014/main" val="3830548918"/>
                    </a:ext>
                  </a:extLst>
                </a:gridCol>
                <a:gridCol w="2026404">
                  <a:extLst>
                    <a:ext uri="{9D8B030D-6E8A-4147-A177-3AD203B41FA5}">
                      <a16:colId xmlns:a16="http://schemas.microsoft.com/office/drawing/2014/main" val="2495977261"/>
                    </a:ext>
                  </a:extLst>
                </a:gridCol>
              </a:tblGrid>
              <a:tr h="160074">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Propriété</a:t>
                      </a:r>
                    </a:p>
                  </a:txBody>
                  <a:tcPr marL="32195" marR="32195" marT="0" marB="0"/>
                </a:tc>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Type</a:t>
                      </a:r>
                    </a:p>
                  </a:txBody>
                  <a:tcPr marL="32195" marR="32195" marT="0" marB="0"/>
                </a:tc>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Description</a:t>
                      </a:r>
                    </a:p>
                  </a:txBody>
                  <a:tcPr marL="32195" marR="32195" marT="0" marB="0"/>
                </a:tc>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Entité</a:t>
                      </a:r>
                    </a:p>
                  </a:txBody>
                  <a:tcPr marL="32195" marR="32195" marT="0" marB="0" anchor="ctr"/>
                </a:tc>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Observation</a:t>
                      </a:r>
                    </a:p>
                  </a:txBody>
                  <a:tcPr marL="32195" marR="32195" marT="0" marB="0"/>
                </a:tc>
                <a:extLst>
                  <a:ext uri="{0D108BD9-81ED-4DB2-BD59-A6C34878D82A}">
                    <a16:rowId xmlns:a16="http://schemas.microsoft.com/office/drawing/2014/main" val="2076792558"/>
                  </a:ext>
                </a:extLst>
              </a:tr>
              <a:tr h="320147">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id_commande</a:t>
                      </a:r>
                      <a:endParaRPr lang="fr-FR" sz="12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NUMÉRIQUE</a:t>
                      </a:r>
                      <a:endParaRPr lang="fr-FR" sz="12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Identifiant du  ligne de commande</a:t>
                      </a:r>
                      <a:endParaRPr lang="fr-FR" sz="12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rowSpan="5">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endParaRPr lang="fr-FR" sz="12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endParaRPr lang="fr-FR" sz="12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endParaRPr lang="fr-FR" sz="12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Ligne_Achat</a:t>
                      </a:r>
                      <a:endParaRPr lang="fr-FR" sz="12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Identifiant unique</a:t>
                      </a:r>
                      <a:endParaRPr lang="fr-FR" sz="12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1086001364"/>
                  </a:ext>
                </a:extLst>
              </a:tr>
              <a:tr h="316385">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id_lot</a:t>
                      </a:r>
                      <a:endParaRPr lang="fr-FR" sz="12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NUMÉRIQUE</a:t>
                      </a:r>
                      <a:endParaRPr lang="fr-FR" sz="12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Identifiant de lot</a:t>
                      </a:r>
                      <a:endParaRPr lang="fr-FR" sz="12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vMerge="1">
                  <a:txBody>
                    <a:bodyPr/>
                    <a:lstStyle/>
                    <a:p>
                      <a:endParaRPr lang="fr-FR"/>
                    </a:p>
                  </a:txBody>
                  <a:tcPr/>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Identifiant unique</a:t>
                      </a:r>
                      <a:endParaRPr lang="fr-FR" sz="12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2494216591"/>
                  </a:ext>
                </a:extLst>
              </a:tr>
              <a:tr h="316385">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id_produit</a:t>
                      </a:r>
                      <a:endParaRPr lang="fr-FR" sz="12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NUMÉRIQUE</a:t>
                      </a:r>
                      <a:endParaRPr lang="fr-FR" sz="12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identifiant de Produits</a:t>
                      </a:r>
                      <a:endParaRPr lang="fr-FR" sz="12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vMerge="1">
                  <a:txBody>
                    <a:bodyPr/>
                    <a:lstStyle/>
                    <a:p>
                      <a:endParaRPr lang="fr-FR"/>
                    </a:p>
                  </a:txBody>
                  <a:tcPr/>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Identifiant unique</a:t>
                      </a:r>
                      <a:endParaRPr lang="fr-FR" sz="12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3207997279"/>
                  </a:ext>
                </a:extLst>
              </a:tr>
              <a:tr h="316385">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quantite</a:t>
                      </a:r>
                      <a:endParaRPr lang="fr-FR" sz="12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NUMÉRIQUE</a:t>
                      </a:r>
                      <a:endParaRPr lang="fr-FR" sz="12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quantité commandée</a:t>
                      </a:r>
                      <a:endParaRPr lang="fr-FR" sz="12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vMerge="1">
                  <a:txBody>
                    <a:bodyPr/>
                    <a:lstStyle/>
                    <a:p>
                      <a:endParaRPr lang="fr-FR"/>
                    </a:p>
                  </a:txBody>
                  <a:tcPr/>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endParaRPr lang="fr-FR" sz="12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1335902296"/>
                  </a:ext>
                </a:extLst>
              </a:tr>
              <a:tr h="316385">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Prix_achat</a:t>
                      </a:r>
                      <a:endParaRPr lang="fr-FR" sz="12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NUMÉRIQUE</a:t>
                      </a:r>
                      <a:endParaRPr lang="fr-FR" sz="12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Prix d’achat</a:t>
                      </a:r>
                      <a:endParaRPr lang="fr-FR" sz="1200" b="0"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vMerge="1">
                  <a:txBody>
                    <a:bodyPr/>
                    <a:lstStyle/>
                    <a:p>
                      <a:endParaRPr lang="fr-FR"/>
                    </a:p>
                  </a:txBody>
                  <a:tcPr/>
                </a:tc>
                <a:tc>
                  <a:txBody>
                    <a:bodyPr/>
                    <a:lstStyle/>
                    <a:p>
                      <a:pPr algn="ctr">
                        <a:buNone/>
                      </a:pPr>
                      <a:r>
                        <a:rPr lang="fr-FR" sz="1200" b="0" u="none" strike="noStrike"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endParaRPr lang="fr-FR" sz="1200" b="0"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3676760501"/>
                  </a:ext>
                </a:extLst>
              </a:tr>
            </a:tbl>
          </a:graphicData>
        </a:graphic>
      </p:graphicFrame>
      <p:sp>
        <p:nvSpPr>
          <p:cNvPr id="21" name="Titre 1">
            <a:extLst>
              <a:ext uri="{FF2B5EF4-FFF2-40B4-BE49-F238E27FC236}">
                <a16:creationId xmlns:a16="http://schemas.microsoft.com/office/drawing/2014/main" id="{DF685B4F-1AFD-2B09-13A6-8ADA99191A98}"/>
              </a:ext>
            </a:extLst>
          </p:cNvPr>
          <p:cNvSpPr txBox="1">
            <a:spLocks/>
          </p:cNvSpPr>
          <p:nvPr/>
        </p:nvSpPr>
        <p:spPr>
          <a:xfrm>
            <a:off x="1312446" y="2318186"/>
            <a:ext cx="9784080" cy="323044"/>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4000" kern="1200" cap="all" baseline="0">
                <a:solidFill>
                  <a:schemeClr val="bg2"/>
                </a:solidFill>
                <a:latin typeface="+mj-lt"/>
                <a:ea typeface="+mj-ea"/>
                <a:cs typeface="+mj-cs"/>
              </a:defRPr>
            </a:lvl1pPr>
          </a:lstStyle>
          <a:p>
            <a:r>
              <a:rPr lang="fr-FR" sz="1200" dirty="0">
                <a:solidFill>
                  <a:schemeClr val="tx2">
                    <a:lumMod val="10000"/>
                  </a:schemeClr>
                </a:solidFill>
              </a:rPr>
              <a:t>Table </a:t>
            </a:r>
            <a:r>
              <a:rPr lang="fr-FR" sz="1200" dirty="0" err="1">
                <a:solidFill>
                  <a:schemeClr val="tx2">
                    <a:lumMod val="10000"/>
                  </a:schemeClr>
                </a:solidFill>
              </a:rPr>
              <a:t>categorie</a:t>
            </a:r>
            <a:endParaRPr lang="fr-FR" sz="1200" dirty="0">
              <a:solidFill>
                <a:schemeClr val="tx2">
                  <a:lumMod val="10000"/>
                </a:schemeClr>
              </a:solidFill>
            </a:endParaRPr>
          </a:p>
        </p:txBody>
      </p:sp>
      <p:graphicFrame>
        <p:nvGraphicFramePr>
          <p:cNvPr id="23" name="Espace réservé du contenu 3">
            <a:extLst>
              <a:ext uri="{FF2B5EF4-FFF2-40B4-BE49-F238E27FC236}">
                <a16:creationId xmlns:a16="http://schemas.microsoft.com/office/drawing/2014/main" id="{6491086D-5F46-3368-9E46-277E3275E068}"/>
              </a:ext>
            </a:extLst>
          </p:cNvPr>
          <p:cNvGraphicFramePr>
            <a:graphicFrameLocks/>
          </p:cNvGraphicFramePr>
          <p:nvPr>
            <p:extLst>
              <p:ext uri="{D42A27DB-BD31-4B8C-83A1-F6EECF244321}">
                <p14:modId xmlns:p14="http://schemas.microsoft.com/office/powerpoint/2010/main" val="3105096221"/>
              </p:ext>
            </p:extLst>
          </p:nvPr>
        </p:nvGraphicFramePr>
        <p:xfrm>
          <a:off x="1312449" y="4819594"/>
          <a:ext cx="8400081" cy="1741690"/>
        </p:xfrm>
        <a:graphic>
          <a:graphicData uri="http://schemas.openxmlformats.org/drawingml/2006/table">
            <a:tbl>
              <a:tblPr firstRow="1" firstCol="1" bandRow="1">
                <a:tableStyleId>{5C22544A-7EE6-4342-B048-85BDC9FD1C3A}</a:tableStyleId>
              </a:tblPr>
              <a:tblGrid>
                <a:gridCol w="1234048">
                  <a:extLst>
                    <a:ext uri="{9D8B030D-6E8A-4147-A177-3AD203B41FA5}">
                      <a16:colId xmlns:a16="http://schemas.microsoft.com/office/drawing/2014/main" val="842503426"/>
                    </a:ext>
                  </a:extLst>
                </a:gridCol>
                <a:gridCol w="1234048">
                  <a:extLst>
                    <a:ext uri="{9D8B030D-6E8A-4147-A177-3AD203B41FA5}">
                      <a16:colId xmlns:a16="http://schemas.microsoft.com/office/drawing/2014/main" val="4221350816"/>
                    </a:ext>
                  </a:extLst>
                </a:gridCol>
                <a:gridCol w="3054208">
                  <a:extLst>
                    <a:ext uri="{9D8B030D-6E8A-4147-A177-3AD203B41FA5}">
                      <a16:colId xmlns:a16="http://schemas.microsoft.com/office/drawing/2014/main" val="1731659934"/>
                    </a:ext>
                  </a:extLst>
                </a:gridCol>
                <a:gridCol w="1348352">
                  <a:extLst>
                    <a:ext uri="{9D8B030D-6E8A-4147-A177-3AD203B41FA5}">
                      <a16:colId xmlns:a16="http://schemas.microsoft.com/office/drawing/2014/main" val="3830548918"/>
                    </a:ext>
                  </a:extLst>
                </a:gridCol>
                <a:gridCol w="1529425">
                  <a:extLst>
                    <a:ext uri="{9D8B030D-6E8A-4147-A177-3AD203B41FA5}">
                      <a16:colId xmlns:a16="http://schemas.microsoft.com/office/drawing/2014/main" val="2495977261"/>
                    </a:ext>
                  </a:extLst>
                </a:gridCol>
              </a:tblGrid>
              <a:tr h="163492">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Propriété</a:t>
                      </a:r>
                    </a:p>
                  </a:txBody>
                  <a:tcPr marL="32195" marR="32195" marT="0" marB="0"/>
                </a:tc>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Type</a:t>
                      </a:r>
                    </a:p>
                  </a:txBody>
                  <a:tcPr marL="32195" marR="32195" marT="0" marB="0"/>
                </a:tc>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Description</a:t>
                      </a:r>
                    </a:p>
                  </a:txBody>
                  <a:tcPr marL="32195" marR="32195" marT="0" marB="0"/>
                </a:tc>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Entité</a:t>
                      </a:r>
                    </a:p>
                  </a:txBody>
                  <a:tcPr marL="32195" marR="32195" marT="0" marB="0" anchor="ctr"/>
                </a:tc>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Observation</a:t>
                      </a:r>
                    </a:p>
                  </a:txBody>
                  <a:tcPr marL="32195" marR="32195" marT="0" marB="0"/>
                </a:tc>
                <a:extLst>
                  <a:ext uri="{0D108BD9-81ED-4DB2-BD59-A6C34878D82A}">
                    <a16:rowId xmlns:a16="http://schemas.microsoft.com/office/drawing/2014/main" val="2076792558"/>
                  </a:ext>
                </a:extLst>
              </a:tr>
              <a:tr h="163492">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id_commande</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NUMÉRIQUE</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Numéro de commande</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rowSpan="5">
                  <a:txBody>
                    <a:bodyPr/>
                    <a:lstStyle/>
                    <a:p>
                      <a:pPr algn="ctr">
                        <a:buNone/>
                      </a:pPr>
                      <a:r>
                        <a:rPr lang="fr-FR" sz="1200" b="0" u="none" strike="noStrike"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endParaRPr lang="fr-FR" sz="1800" b="0"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p>
                      <a:pPr algn="ctr">
                        <a:buNone/>
                      </a:pPr>
                      <a:r>
                        <a:rPr lang="fr-FR" sz="1200" b="0" u="none" strike="noStrike"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endParaRPr lang="fr-FR" sz="1800" b="0"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p>
                      <a:pPr algn="ctr">
                        <a:buNone/>
                      </a:pPr>
                      <a:r>
                        <a:rPr lang="fr-FR" sz="1200" b="0" u="none" strike="noStrike"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endParaRPr lang="fr-FR" sz="1800" b="0"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p>
                      <a:pPr algn="ctr">
                        <a:buNone/>
                      </a:pPr>
                      <a:r>
                        <a:rPr lang="fr-FR" sz="1200" b="0" u="none" strike="noStrike" dirty="0" err="1">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Commande_achat</a:t>
                      </a:r>
                      <a:endParaRPr lang="fr-FR" sz="1800" b="0"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Identifiant unique</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1086001364"/>
                  </a:ext>
                </a:extLst>
              </a:tr>
              <a:tr h="429062">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id_utilisater</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endParaRPr lang="fr-FR" sz="1800" b="0"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p>
                      <a:pPr algn="ctr">
                        <a:buNone/>
                      </a:pPr>
                      <a:r>
                        <a:rPr lang="fr-FR" sz="1200" b="0" u="none" strike="noStrike"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NUMÉRIQUE</a:t>
                      </a:r>
                      <a:endParaRPr lang="fr-FR" sz="1800" b="0"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p>
                      <a:pPr algn="ctr">
                        <a:buNone/>
                      </a:pPr>
                      <a:r>
                        <a:rPr lang="fr-FR" sz="1200" b="0" u="none" strike="noStrike"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endParaRPr lang="fr-FR" sz="1800" b="0"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vMerge="1">
                  <a:txBody>
                    <a:bodyPr/>
                    <a:lstStyle/>
                    <a:p>
                      <a:endParaRPr lang="fr-FR"/>
                    </a:p>
                  </a:txBody>
                  <a:tcPr/>
                </a:tc>
                <a:tc>
                  <a:txBody>
                    <a:bodyPr/>
                    <a:lstStyle/>
                    <a:p>
                      <a:pPr algn="ctr">
                        <a:buNone/>
                      </a:pPr>
                      <a:r>
                        <a:rPr lang="fr-FR" sz="1200" b="0" u="none" strike="noStrike"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Identifiant unique</a:t>
                      </a:r>
                      <a:endParaRPr lang="fr-FR" sz="1800" b="0"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2494216591"/>
                  </a:ext>
                </a:extLst>
              </a:tr>
              <a:tr h="286041">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date_commande</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DATE</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Date de création de commande</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vMerge="1">
                  <a:txBody>
                    <a:bodyPr/>
                    <a:lstStyle/>
                    <a:p>
                      <a:endParaRPr lang="fr-FR"/>
                    </a:p>
                  </a:txBody>
                  <a:tcPr/>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353051212"/>
                  </a:ext>
                </a:extLst>
              </a:tr>
              <a:tr h="286041">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statut</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TEXTE</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Statut de commande En attente, </a:t>
                      </a:r>
                      <a:r>
                        <a:rPr lang="fr-FR" sz="1200" b="0" u="none" strike="noStrike" dirty="0" err="1">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Reçue,Partielle</a:t>
                      </a:r>
                      <a:endParaRPr lang="fr-FR" sz="1800" b="0"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vMerge="1">
                  <a:txBody>
                    <a:bodyPr/>
                    <a:lstStyle/>
                    <a:p>
                      <a:endParaRPr lang="fr-FR"/>
                    </a:p>
                  </a:txBody>
                  <a:tcPr/>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3365250263"/>
                  </a:ext>
                </a:extLst>
              </a:tr>
              <a:tr h="255208">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id_fournisseur</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NUMÉRIQUE</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Idenifiant de  Fournisseurs</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vMerge="1">
                  <a:txBody>
                    <a:bodyPr/>
                    <a:lstStyle/>
                    <a:p>
                      <a:endParaRPr lang="fr-FR"/>
                    </a:p>
                  </a:txBody>
                  <a:tcPr/>
                </a:tc>
                <a:tc>
                  <a:txBody>
                    <a:bodyPr/>
                    <a:lstStyle/>
                    <a:p>
                      <a:pPr algn="ctr">
                        <a:buNone/>
                      </a:pPr>
                      <a:r>
                        <a:rPr lang="fr-FR" sz="1200" b="0" u="none" strike="noStrike"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Identifiant unique</a:t>
                      </a:r>
                      <a:endParaRPr lang="fr-FR" sz="1800" b="0"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4123952194"/>
                  </a:ext>
                </a:extLst>
              </a:tr>
            </a:tbl>
          </a:graphicData>
        </a:graphic>
      </p:graphicFrame>
      <p:sp>
        <p:nvSpPr>
          <p:cNvPr id="25" name="Titre 1">
            <a:extLst>
              <a:ext uri="{FF2B5EF4-FFF2-40B4-BE49-F238E27FC236}">
                <a16:creationId xmlns:a16="http://schemas.microsoft.com/office/drawing/2014/main" id="{F23E6470-815C-0E1D-7D91-F6A1765A3A85}"/>
              </a:ext>
            </a:extLst>
          </p:cNvPr>
          <p:cNvSpPr txBox="1">
            <a:spLocks/>
          </p:cNvSpPr>
          <p:nvPr/>
        </p:nvSpPr>
        <p:spPr>
          <a:xfrm>
            <a:off x="1203960" y="4541861"/>
            <a:ext cx="9784080" cy="222278"/>
          </a:xfrm>
          <a:prstGeom prst="rect">
            <a:avLst/>
          </a:prstGeom>
        </p:spPr>
        <p:txBody>
          <a:bodyPr vert="horz" lIns="91440" tIns="45720" rIns="91440" bIns="45720" rtlCol="0" anchor="ctr">
            <a:normAutofit fontScale="77500" lnSpcReduction="20000"/>
          </a:bodyPr>
          <a:lstStyle>
            <a:lvl1pPr algn="l" defTabSz="914400" rtl="0" eaLnBrk="1" latinLnBrk="0" hangingPunct="1">
              <a:lnSpc>
                <a:spcPct val="85000"/>
              </a:lnSpc>
              <a:spcBef>
                <a:spcPct val="0"/>
              </a:spcBef>
              <a:buNone/>
              <a:defRPr sz="4000" kern="1200" cap="all" baseline="0">
                <a:solidFill>
                  <a:schemeClr val="bg2"/>
                </a:solidFill>
                <a:latin typeface="+mj-lt"/>
                <a:ea typeface="+mj-ea"/>
                <a:cs typeface="+mj-cs"/>
              </a:defRPr>
            </a:lvl1pPr>
          </a:lstStyle>
          <a:p>
            <a:r>
              <a:rPr lang="fr-FR" sz="1500" dirty="0">
                <a:solidFill>
                  <a:schemeClr val="tx2">
                    <a:lumMod val="10000"/>
                  </a:schemeClr>
                </a:solidFill>
              </a:rPr>
              <a:t>Table </a:t>
            </a:r>
            <a:r>
              <a:rPr lang="fr-FR" sz="1500" dirty="0" err="1">
                <a:solidFill>
                  <a:schemeClr val="tx2">
                    <a:lumMod val="10000"/>
                  </a:schemeClr>
                </a:solidFill>
              </a:rPr>
              <a:t>commande_Achat</a:t>
            </a:r>
            <a:endParaRPr lang="fr-FR" sz="1500" dirty="0">
              <a:solidFill>
                <a:schemeClr val="tx2">
                  <a:lumMod val="10000"/>
                </a:schemeClr>
              </a:solidFill>
            </a:endParaRPr>
          </a:p>
        </p:txBody>
      </p:sp>
    </p:spTree>
    <p:extLst>
      <p:ext uri="{BB962C8B-B14F-4D97-AF65-F5344CB8AC3E}">
        <p14:creationId xmlns:p14="http://schemas.microsoft.com/office/powerpoint/2010/main" val="39325917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Espace réservé du contenu 3">
            <a:extLst>
              <a:ext uri="{FF2B5EF4-FFF2-40B4-BE49-F238E27FC236}">
                <a16:creationId xmlns:a16="http://schemas.microsoft.com/office/drawing/2014/main" id="{763B7C99-1A70-CCC8-CCD3-D89C846AF7BB}"/>
              </a:ext>
            </a:extLst>
          </p:cNvPr>
          <p:cNvGraphicFramePr>
            <a:graphicFrameLocks/>
          </p:cNvGraphicFramePr>
          <p:nvPr>
            <p:extLst>
              <p:ext uri="{D42A27DB-BD31-4B8C-83A1-F6EECF244321}">
                <p14:modId xmlns:p14="http://schemas.microsoft.com/office/powerpoint/2010/main" val="1089239453"/>
              </p:ext>
            </p:extLst>
          </p:nvPr>
        </p:nvGraphicFramePr>
        <p:xfrm>
          <a:off x="1383682" y="607207"/>
          <a:ext cx="8400081" cy="1564843"/>
        </p:xfrm>
        <a:graphic>
          <a:graphicData uri="http://schemas.openxmlformats.org/drawingml/2006/table">
            <a:tbl>
              <a:tblPr firstRow="1" firstCol="1" bandRow="1">
                <a:tableStyleId>{5C22544A-7EE6-4342-B048-85BDC9FD1C3A}</a:tableStyleId>
              </a:tblPr>
              <a:tblGrid>
                <a:gridCol w="1234048">
                  <a:extLst>
                    <a:ext uri="{9D8B030D-6E8A-4147-A177-3AD203B41FA5}">
                      <a16:colId xmlns:a16="http://schemas.microsoft.com/office/drawing/2014/main" val="842503426"/>
                    </a:ext>
                  </a:extLst>
                </a:gridCol>
                <a:gridCol w="1234048">
                  <a:extLst>
                    <a:ext uri="{9D8B030D-6E8A-4147-A177-3AD203B41FA5}">
                      <a16:colId xmlns:a16="http://schemas.microsoft.com/office/drawing/2014/main" val="4221350816"/>
                    </a:ext>
                  </a:extLst>
                </a:gridCol>
                <a:gridCol w="2590299">
                  <a:extLst>
                    <a:ext uri="{9D8B030D-6E8A-4147-A177-3AD203B41FA5}">
                      <a16:colId xmlns:a16="http://schemas.microsoft.com/office/drawing/2014/main" val="1731659934"/>
                    </a:ext>
                  </a:extLst>
                </a:gridCol>
                <a:gridCol w="1315282">
                  <a:extLst>
                    <a:ext uri="{9D8B030D-6E8A-4147-A177-3AD203B41FA5}">
                      <a16:colId xmlns:a16="http://schemas.microsoft.com/office/drawing/2014/main" val="3830548918"/>
                    </a:ext>
                  </a:extLst>
                </a:gridCol>
                <a:gridCol w="2026404">
                  <a:extLst>
                    <a:ext uri="{9D8B030D-6E8A-4147-A177-3AD203B41FA5}">
                      <a16:colId xmlns:a16="http://schemas.microsoft.com/office/drawing/2014/main" val="2495977261"/>
                    </a:ext>
                  </a:extLst>
                </a:gridCol>
              </a:tblGrid>
              <a:tr h="154928">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Propriété</a:t>
                      </a:r>
                    </a:p>
                  </a:txBody>
                  <a:tcPr marL="32195" marR="32195" marT="0" marB="0"/>
                </a:tc>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Type</a:t>
                      </a:r>
                    </a:p>
                  </a:txBody>
                  <a:tcPr marL="32195" marR="32195" marT="0" marB="0"/>
                </a:tc>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Description</a:t>
                      </a:r>
                    </a:p>
                  </a:txBody>
                  <a:tcPr marL="32195" marR="32195" marT="0" marB="0"/>
                </a:tc>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Entité</a:t>
                      </a:r>
                    </a:p>
                  </a:txBody>
                  <a:tcPr marL="32195" marR="32195" marT="0" marB="0" anchor="ctr"/>
                </a:tc>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Observation</a:t>
                      </a:r>
                    </a:p>
                  </a:txBody>
                  <a:tcPr marL="32195" marR="32195" marT="0" marB="0"/>
                </a:tc>
                <a:extLst>
                  <a:ext uri="{0D108BD9-81ED-4DB2-BD59-A6C34878D82A}">
                    <a16:rowId xmlns:a16="http://schemas.microsoft.com/office/drawing/2014/main" val="2076792558"/>
                  </a:ext>
                </a:extLst>
              </a:tr>
              <a:tr h="309855">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id_vente</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NUMÉRIQUE</a:t>
                      </a:r>
                      <a:endParaRPr lang="fr-FR" sz="1800" b="0"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Numéro de facture (identifiant)</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rowSpan="5">
                  <a:txBody>
                    <a:bodyPr/>
                    <a:lstStyle/>
                    <a:p>
                      <a:pPr algn="ctr">
                        <a:buNone/>
                      </a:pPr>
                      <a:r>
                        <a:rPr lang="fr-FR" sz="1200" b="0" u="none" strike="noStrike" dirty="0" err="1">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Ligne_vente</a:t>
                      </a:r>
                      <a:endParaRPr lang="fr-FR" sz="1800" b="0"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Identifiant unique</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1086001364"/>
                  </a:ext>
                </a:extLst>
              </a:tr>
              <a:tr h="268027">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id_produit</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NUMÉRIQUE</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identifiant de Produits</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vMerge="1">
                  <a:txBody>
                    <a:bodyPr/>
                    <a:lstStyle/>
                    <a:p>
                      <a:endParaRPr lang="fr-FR"/>
                    </a:p>
                  </a:txBody>
                  <a:tcPr/>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Identifiant unique</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2494216591"/>
                  </a:ext>
                </a:extLst>
              </a:tr>
              <a:tr h="268027">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Id_lot</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NUMÉRIQUE</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identifiant d’utilisateur</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vMerge="1">
                  <a:txBody>
                    <a:bodyPr/>
                    <a:lstStyle/>
                    <a:p>
                      <a:endParaRPr lang="fr-FR"/>
                    </a:p>
                  </a:txBody>
                  <a:tcPr/>
                </a:tc>
                <a:tc>
                  <a:txBody>
                    <a:bodyPr/>
                    <a:lstStyle/>
                    <a:p>
                      <a:pPr algn="ctr">
                        <a:buNone/>
                      </a:pPr>
                      <a:r>
                        <a:rPr lang="fr-FR" sz="1200" b="0" u="none" strike="noStrike"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Identifiant unique</a:t>
                      </a:r>
                      <a:endParaRPr lang="fr-FR" sz="1800" b="0"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3207997279"/>
                  </a:ext>
                </a:extLst>
              </a:tr>
              <a:tr h="268027">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Quantite</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NUMÉRIQUE</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quantité vendue</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vMerge="1">
                  <a:txBody>
                    <a:bodyPr/>
                    <a:lstStyle/>
                    <a:p>
                      <a:endParaRPr lang="fr-FR"/>
                    </a:p>
                  </a:txBody>
                  <a:tcPr/>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1335902296"/>
                  </a:ext>
                </a:extLst>
              </a:tr>
              <a:tr h="268027">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prix_vente</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NUMÉRIQUE</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Prix au moment de la vente</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vMerge="1">
                  <a:txBody>
                    <a:bodyPr/>
                    <a:lstStyle/>
                    <a:p>
                      <a:endParaRPr lang="fr-FR"/>
                    </a:p>
                  </a:txBody>
                  <a:tcPr/>
                </a:tc>
                <a:tc>
                  <a:txBody>
                    <a:bodyPr/>
                    <a:lstStyle/>
                    <a:p>
                      <a:pPr algn="ctr">
                        <a:buNone/>
                      </a:pPr>
                      <a:r>
                        <a:rPr lang="fr-FR" sz="1200" b="0" u="none" strike="noStrike"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endParaRPr lang="fr-FR" sz="1800" b="0"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3676760501"/>
                  </a:ext>
                </a:extLst>
              </a:tr>
            </a:tbl>
          </a:graphicData>
        </a:graphic>
      </p:graphicFrame>
      <p:sp>
        <p:nvSpPr>
          <p:cNvPr id="11" name="Titre 1">
            <a:extLst>
              <a:ext uri="{FF2B5EF4-FFF2-40B4-BE49-F238E27FC236}">
                <a16:creationId xmlns:a16="http://schemas.microsoft.com/office/drawing/2014/main" id="{0914FAAB-B62D-AC0C-8220-132CFF1B40D4}"/>
              </a:ext>
            </a:extLst>
          </p:cNvPr>
          <p:cNvSpPr txBox="1">
            <a:spLocks/>
          </p:cNvSpPr>
          <p:nvPr/>
        </p:nvSpPr>
        <p:spPr>
          <a:xfrm>
            <a:off x="1275193" y="284163"/>
            <a:ext cx="9784080" cy="323044"/>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4000" kern="1200" cap="all" baseline="0">
                <a:solidFill>
                  <a:schemeClr val="bg2"/>
                </a:solidFill>
                <a:latin typeface="+mj-lt"/>
                <a:ea typeface="+mj-ea"/>
                <a:cs typeface="+mj-cs"/>
              </a:defRPr>
            </a:lvl1pPr>
          </a:lstStyle>
          <a:p>
            <a:r>
              <a:rPr lang="fr-FR" sz="1200" dirty="0">
                <a:solidFill>
                  <a:schemeClr val="tx2">
                    <a:lumMod val="10000"/>
                  </a:schemeClr>
                </a:solidFill>
              </a:rPr>
              <a:t>Table  </a:t>
            </a:r>
            <a:r>
              <a:rPr lang="fr-FR" sz="1200" dirty="0" err="1">
                <a:solidFill>
                  <a:schemeClr val="tx2">
                    <a:lumMod val="10000"/>
                  </a:schemeClr>
                </a:solidFill>
              </a:rPr>
              <a:t>Ligne_vente</a:t>
            </a:r>
            <a:endParaRPr lang="fr-FR" sz="1200" dirty="0">
              <a:solidFill>
                <a:schemeClr val="tx2">
                  <a:lumMod val="10000"/>
                </a:schemeClr>
              </a:solidFill>
            </a:endParaRPr>
          </a:p>
        </p:txBody>
      </p:sp>
      <p:graphicFrame>
        <p:nvGraphicFramePr>
          <p:cNvPr id="13" name="Espace réservé du contenu 3">
            <a:extLst>
              <a:ext uri="{FF2B5EF4-FFF2-40B4-BE49-F238E27FC236}">
                <a16:creationId xmlns:a16="http://schemas.microsoft.com/office/drawing/2014/main" id="{8876C214-CA84-861B-4CE2-7031FB7F8367}"/>
              </a:ext>
            </a:extLst>
          </p:cNvPr>
          <p:cNvGraphicFramePr>
            <a:graphicFrameLocks/>
          </p:cNvGraphicFramePr>
          <p:nvPr>
            <p:extLst>
              <p:ext uri="{D42A27DB-BD31-4B8C-83A1-F6EECF244321}">
                <p14:modId xmlns:p14="http://schemas.microsoft.com/office/powerpoint/2010/main" val="3697085345"/>
              </p:ext>
            </p:extLst>
          </p:nvPr>
        </p:nvGraphicFramePr>
        <p:xfrm>
          <a:off x="1383682" y="2646578"/>
          <a:ext cx="8400081" cy="1564843"/>
        </p:xfrm>
        <a:graphic>
          <a:graphicData uri="http://schemas.openxmlformats.org/drawingml/2006/table">
            <a:tbl>
              <a:tblPr firstRow="1" firstCol="1" bandRow="1">
                <a:tableStyleId>{5C22544A-7EE6-4342-B048-85BDC9FD1C3A}</a:tableStyleId>
              </a:tblPr>
              <a:tblGrid>
                <a:gridCol w="1234048">
                  <a:extLst>
                    <a:ext uri="{9D8B030D-6E8A-4147-A177-3AD203B41FA5}">
                      <a16:colId xmlns:a16="http://schemas.microsoft.com/office/drawing/2014/main" val="842503426"/>
                    </a:ext>
                  </a:extLst>
                </a:gridCol>
                <a:gridCol w="1234048">
                  <a:extLst>
                    <a:ext uri="{9D8B030D-6E8A-4147-A177-3AD203B41FA5}">
                      <a16:colId xmlns:a16="http://schemas.microsoft.com/office/drawing/2014/main" val="4221350816"/>
                    </a:ext>
                  </a:extLst>
                </a:gridCol>
                <a:gridCol w="2590299">
                  <a:extLst>
                    <a:ext uri="{9D8B030D-6E8A-4147-A177-3AD203B41FA5}">
                      <a16:colId xmlns:a16="http://schemas.microsoft.com/office/drawing/2014/main" val="1731659934"/>
                    </a:ext>
                  </a:extLst>
                </a:gridCol>
                <a:gridCol w="1315282">
                  <a:extLst>
                    <a:ext uri="{9D8B030D-6E8A-4147-A177-3AD203B41FA5}">
                      <a16:colId xmlns:a16="http://schemas.microsoft.com/office/drawing/2014/main" val="3830548918"/>
                    </a:ext>
                  </a:extLst>
                </a:gridCol>
                <a:gridCol w="2026404">
                  <a:extLst>
                    <a:ext uri="{9D8B030D-6E8A-4147-A177-3AD203B41FA5}">
                      <a16:colId xmlns:a16="http://schemas.microsoft.com/office/drawing/2014/main" val="2495977261"/>
                    </a:ext>
                  </a:extLst>
                </a:gridCol>
              </a:tblGrid>
              <a:tr h="154928">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Propriété</a:t>
                      </a:r>
                    </a:p>
                  </a:txBody>
                  <a:tcPr marL="32195" marR="32195" marT="0" marB="0"/>
                </a:tc>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Type</a:t>
                      </a:r>
                    </a:p>
                  </a:txBody>
                  <a:tcPr marL="32195" marR="32195" marT="0" marB="0"/>
                </a:tc>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Description</a:t>
                      </a:r>
                    </a:p>
                  </a:txBody>
                  <a:tcPr marL="32195" marR="32195" marT="0" marB="0"/>
                </a:tc>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Entité</a:t>
                      </a:r>
                    </a:p>
                  </a:txBody>
                  <a:tcPr marL="32195" marR="32195" marT="0" marB="0" anchor="ctr"/>
                </a:tc>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Observation</a:t>
                      </a:r>
                    </a:p>
                  </a:txBody>
                  <a:tcPr marL="32195" marR="32195" marT="0" marB="0"/>
                </a:tc>
                <a:extLst>
                  <a:ext uri="{0D108BD9-81ED-4DB2-BD59-A6C34878D82A}">
                    <a16:rowId xmlns:a16="http://schemas.microsoft.com/office/drawing/2014/main" val="2076792558"/>
                  </a:ext>
                </a:extLst>
              </a:tr>
              <a:tr h="309855">
                <a:tc>
                  <a:txBody>
                    <a:bodyPr/>
                    <a:lstStyle/>
                    <a:p>
                      <a:pPr algn="ctr">
                        <a:buNone/>
                      </a:pPr>
                      <a:r>
                        <a:rPr lang="fr-FR" sz="1200" b="0" kern="1200" dirty="0" err="1">
                          <a:solidFill>
                            <a:schemeClr val="lt1"/>
                          </a:solidFill>
                          <a:effectLst/>
                          <a:latin typeface="+mn-lt"/>
                          <a:ea typeface="+mn-ea"/>
                          <a:cs typeface="+mn-cs"/>
                        </a:rPr>
                        <a:t>id_vente</a:t>
                      </a:r>
                      <a:endParaRPr lang="fr-FR" sz="1200" b="0"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NUMÉRIQUE</a:t>
                      </a:r>
                      <a:endParaRPr lang="fr-FR" sz="12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Numéro de facture (identifiant)</a:t>
                      </a:r>
                      <a:endParaRPr lang="fr-FR" sz="12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rowSpan="5">
                  <a:txBody>
                    <a:bodyPr/>
                    <a:lstStyle/>
                    <a:p>
                      <a:pPr algn="ctr">
                        <a:buNone/>
                      </a:pPr>
                      <a:r>
                        <a:rPr lang="fr-FR" sz="1200" b="0" u="none" strike="noStrike"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endParaRPr lang="fr-FR" sz="1200" b="0"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p>
                      <a:pPr algn="ctr">
                        <a:buNone/>
                      </a:pPr>
                      <a:r>
                        <a:rPr lang="fr-FR" sz="1200" b="0" u="none" strike="noStrike"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endParaRPr lang="fr-FR" sz="1200" b="0"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p>
                      <a:pPr algn="ctr">
                        <a:buNone/>
                      </a:pPr>
                      <a:r>
                        <a:rPr lang="fr-FR" sz="1200" b="0" u="none" strike="noStrike"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endParaRPr lang="fr-FR" sz="1200" b="0"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p>
                      <a:pPr algn="ctr">
                        <a:buNone/>
                      </a:pPr>
                      <a:r>
                        <a:rPr lang="fr-FR" sz="1200" b="0" u="none" strike="noStrike"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Vente</a:t>
                      </a:r>
                      <a:endParaRPr lang="fr-FR" sz="1200" b="0"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Identifiant unique</a:t>
                      </a:r>
                      <a:endParaRPr lang="fr-FR" sz="12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1086001364"/>
                  </a:ext>
                </a:extLst>
              </a:tr>
              <a:tr h="268027">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date_vente</a:t>
                      </a:r>
                      <a:endParaRPr lang="fr-FR" sz="12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DATE</a:t>
                      </a:r>
                      <a:endParaRPr lang="fr-FR" sz="12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Date de transaction</a:t>
                      </a:r>
                      <a:endParaRPr lang="fr-FR" sz="12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vMerge="1">
                  <a:txBody>
                    <a:bodyPr/>
                    <a:lstStyle/>
                    <a:p>
                      <a:endParaRPr lang="fr-FR"/>
                    </a:p>
                  </a:txBody>
                  <a:tcPr/>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datetime</a:t>
                      </a:r>
                      <a:endParaRPr lang="fr-FR" sz="12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2494216591"/>
                  </a:ext>
                </a:extLst>
              </a:tr>
              <a:tr h="268027">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id_utilisateur</a:t>
                      </a:r>
                      <a:endParaRPr lang="fr-FR" sz="12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endParaRPr lang="fr-FR" sz="12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Identifiant de L’utilisateur</a:t>
                      </a:r>
                      <a:endParaRPr lang="fr-FR" sz="12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vMerge="1">
                  <a:txBody>
                    <a:bodyPr/>
                    <a:lstStyle/>
                    <a:p>
                      <a:endParaRPr lang="fr-FR"/>
                    </a:p>
                  </a:txBody>
                  <a:tcPr/>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Identifiant unique</a:t>
                      </a:r>
                      <a:endParaRPr lang="fr-FR" sz="12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3207997279"/>
                  </a:ext>
                </a:extLst>
              </a:tr>
              <a:tr h="268027">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Id_bon_livraison</a:t>
                      </a:r>
                      <a:endParaRPr lang="fr-FR" sz="12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NUMÉRIQUE</a:t>
                      </a:r>
                      <a:endParaRPr lang="fr-FR" sz="12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Identifiant de bon livraison</a:t>
                      </a:r>
                      <a:endParaRPr lang="fr-FR" sz="12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vMerge="1">
                  <a:txBody>
                    <a:bodyPr/>
                    <a:lstStyle/>
                    <a:p>
                      <a:endParaRPr lang="fr-FR"/>
                    </a:p>
                  </a:txBody>
                  <a:tcPr/>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Identifiant unique</a:t>
                      </a:r>
                      <a:endParaRPr lang="fr-FR" sz="12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1335902296"/>
                  </a:ext>
                </a:extLst>
              </a:tr>
              <a:tr h="268027">
                <a:tc>
                  <a:txBody>
                    <a:bodyPr/>
                    <a:lstStyle/>
                    <a:p>
                      <a:pPr algn="ctr">
                        <a:buNone/>
                      </a:pPr>
                      <a:r>
                        <a:rPr lang="fr-FR" sz="1200" b="0" u="none" strike="noStrike" dirty="0" err="1">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id_client</a:t>
                      </a:r>
                      <a:endParaRPr lang="fr-FR" sz="1200" b="0"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NUMÉRIQUE</a:t>
                      </a:r>
                      <a:endParaRPr lang="fr-FR" sz="12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Identifiant de Client</a:t>
                      </a:r>
                      <a:endParaRPr lang="fr-FR" sz="12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vMerge="1">
                  <a:txBody>
                    <a:bodyPr/>
                    <a:lstStyle/>
                    <a:p>
                      <a:endParaRPr lang="fr-FR"/>
                    </a:p>
                  </a:txBody>
                  <a:tcPr/>
                </a:tc>
                <a:tc>
                  <a:txBody>
                    <a:bodyPr/>
                    <a:lstStyle/>
                    <a:p>
                      <a:pPr algn="ctr">
                        <a:buNone/>
                      </a:pPr>
                      <a:r>
                        <a:rPr lang="fr-FR" sz="1200" b="0" u="none" strike="noStrike"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Identifiant unique</a:t>
                      </a:r>
                      <a:endParaRPr lang="fr-FR" sz="1200" b="0"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3676760501"/>
                  </a:ext>
                </a:extLst>
              </a:tr>
            </a:tbl>
          </a:graphicData>
        </a:graphic>
      </p:graphicFrame>
      <p:sp>
        <p:nvSpPr>
          <p:cNvPr id="15" name="Titre 1">
            <a:extLst>
              <a:ext uri="{FF2B5EF4-FFF2-40B4-BE49-F238E27FC236}">
                <a16:creationId xmlns:a16="http://schemas.microsoft.com/office/drawing/2014/main" id="{0601F40F-DB0A-872B-A850-6260C86C057E}"/>
              </a:ext>
            </a:extLst>
          </p:cNvPr>
          <p:cNvSpPr txBox="1">
            <a:spLocks/>
          </p:cNvSpPr>
          <p:nvPr/>
        </p:nvSpPr>
        <p:spPr>
          <a:xfrm>
            <a:off x="1383682" y="2323534"/>
            <a:ext cx="9784080" cy="323044"/>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4000" kern="1200" cap="all" baseline="0">
                <a:solidFill>
                  <a:schemeClr val="bg2"/>
                </a:solidFill>
                <a:latin typeface="+mj-lt"/>
                <a:ea typeface="+mj-ea"/>
                <a:cs typeface="+mj-cs"/>
              </a:defRPr>
            </a:lvl1pPr>
          </a:lstStyle>
          <a:p>
            <a:r>
              <a:rPr lang="fr-FR" sz="1200" dirty="0">
                <a:solidFill>
                  <a:schemeClr val="tx2">
                    <a:lumMod val="10000"/>
                  </a:schemeClr>
                </a:solidFill>
              </a:rPr>
              <a:t>Table  vente</a:t>
            </a:r>
          </a:p>
        </p:txBody>
      </p:sp>
      <p:graphicFrame>
        <p:nvGraphicFramePr>
          <p:cNvPr id="17" name="Espace réservé du contenu 3">
            <a:extLst>
              <a:ext uri="{FF2B5EF4-FFF2-40B4-BE49-F238E27FC236}">
                <a16:creationId xmlns:a16="http://schemas.microsoft.com/office/drawing/2014/main" id="{7DA21A70-D05A-AD7B-FBAF-BA8B0CF926D4}"/>
              </a:ext>
            </a:extLst>
          </p:cNvPr>
          <p:cNvGraphicFramePr>
            <a:graphicFrameLocks/>
          </p:cNvGraphicFramePr>
          <p:nvPr>
            <p:extLst>
              <p:ext uri="{D42A27DB-BD31-4B8C-83A1-F6EECF244321}">
                <p14:modId xmlns:p14="http://schemas.microsoft.com/office/powerpoint/2010/main" val="3842693885"/>
              </p:ext>
            </p:extLst>
          </p:nvPr>
        </p:nvGraphicFramePr>
        <p:xfrm>
          <a:off x="1383682" y="4685951"/>
          <a:ext cx="8400081" cy="1564843"/>
        </p:xfrm>
        <a:graphic>
          <a:graphicData uri="http://schemas.openxmlformats.org/drawingml/2006/table">
            <a:tbl>
              <a:tblPr firstRow="1" firstCol="1" bandRow="1">
                <a:tableStyleId>{5C22544A-7EE6-4342-B048-85BDC9FD1C3A}</a:tableStyleId>
              </a:tblPr>
              <a:tblGrid>
                <a:gridCol w="1234048">
                  <a:extLst>
                    <a:ext uri="{9D8B030D-6E8A-4147-A177-3AD203B41FA5}">
                      <a16:colId xmlns:a16="http://schemas.microsoft.com/office/drawing/2014/main" val="842503426"/>
                    </a:ext>
                  </a:extLst>
                </a:gridCol>
                <a:gridCol w="1234048">
                  <a:extLst>
                    <a:ext uri="{9D8B030D-6E8A-4147-A177-3AD203B41FA5}">
                      <a16:colId xmlns:a16="http://schemas.microsoft.com/office/drawing/2014/main" val="4221350816"/>
                    </a:ext>
                  </a:extLst>
                </a:gridCol>
                <a:gridCol w="2590299">
                  <a:extLst>
                    <a:ext uri="{9D8B030D-6E8A-4147-A177-3AD203B41FA5}">
                      <a16:colId xmlns:a16="http://schemas.microsoft.com/office/drawing/2014/main" val="1731659934"/>
                    </a:ext>
                  </a:extLst>
                </a:gridCol>
                <a:gridCol w="1315282">
                  <a:extLst>
                    <a:ext uri="{9D8B030D-6E8A-4147-A177-3AD203B41FA5}">
                      <a16:colId xmlns:a16="http://schemas.microsoft.com/office/drawing/2014/main" val="3830548918"/>
                    </a:ext>
                  </a:extLst>
                </a:gridCol>
                <a:gridCol w="2026404">
                  <a:extLst>
                    <a:ext uri="{9D8B030D-6E8A-4147-A177-3AD203B41FA5}">
                      <a16:colId xmlns:a16="http://schemas.microsoft.com/office/drawing/2014/main" val="2495977261"/>
                    </a:ext>
                  </a:extLst>
                </a:gridCol>
              </a:tblGrid>
              <a:tr h="154928">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Propriété</a:t>
                      </a:r>
                    </a:p>
                  </a:txBody>
                  <a:tcPr marL="32195" marR="32195" marT="0" marB="0"/>
                </a:tc>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Type</a:t>
                      </a:r>
                    </a:p>
                  </a:txBody>
                  <a:tcPr marL="32195" marR="32195" marT="0" marB="0"/>
                </a:tc>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Description</a:t>
                      </a:r>
                    </a:p>
                  </a:txBody>
                  <a:tcPr marL="32195" marR="32195" marT="0" marB="0"/>
                </a:tc>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Entité</a:t>
                      </a:r>
                    </a:p>
                  </a:txBody>
                  <a:tcPr marL="32195" marR="32195" marT="0" marB="0" anchor="ctr"/>
                </a:tc>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Observation</a:t>
                      </a:r>
                    </a:p>
                  </a:txBody>
                  <a:tcPr marL="32195" marR="32195" marT="0" marB="0"/>
                </a:tc>
                <a:extLst>
                  <a:ext uri="{0D108BD9-81ED-4DB2-BD59-A6C34878D82A}">
                    <a16:rowId xmlns:a16="http://schemas.microsoft.com/office/drawing/2014/main" val="2076792558"/>
                  </a:ext>
                </a:extLst>
              </a:tr>
              <a:tr h="309855">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id_fournisseur</a:t>
                      </a:r>
                      <a:endParaRPr lang="fr-FR" sz="12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INT</a:t>
                      </a:r>
                      <a:endParaRPr lang="fr-FR" sz="12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Identifiant de fournisseur</a:t>
                      </a:r>
                      <a:endParaRPr lang="fr-FR" sz="1200" b="0"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rowSpan="5">
                  <a:txBody>
                    <a:bodyPr/>
                    <a:lstStyle/>
                    <a:p>
                      <a:pPr algn="ctr">
                        <a:buNone/>
                      </a:pPr>
                      <a:r>
                        <a:rPr lang="fr-FR" sz="1200" b="0" u="none" strike="noStrike"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endParaRPr lang="fr-FR" sz="1200" b="0"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p>
                      <a:pPr algn="ctr">
                        <a:buNone/>
                      </a:pPr>
                      <a:r>
                        <a:rPr lang="fr-FR" sz="1200" b="0" u="none" strike="noStrike"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endParaRPr lang="fr-FR" sz="1200" b="0"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p>
                      <a:pPr algn="ctr">
                        <a:buNone/>
                      </a:pPr>
                      <a:r>
                        <a:rPr lang="fr-FR" sz="1200" b="0" u="none" strike="noStrike"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endParaRPr lang="fr-FR" sz="1200" b="0"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p>
                      <a:pPr algn="ctr">
                        <a:buNone/>
                      </a:pPr>
                      <a:r>
                        <a:rPr lang="fr-FR" sz="1200" b="0" u="none" strike="noStrike"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Fournisseur</a:t>
                      </a:r>
                      <a:endParaRPr lang="fr-FR" sz="1200" b="0"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Identifiant unique</a:t>
                      </a:r>
                      <a:endParaRPr lang="fr-FR" sz="12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1086001364"/>
                  </a:ext>
                </a:extLst>
              </a:tr>
              <a:tr h="268027">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nom_complet</a:t>
                      </a:r>
                      <a:endParaRPr lang="fr-FR" sz="12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VARCHAR</a:t>
                      </a:r>
                      <a:endParaRPr lang="fr-FR" sz="12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Nom de fournisseur</a:t>
                      </a:r>
                      <a:endParaRPr lang="fr-FR" sz="12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vMerge="1">
                  <a:txBody>
                    <a:bodyPr/>
                    <a:lstStyle/>
                    <a:p>
                      <a:endParaRPr lang="fr-FR"/>
                    </a:p>
                  </a:txBody>
                  <a:tcPr/>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endParaRPr lang="fr-FR" sz="12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2494216591"/>
                  </a:ext>
                </a:extLst>
              </a:tr>
              <a:tr h="268027">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telephone</a:t>
                      </a:r>
                      <a:endParaRPr lang="fr-FR" sz="12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VARCHAR</a:t>
                      </a:r>
                      <a:endParaRPr lang="fr-FR" sz="12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Téléphone de fournisseur</a:t>
                      </a:r>
                      <a:endParaRPr lang="fr-FR" sz="12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vMerge="1">
                  <a:txBody>
                    <a:bodyPr/>
                    <a:lstStyle/>
                    <a:p>
                      <a:endParaRPr lang="fr-FR"/>
                    </a:p>
                  </a:txBody>
                  <a:tcPr/>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endParaRPr lang="fr-FR" sz="12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3207997279"/>
                  </a:ext>
                </a:extLst>
              </a:tr>
              <a:tr h="268027">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email</a:t>
                      </a:r>
                      <a:endParaRPr lang="fr-FR" sz="12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VARCHAR</a:t>
                      </a:r>
                      <a:endParaRPr lang="fr-FR" sz="12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Email de fournisseur</a:t>
                      </a:r>
                      <a:endParaRPr lang="fr-FR" sz="12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vMerge="1">
                  <a:txBody>
                    <a:bodyPr/>
                    <a:lstStyle/>
                    <a:p>
                      <a:endParaRPr lang="fr-FR"/>
                    </a:p>
                  </a:txBody>
                  <a:tcPr/>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endParaRPr lang="fr-FR" sz="12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1335902296"/>
                  </a:ext>
                </a:extLst>
              </a:tr>
              <a:tr h="268027">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adresse</a:t>
                      </a:r>
                      <a:endParaRPr lang="fr-FR" sz="12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TEXT</a:t>
                      </a:r>
                      <a:endParaRPr lang="fr-FR" sz="12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Adresse de fournisseur</a:t>
                      </a:r>
                      <a:endParaRPr lang="fr-FR" sz="12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vMerge="1">
                  <a:txBody>
                    <a:bodyPr/>
                    <a:lstStyle/>
                    <a:p>
                      <a:endParaRPr lang="fr-FR"/>
                    </a:p>
                  </a:txBody>
                  <a:tcPr/>
                </a:tc>
                <a:tc>
                  <a:txBody>
                    <a:bodyPr/>
                    <a:lstStyle/>
                    <a:p>
                      <a:pPr algn="ctr">
                        <a:buNone/>
                      </a:pPr>
                      <a:r>
                        <a:rPr lang="fr-FR" sz="1200" b="0" u="none" strike="noStrike"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endParaRPr lang="fr-FR" sz="1200" b="0"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3676760501"/>
                  </a:ext>
                </a:extLst>
              </a:tr>
            </a:tbl>
          </a:graphicData>
        </a:graphic>
      </p:graphicFrame>
      <p:sp>
        <p:nvSpPr>
          <p:cNvPr id="19" name="Titre 1">
            <a:extLst>
              <a:ext uri="{FF2B5EF4-FFF2-40B4-BE49-F238E27FC236}">
                <a16:creationId xmlns:a16="http://schemas.microsoft.com/office/drawing/2014/main" id="{AB4D8907-DEF4-10AF-1FCF-E28E4810341B}"/>
              </a:ext>
            </a:extLst>
          </p:cNvPr>
          <p:cNvSpPr txBox="1">
            <a:spLocks/>
          </p:cNvSpPr>
          <p:nvPr/>
        </p:nvSpPr>
        <p:spPr>
          <a:xfrm>
            <a:off x="1275193" y="4362907"/>
            <a:ext cx="9784080" cy="323044"/>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4000" kern="1200" cap="all" baseline="0">
                <a:solidFill>
                  <a:schemeClr val="bg2"/>
                </a:solidFill>
                <a:latin typeface="+mj-lt"/>
                <a:ea typeface="+mj-ea"/>
                <a:cs typeface="+mj-cs"/>
              </a:defRPr>
            </a:lvl1pPr>
          </a:lstStyle>
          <a:p>
            <a:r>
              <a:rPr lang="fr-FR" sz="1200" dirty="0">
                <a:solidFill>
                  <a:schemeClr val="tx2">
                    <a:lumMod val="10000"/>
                  </a:schemeClr>
                </a:solidFill>
              </a:rPr>
              <a:t>Table  Fournisseur</a:t>
            </a:r>
          </a:p>
        </p:txBody>
      </p:sp>
    </p:spTree>
    <p:extLst>
      <p:ext uri="{BB962C8B-B14F-4D97-AF65-F5344CB8AC3E}">
        <p14:creationId xmlns:p14="http://schemas.microsoft.com/office/powerpoint/2010/main" val="30882751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Espace réservé du contenu 3">
            <a:extLst>
              <a:ext uri="{FF2B5EF4-FFF2-40B4-BE49-F238E27FC236}">
                <a16:creationId xmlns:a16="http://schemas.microsoft.com/office/drawing/2014/main" id="{B6C3DE58-6FE7-7BC2-3BFF-37739638BC67}"/>
              </a:ext>
            </a:extLst>
          </p:cNvPr>
          <p:cNvGraphicFramePr>
            <a:graphicFrameLocks/>
          </p:cNvGraphicFramePr>
          <p:nvPr>
            <p:extLst>
              <p:ext uri="{D42A27DB-BD31-4B8C-83A1-F6EECF244321}">
                <p14:modId xmlns:p14="http://schemas.microsoft.com/office/powerpoint/2010/main" val="3140998296"/>
              </p:ext>
            </p:extLst>
          </p:nvPr>
        </p:nvGraphicFramePr>
        <p:xfrm>
          <a:off x="1383682" y="607207"/>
          <a:ext cx="8400081" cy="1028789"/>
        </p:xfrm>
        <a:graphic>
          <a:graphicData uri="http://schemas.openxmlformats.org/drawingml/2006/table">
            <a:tbl>
              <a:tblPr firstRow="1" firstCol="1" bandRow="1">
                <a:tableStyleId>{5C22544A-7EE6-4342-B048-85BDC9FD1C3A}</a:tableStyleId>
              </a:tblPr>
              <a:tblGrid>
                <a:gridCol w="1234048">
                  <a:extLst>
                    <a:ext uri="{9D8B030D-6E8A-4147-A177-3AD203B41FA5}">
                      <a16:colId xmlns:a16="http://schemas.microsoft.com/office/drawing/2014/main" val="842503426"/>
                    </a:ext>
                  </a:extLst>
                </a:gridCol>
                <a:gridCol w="1234048">
                  <a:extLst>
                    <a:ext uri="{9D8B030D-6E8A-4147-A177-3AD203B41FA5}">
                      <a16:colId xmlns:a16="http://schemas.microsoft.com/office/drawing/2014/main" val="4221350816"/>
                    </a:ext>
                  </a:extLst>
                </a:gridCol>
                <a:gridCol w="2590299">
                  <a:extLst>
                    <a:ext uri="{9D8B030D-6E8A-4147-A177-3AD203B41FA5}">
                      <a16:colId xmlns:a16="http://schemas.microsoft.com/office/drawing/2014/main" val="1731659934"/>
                    </a:ext>
                  </a:extLst>
                </a:gridCol>
                <a:gridCol w="1315282">
                  <a:extLst>
                    <a:ext uri="{9D8B030D-6E8A-4147-A177-3AD203B41FA5}">
                      <a16:colId xmlns:a16="http://schemas.microsoft.com/office/drawing/2014/main" val="3830548918"/>
                    </a:ext>
                  </a:extLst>
                </a:gridCol>
                <a:gridCol w="2026404">
                  <a:extLst>
                    <a:ext uri="{9D8B030D-6E8A-4147-A177-3AD203B41FA5}">
                      <a16:colId xmlns:a16="http://schemas.microsoft.com/office/drawing/2014/main" val="2495977261"/>
                    </a:ext>
                  </a:extLst>
                </a:gridCol>
              </a:tblGrid>
              <a:tr h="154928">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Propriété</a:t>
                      </a:r>
                    </a:p>
                  </a:txBody>
                  <a:tcPr marL="32195" marR="32195" marT="0" marB="0"/>
                </a:tc>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Type</a:t>
                      </a:r>
                    </a:p>
                  </a:txBody>
                  <a:tcPr marL="32195" marR="32195" marT="0" marB="0"/>
                </a:tc>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Description</a:t>
                      </a:r>
                    </a:p>
                  </a:txBody>
                  <a:tcPr marL="32195" marR="32195" marT="0" marB="0"/>
                </a:tc>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Entité</a:t>
                      </a:r>
                    </a:p>
                  </a:txBody>
                  <a:tcPr marL="32195" marR="32195" marT="0" marB="0" anchor="ctr"/>
                </a:tc>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Observation</a:t>
                      </a:r>
                    </a:p>
                  </a:txBody>
                  <a:tcPr marL="32195" marR="32195" marT="0" marB="0"/>
                </a:tc>
                <a:extLst>
                  <a:ext uri="{0D108BD9-81ED-4DB2-BD59-A6C34878D82A}">
                    <a16:rowId xmlns:a16="http://schemas.microsoft.com/office/drawing/2014/main" val="2076792558"/>
                  </a:ext>
                </a:extLst>
              </a:tr>
              <a:tr h="309855">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id_produit</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NUMÉRIQUE</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Identifiant de produit</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rowSpan="3">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Ligne_stock</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Identifiant unique</a:t>
                      </a:r>
                      <a:endParaRPr lang="fr-FR" sz="1800" b="0"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1086001364"/>
                  </a:ext>
                </a:extLst>
              </a:tr>
              <a:tr h="268027">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id_emplacement</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NUMÉRIQUE</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Identifiant unique de L’emplacement</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vMerge="1">
                  <a:txBody>
                    <a:bodyPr/>
                    <a:lstStyle/>
                    <a:p>
                      <a:endParaRPr lang="fr-FR"/>
                    </a:p>
                  </a:txBody>
                  <a:tcPr/>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Identifiant unique</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2494216591"/>
                  </a:ext>
                </a:extLst>
              </a:tr>
              <a:tr h="268027">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Quantite</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NUMÉRIQUE</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Quantité stocker</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vMerge="1">
                  <a:txBody>
                    <a:bodyPr/>
                    <a:lstStyle/>
                    <a:p>
                      <a:endParaRPr lang="fr-FR"/>
                    </a:p>
                  </a:txBody>
                  <a:tcPr/>
                </a:tc>
                <a:tc>
                  <a:txBody>
                    <a:bodyPr/>
                    <a:lstStyle/>
                    <a:p>
                      <a:pPr algn="ctr">
                        <a:buNone/>
                      </a:pPr>
                      <a:r>
                        <a:rPr lang="fr-FR" sz="1200" b="0" u="none" strike="noStrike"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Integer</a:t>
                      </a:r>
                      <a:endParaRPr lang="fr-FR" sz="1800" b="0"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3207997279"/>
                  </a:ext>
                </a:extLst>
              </a:tr>
            </a:tbl>
          </a:graphicData>
        </a:graphic>
      </p:graphicFrame>
      <p:sp>
        <p:nvSpPr>
          <p:cNvPr id="5" name="Titre 1">
            <a:extLst>
              <a:ext uri="{FF2B5EF4-FFF2-40B4-BE49-F238E27FC236}">
                <a16:creationId xmlns:a16="http://schemas.microsoft.com/office/drawing/2014/main" id="{B1128A98-6632-BF65-7FC4-7B558CE20C41}"/>
              </a:ext>
            </a:extLst>
          </p:cNvPr>
          <p:cNvSpPr txBox="1">
            <a:spLocks/>
          </p:cNvSpPr>
          <p:nvPr/>
        </p:nvSpPr>
        <p:spPr>
          <a:xfrm>
            <a:off x="1275193" y="284163"/>
            <a:ext cx="9784080" cy="323044"/>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4000" kern="1200" cap="all" baseline="0">
                <a:solidFill>
                  <a:schemeClr val="bg2"/>
                </a:solidFill>
                <a:latin typeface="+mj-lt"/>
                <a:ea typeface="+mj-ea"/>
                <a:cs typeface="+mj-cs"/>
              </a:defRPr>
            </a:lvl1pPr>
          </a:lstStyle>
          <a:p>
            <a:r>
              <a:rPr lang="fr-FR" sz="1200" dirty="0">
                <a:solidFill>
                  <a:schemeClr val="tx2">
                    <a:lumMod val="10000"/>
                  </a:schemeClr>
                </a:solidFill>
              </a:rPr>
              <a:t>Table  </a:t>
            </a:r>
            <a:r>
              <a:rPr lang="fr-FR" sz="1200" dirty="0" err="1">
                <a:solidFill>
                  <a:schemeClr val="tx2">
                    <a:lumMod val="10000"/>
                  </a:schemeClr>
                </a:solidFill>
              </a:rPr>
              <a:t>Ligne_stock</a:t>
            </a:r>
            <a:endParaRPr lang="fr-FR" sz="1200" dirty="0">
              <a:solidFill>
                <a:schemeClr val="tx2">
                  <a:lumMod val="10000"/>
                </a:schemeClr>
              </a:solidFill>
            </a:endParaRPr>
          </a:p>
        </p:txBody>
      </p:sp>
      <p:graphicFrame>
        <p:nvGraphicFramePr>
          <p:cNvPr id="7" name="Espace réservé du contenu 3">
            <a:extLst>
              <a:ext uri="{FF2B5EF4-FFF2-40B4-BE49-F238E27FC236}">
                <a16:creationId xmlns:a16="http://schemas.microsoft.com/office/drawing/2014/main" id="{F9C76526-A997-B946-5380-0B5918A97435}"/>
              </a:ext>
            </a:extLst>
          </p:cNvPr>
          <p:cNvGraphicFramePr>
            <a:graphicFrameLocks/>
          </p:cNvGraphicFramePr>
          <p:nvPr>
            <p:extLst>
              <p:ext uri="{D42A27DB-BD31-4B8C-83A1-F6EECF244321}">
                <p14:modId xmlns:p14="http://schemas.microsoft.com/office/powerpoint/2010/main" val="3332279508"/>
              </p:ext>
            </p:extLst>
          </p:nvPr>
        </p:nvGraphicFramePr>
        <p:xfrm>
          <a:off x="1383680" y="2036312"/>
          <a:ext cx="8400081" cy="1126522"/>
        </p:xfrm>
        <a:graphic>
          <a:graphicData uri="http://schemas.openxmlformats.org/drawingml/2006/table">
            <a:tbl>
              <a:tblPr firstRow="1" firstCol="1" bandRow="1">
                <a:tableStyleId>{5C22544A-7EE6-4342-B048-85BDC9FD1C3A}</a:tableStyleId>
              </a:tblPr>
              <a:tblGrid>
                <a:gridCol w="1234048">
                  <a:extLst>
                    <a:ext uri="{9D8B030D-6E8A-4147-A177-3AD203B41FA5}">
                      <a16:colId xmlns:a16="http://schemas.microsoft.com/office/drawing/2014/main" val="842503426"/>
                    </a:ext>
                  </a:extLst>
                </a:gridCol>
                <a:gridCol w="1234048">
                  <a:extLst>
                    <a:ext uri="{9D8B030D-6E8A-4147-A177-3AD203B41FA5}">
                      <a16:colId xmlns:a16="http://schemas.microsoft.com/office/drawing/2014/main" val="4221350816"/>
                    </a:ext>
                  </a:extLst>
                </a:gridCol>
                <a:gridCol w="2590299">
                  <a:extLst>
                    <a:ext uri="{9D8B030D-6E8A-4147-A177-3AD203B41FA5}">
                      <a16:colId xmlns:a16="http://schemas.microsoft.com/office/drawing/2014/main" val="1731659934"/>
                    </a:ext>
                  </a:extLst>
                </a:gridCol>
                <a:gridCol w="1315282">
                  <a:extLst>
                    <a:ext uri="{9D8B030D-6E8A-4147-A177-3AD203B41FA5}">
                      <a16:colId xmlns:a16="http://schemas.microsoft.com/office/drawing/2014/main" val="3830548918"/>
                    </a:ext>
                  </a:extLst>
                </a:gridCol>
                <a:gridCol w="2026404">
                  <a:extLst>
                    <a:ext uri="{9D8B030D-6E8A-4147-A177-3AD203B41FA5}">
                      <a16:colId xmlns:a16="http://schemas.microsoft.com/office/drawing/2014/main" val="2495977261"/>
                    </a:ext>
                  </a:extLst>
                </a:gridCol>
              </a:tblGrid>
              <a:tr h="154928">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Propriété</a:t>
                      </a:r>
                    </a:p>
                  </a:txBody>
                  <a:tcPr marL="32195" marR="32195" marT="0" marB="0"/>
                </a:tc>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Type</a:t>
                      </a:r>
                    </a:p>
                  </a:txBody>
                  <a:tcPr marL="32195" marR="32195" marT="0" marB="0"/>
                </a:tc>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Description</a:t>
                      </a:r>
                    </a:p>
                  </a:txBody>
                  <a:tcPr marL="32195" marR="32195" marT="0" marB="0"/>
                </a:tc>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Entité</a:t>
                      </a:r>
                    </a:p>
                  </a:txBody>
                  <a:tcPr marL="32195" marR="32195" marT="0" marB="0" anchor="ctr"/>
                </a:tc>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Observation</a:t>
                      </a:r>
                    </a:p>
                  </a:txBody>
                  <a:tcPr marL="32195" marR="32195" marT="0" marB="0"/>
                </a:tc>
                <a:extLst>
                  <a:ext uri="{0D108BD9-81ED-4DB2-BD59-A6C34878D82A}">
                    <a16:rowId xmlns:a16="http://schemas.microsoft.com/office/drawing/2014/main" val="2076792558"/>
                  </a:ext>
                </a:extLst>
              </a:tr>
              <a:tr h="309855">
                <a:tc>
                  <a:txBody>
                    <a:bodyPr/>
                    <a:lstStyle/>
                    <a:p>
                      <a:pPr algn="ctr">
                        <a:buNone/>
                      </a:pPr>
                      <a:r>
                        <a:rPr lang="fr-FR" sz="1200" b="0" u="none" strike="noStrike" dirty="0" err="1">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id_emplacement</a:t>
                      </a:r>
                      <a:endParaRPr lang="fr-FR" sz="1800" b="0"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NUMÉRIQUE</a:t>
                      </a:r>
                      <a:endParaRPr lang="fr-FR" sz="1800" b="0"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Identifiant d’emplacement</a:t>
                      </a:r>
                      <a:endParaRPr lang="fr-FR" sz="1800" b="0"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rowSpan="3">
                  <a:txBody>
                    <a:bodyPr/>
                    <a:lstStyle/>
                    <a:p>
                      <a:pPr algn="ctr">
                        <a:buNone/>
                      </a:pPr>
                      <a:r>
                        <a:rPr lang="fr-FR" sz="1200" b="0" u="none" strike="noStrike"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endParaRPr lang="fr-FR" sz="1800" b="0"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p>
                      <a:pPr algn="ctr">
                        <a:buNone/>
                      </a:pPr>
                      <a:r>
                        <a:rPr lang="fr-FR" sz="1200" b="0" u="none" strike="noStrike"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endParaRPr lang="fr-FR" sz="1800" b="0"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p>
                      <a:pPr algn="ctr">
                        <a:buNone/>
                      </a:pPr>
                      <a:r>
                        <a:rPr lang="fr-FR" sz="1200" b="0" u="none" strike="noStrike"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Emplacement</a:t>
                      </a:r>
                      <a:endParaRPr lang="fr-FR" sz="1800" b="0"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Identifiant unique</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1086001364"/>
                  </a:ext>
                </a:extLst>
              </a:tr>
              <a:tr h="268027">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code_emplacement</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TEXTE</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Code du rayon</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tc>
                <a:tc vMerge="1">
                  <a:txBody>
                    <a:bodyPr/>
                    <a:lstStyle/>
                    <a:p>
                      <a:endParaRPr lang="fr-FR"/>
                    </a:p>
                  </a:txBody>
                  <a:tcPr/>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2494216591"/>
                  </a:ext>
                </a:extLst>
              </a:tr>
              <a:tr h="268027">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id_entrepot</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NUMÉRIQUE</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Identifiant d’Entrepots</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vMerge="1">
                  <a:txBody>
                    <a:bodyPr/>
                    <a:lstStyle/>
                    <a:p>
                      <a:endParaRPr lang="fr-FR"/>
                    </a:p>
                  </a:txBody>
                  <a:tcPr/>
                </a:tc>
                <a:tc>
                  <a:txBody>
                    <a:bodyPr/>
                    <a:lstStyle/>
                    <a:p>
                      <a:pPr algn="ctr">
                        <a:buNone/>
                      </a:pPr>
                      <a:r>
                        <a:rPr lang="fr-FR" sz="1200" b="0" u="none" strike="noStrike"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Identifiant unique</a:t>
                      </a:r>
                      <a:endParaRPr lang="fr-FR" sz="1800" b="0"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3207997279"/>
                  </a:ext>
                </a:extLst>
              </a:tr>
            </a:tbl>
          </a:graphicData>
        </a:graphic>
      </p:graphicFrame>
      <p:sp>
        <p:nvSpPr>
          <p:cNvPr id="9" name="Titre 1">
            <a:extLst>
              <a:ext uri="{FF2B5EF4-FFF2-40B4-BE49-F238E27FC236}">
                <a16:creationId xmlns:a16="http://schemas.microsoft.com/office/drawing/2014/main" id="{782BEDBF-4D8E-F22A-28CA-D905F7D96CEC}"/>
              </a:ext>
            </a:extLst>
          </p:cNvPr>
          <p:cNvSpPr txBox="1">
            <a:spLocks/>
          </p:cNvSpPr>
          <p:nvPr/>
        </p:nvSpPr>
        <p:spPr>
          <a:xfrm>
            <a:off x="1275193" y="1732860"/>
            <a:ext cx="9784080" cy="323044"/>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4000" kern="1200" cap="all" baseline="0">
                <a:solidFill>
                  <a:schemeClr val="bg2"/>
                </a:solidFill>
                <a:latin typeface="+mj-lt"/>
                <a:ea typeface="+mj-ea"/>
                <a:cs typeface="+mj-cs"/>
              </a:defRPr>
            </a:lvl1pPr>
          </a:lstStyle>
          <a:p>
            <a:r>
              <a:rPr lang="fr-FR" sz="1200" dirty="0">
                <a:solidFill>
                  <a:schemeClr val="tx2">
                    <a:lumMod val="10000"/>
                  </a:schemeClr>
                </a:solidFill>
              </a:rPr>
              <a:t>Table  Emplacement</a:t>
            </a:r>
          </a:p>
        </p:txBody>
      </p:sp>
      <p:graphicFrame>
        <p:nvGraphicFramePr>
          <p:cNvPr id="11" name="Espace réservé du contenu 3">
            <a:extLst>
              <a:ext uri="{FF2B5EF4-FFF2-40B4-BE49-F238E27FC236}">
                <a16:creationId xmlns:a16="http://schemas.microsoft.com/office/drawing/2014/main" id="{F49B35C8-50EC-1964-D43A-6CB0D1C05607}"/>
              </a:ext>
            </a:extLst>
          </p:cNvPr>
          <p:cNvGraphicFramePr>
            <a:graphicFrameLocks/>
          </p:cNvGraphicFramePr>
          <p:nvPr>
            <p:extLst>
              <p:ext uri="{D42A27DB-BD31-4B8C-83A1-F6EECF244321}">
                <p14:modId xmlns:p14="http://schemas.microsoft.com/office/powerpoint/2010/main" val="411683646"/>
              </p:ext>
            </p:extLst>
          </p:nvPr>
        </p:nvGraphicFramePr>
        <p:xfrm>
          <a:off x="1383681" y="3549246"/>
          <a:ext cx="8400081" cy="1296816"/>
        </p:xfrm>
        <a:graphic>
          <a:graphicData uri="http://schemas.openxmlformats.org/drawingml/2006/table">
            <a:tbl>
              <a:tblPr firstRow="1" firstCol="1" bandRow="1">
                <a:tableStyleId>{5C22544A-7EE6-4342-B048-85BDC9FD1C3A}</a:tableStyleId>
              </a:tblPr>
              <a:tblGrid>
                <a:gridCol w="1234048">
                  <a:extLst>
                    <a:ext uri="{9D8B030D-6E8A-4147-A177-3AD203B41FA5}">
                      <a16:colId xmlns:a16="http://schemas.microsoft.com/office/drawing/2014/main" val="842503426"/>
                    </a:ext>
                  </a:extLst>
                </a:gridCol>
                <a:gridCol w="1234048">
                  <a:extLst>
                    <a:ext uri="{9D8B030D-6E8A-4147-A177-3AD203B41FA5}">
                      <a16:colId xmlns:a16="http://schemas.microsoft.com/office/drawing/2014/main" val="4221350816"/>
                    </a:ext>
                  </a:extLst>
                </a:gridCol>
                <a:gridCol w="2590299">
                  <a:extLst>
                    <a:ext uri="{9D8B030D-6E8A-4147-A177-3AD203B41FA5}">
                      <a16:colId xmlns:a16="http://schemas.microsoft.com/office/drawing/2014/main" val="1731659934"/>
                    </a:ext>
                  </a:extLst>
                </a:gridCol>
                <a:gridCol w="1315282">
                  <a:extLst>
                    <a:ext uri="{9D8B030D-6E8A-4147-A177-3AD203B41FA5}">
                      <a16:colId xmlns:a16="http://schemas.microsoft.com/office/drawing/2014/main" val="3830548918"/>
                    </a:ext>
                  </a:extLst>
                </a:gridCol>
                <a:gridCol w="2026404">
                  <a:extLst>
                    <a:ext uri="{9D8B030D-6E8A-4147-A177-3AD203B41FA5}">
                      <a16:colId xmlns:a16="http://schemas.microsoft.com/office/drawing/2014/main" val="2495977261"/>
                    </a:ext>
                  </a:extLst>
                </a:gridCol>
              </a:tblGrid>
              <a:tr h="154928">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Propriété</a:t>
                      </a:r>
                    </a:p>
                  </a:txBody>
                  <a:tcPr marL="32195" marR="32195" marT="0" marB="0"/>
                </a:tc>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Type</a:t>
                      </a:r>
                    </a:p>
                  </a:txBody>
                  <a:tcPr marL="32195" marR="32195" marT="0" marB="0"/>
                </a:tc>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Description</a:t>
                      </a:r>
                    </a:p>
                  </a:txBody>
                  <a:tcPr marL="32195" marR="32195" marT="0" marB="0"/>
                </a:tc>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Entité</a:t>
                      </a:r>
                    </a:p>
                  </a:txBody>
                  <a:tcPr marL="32195" marR="32195" marT="0" marB="0" anchor="ctr"/>
                </a:tc>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Observation</a:t>
                      </a:r>
                    </a:p>
                  </a:txBody>
                  <a:tcPr marL="32195" marR="32195" marT="0" marB="0"/>
                </a:tc>
                <a:extLst>
                  <a:ext uri="{0D108BD9-81ED-4DB2-BD59-A6C34878D82A}">
                    <a16:rowId xmlns:a16="http://schemas.microsoft.com/office/drawing/2014/main" val="2076792558"/>
                  </a:ext>
                </a:extLst>
              </a:tr>
              <a:tr h="309855">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id_lot</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NUMÉRIQUE</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Identifiant de Lot</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rowSpan="4">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Lot</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Identifiant unique</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1086001364"/>
                  </a:ext>
                </a:extLst>
              </a:tr>
              <a:tr h="268027">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date_fabrication</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Date</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Date de fabrication</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tc>
                <a:tc vMerge="1">
                  <a:txBody>
                    <a:bodyPr/>
                    <a:lstStyle/>
                    <a:p>
                      <a:endParaRPr lang="fr-FR"/>
                    </a:p>
                  </a:txBody>
                  <a:tcPr/>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Datetime</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2494216591"/>
                  </a:ext>
                </a:extLst>
              </a:tr>
              <a:tr h="268027">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date_peremption</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Date</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Date de peremption</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vMerge="1">
                  <a:txBody>
                    <a:bodyPr/>
                    <a:lstStyle/>
                    <a:p>
                      <a:endParaRPr lang="fr-FR"/>
                    </a:p>
                  </a:txBody>
                  <a:tcPr/>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Datetime</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3207997279"/>
                  </a:ext>
                </a:extLst>
              </a:tr>
              <a:tr h="268027">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id_produit</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NUMÉRIQUE</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Identifiant unique de produit</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vMerge="1">
                  <a:txBody>
                    <a:bodyPr/>
                    <a:lstStyle/>
                    <a:p>
                      <a:endParaRPr lang="fr-FR"/>
                    </a:p>
                  </a:txBody>
                  <a:tcPr/>
                </a:tc>
                <a:tc>
                  <a:txBody>
                    <a:bodyPr/>
                    <a:lstStyle/>
                    <a:p>
                      <a:pPr algn="ctr">
                        <a:buNone/>
                      </a:pPr>
                      <a:r>
                        <a:rPr lang="fr-FR" sz="1200" b="0" u="none" strike="noStrike"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Identifiant unique</a:t>
                      </a:r>
                      <a:endParaRPr lang="fr-FR" sz="1800" b="0"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1335902296"/>
                  </a:ext>
                </a:extLst>
              </a:tr>
            </a:tbl>
          </a:graphicData>
        </a:graphic>
      </p:graphicFrame>
      <p:sp>
        <p:nvSpPr>
          <p:cNvPr id="13" name="Titre 1">
            <a:extLst>
              <a:ext uri="{FF2B5EF4-FFF2-40B4-BE49-F238E27FC236}">
                <a16:creationId xmlns:a16="http://schemas.microsoft.com/office/drawing/2014/main" id="{DFEF9C3C-C06C-81E8-46DB-3890009D6FCD}"/>
              </a:ext>
            </a:extLst>
          </p:cNvPr>
          <p:cNvSpPr txBox="1">
            <a:spLocks/>
          </p:cNvSpPr>
          <p:nvPr/>
        </p:nvSpPr>
        <p:spPr>
          <a:xfrm>
            <a:off x="1275193" y="3181557"/>
            <a:ext cx="9784080" cy="323044"/>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4000" kern="1200" cap="all" baseline="0">
                <a:solidFill>
                  <a:schemeClr val="bg2"/>
                </a:solidFill>
                <a:latin typeface="+mj-lt"/>
                <a:ea typeface="+mj-ea"/>
                <a:cs typeface="+mj-cs"/>
              </a:defRPr>
            </a:lvl1pPr>
          </a:lstStyle>
          <a:p>
            <a:r>
              <a:rPr lang="fr-FR" sz="1200" dirty="0">
                <a:solidFill>
                  <a:schemeClr val="tx2">
                    <a:lumMod val="10000"/>
                  </a:schemeClr>
                </a:solidFill>
              </a:rPr>
              <a:t>Table  Lot</a:t>
            </a:r>
          </a:p>
        </p:txBody>
      </p:sp>
      <p:graphicFrame>
        <p:nvGraphicFramePr>
          <p:cNvPr id="15" name="Espace réservé du contenu 3">
            <a:extLst>
              <a:ext uri="{FF2B5EF4-FFF2-40B4-BE49-F238E27FC236}">
                <a16:creationId xmlns:a16="http://schemas.microsoft.com/office/drawing/2014/main" id="{CCC8A402-D2D3-651F-0C83-A362ABD25F1A}"/>
              </a:ext>
            </a:extLst>
          </p:cNvPr>
          <p:cNvGraphicFramePr>
            <a:graphicFrameLocks/>
          </p:cNvGraphicFramePr>
          <p:nvPr>
            <p:extLst>
              <p:ext uri="{D42A27DB-BD31-4B8C-83A1-F6EECF244321}">
                <p14:modId xmlns:p14="http://schemas.microsoft.com/office/powerpoint/2010/main" val="2804977815"/>
              </p:ext>
            </p:extLst>
          </p:nvPr>
        </p:nvGraphicFramePr>
        <p:xfrm>
          <a:off x="1383681" y="5277021"/>
          <a:ext cx="8400081" cy="760762"/>
        </p:xfrm>
        <a:graphic>
          <a:graphicData uri="http://schemas.openxmlformats.org/drawingml/2006/table">
            <a:tbl>
              <a:tblPr firstRow="1" firstCol="1" bandRow="1">
                <a:tableStyleId>{5C22544A-7EE6-4342-B048-85BDC9FD1C3A}</a:tableStyleId>
              </a:tblPr>
              <a:tblGrid>
                <a:gridCol w="1234048">
                  <a:extLst>
                    <a:ext uri="{9D8B030D-6E8A-4147-A177-3AD203B41FA5}">
                      <a16:colId xmlns:a16="http://schemas.microsoft.com/office/drawing/2014/main" val="842503426"/>
                    </a:ext>
                  </a:extLst>
                </a:gridCol>
                <a:gridCol w="1234048">
                  <a:extLst>
                    <a:ext uri="{9D8B030D-6E8A-4147-A177-3AD203B41FA5}">
                      <a16:colId xmlns:a16="http://schemas.microsoft.com/office/drawing/2014/main" val="4221350816"/>
                    </a:ext>
                  </a:extLst>
                </a:gridCol>
                <a:gridCol w="2590299">
                  <a:extLst>
                    <a:ext uri="{9D8B030D-6E8A-4147-A177-3AD203B41FA5}">
                      <a16:colId xmlns:a16="http://schemas.microsoft.com/office/drawing/2014/main" val="1731659934"/>
                    </a:ext>
                  </a:extLst>
                </a:gridCol>
                <a:gridCol w="1315282">
                  <a:extLst>
                    <a:ext uri="{9D8B030D-6E8A-4147-A177-3AD203B41FA5}">
                      <a16:colId xmlns:a16="http://schemas.microsoft.com/office/drawing/2014/main" val="3830548918"/>
                    </a:ext>
                  </a:extLst>
                </a:gridCol>
                <a:gridCol w="2026404">
                  <a:extLst>
                    <a:ext uri="{9D8B030D-6E8A-4147-A177-3AD203B41FA5}">
                      <a16:colId xmlns:a16="http://schemas.microsoft.com/office/drawing/2014/main" val="2495977261"/>
                    </a:ext>
                  </a:extLst>
                </a:gridCol>
              </a:tblGrid>
              <a:tr h="154928">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Propriété</a:t>
                      </a:r>
                    </a:p>
                  </a:txBody>
                  <a:tcPr marL="32195" marR="32195" marT="0" marB="0"/>
                </a:tc>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Type</a:t>
                      </a:r>
                    </a:p>
                  </a:txBody>
                  <a:tcPr marL="32195" marR="32195" marT="0" marB="0"/>
                </a:tc>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Description</a:t>
                      </a:r>
                    </a:p>
                  </a:txBody>
                  <a:tcPr marL="32195" marR="32195" marT="0" marB="0"/>
                </a:tc>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Entité</a:t>
                      </a:r>
                    </a:p>
                  </a:txBody>
                  <a:tcPr marL="32195" marR="32195" marT="0" marB="0" anchor="ctr"/>
                </a:tc>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Observation</a:t>
                      </a:r>
                    </a:p>
                  </a:txBody>
                  <a:tcPr marL="32195" marR="32195" marT="0" marB="0"/>
                </a:tc>
                <a:extLst>
                  <a:ext uri="{0D108BD9-81ED-4DB2-BD59-A6C34878D82A}">
                    <a16:rowId xmlns:a16="http://schemas.microsoft.com/office/drawing/2014/main" val="2076792558"/>
                  </a:ext>
                </a:extLst>
              </a:tr>
              <a:tr h="309855">
                <a:tc>
                  <a:txBody>
                    <a:bodyPr/>
                    <a:lstStyle/>
                    <a:p>
                      <a:pPr algn="ctr">
                        <a:buNone/>
                      </a:pPr>
                      <a:r>
                        <a:rPr lang="fr-FR" sz="1200" b="1"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id_role</a:t>
                      </a:r>
                      <a:endParaRPr lang="fr-FR" sz="18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1"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NUMÉRIQUE</a:t>
                      </a:r>
                      <a:endParaRPr lang="fr-FR" sz="18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1"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Identifiant de role</a:t>
                      </a:r>
                      <a:endParaRPr lang="fr-FR" sz="18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rowSpan="2">
                  <a:txBody>
                    <a:bodyPr/>
                    <a:lstStyle/>
                    <a:p>
                      <a:pPr algn="ctr">
                        <a:buNone/>
                      </a:pPr>
                      <a:r>
                        <a:rPr lang="fr-FR" sz="1200" b="1"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Role</a:t>
                      </a:r>
                      <a:endParaRPr lang="fr-FR" sz="18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tc>
                <a:tc>
                  <a:txBody>
                    <a:bodyPr/>
                    <a:lstStyle/>
                    <a:p>
                      <a:pPr algn="ctr">
                        <a:buNone/>
                      </a:pPr>
                      <a:r>
                        <a:rPr lang="fr-FR" sz="1200" b="1"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Identifiant unique</a:t>
                      </a:r>
                      <a:endParaRPr lang="fr-FR" sz="18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1086001364"/>
                  </a:ext>
                </a:extLst>
              </a:tr>
              <a:tr h="268027">
                <a:tc>
                  <a:txBody>
                    <a:bodyPr/>
                    <a:lstStyle/>
                    <a:p>
                      <a:pPr algn="ctr">
                        <a:buNone/>
                      </a:pPr>
                      <a:r>
                        <a:rPr lang="fr-FR" sz="1200" b="1"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libelle</a:t>
                      </a:r>
                      <a:endParaRPr lang="fr-FR" sz="18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1"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TEXTE</a:t>
                      </a:r>
                      <a:endParaRPr lang="fr-FR" sz="18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1"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Nom de role</a:t>
                      </a:r>
                      <a:endParaRPr lang="fr-FR" sz="18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vMerge="1">
                  <a:txBody>
                    <a:bodyPr/>
                    <a:lstStyle/>
                    <a:p>
                      <a:endParaRPr lang="fr-FR"/>
                    </a:p>
                  </a:txBody>
                  <a:tcPr/>
                </a:tc>
                <a:tc>
                  <a:txBody>
                    <a:bodyPr/>
                    <a:lstStyle/>
                    <a:p>
                      <a:pPr algn="ctr">
                        <a:buNone/>
                      </a:pPr>
                      <a:r>
                        <a:rPr lang="fr-FR" sz="1200" b="1" u="none" strike="noStrike"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endParaRPr lang="fr-FR" sz="18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2494216591"/>
                  </a:ext>
                </a:extLst>
              </a:tr>
            </a:tbl>
          </a:graphicData>
        </a:graphic>
      </p:graphicFrame>
      <p:sp>
        <p:nvSpPr>
          <p:cNvPr id="17" name="Titre 1">
            <a:extLst>
              <a:ext uri="{FF2B5EF4-FFF2-40B4-BE49-F238E27FC236}">
                <a16:creationId xmlns:a16="http://schemas.microsoft.com/office/drawing/2014/main" id="{4FABE485-EA16-D5D3-36E9-67A5A04B84BD}"/>
              </a:ext>
            </a:extLst>
          </p:cNvPr>
          <p:cNvSpPr txBox="1">
            <a:spLocks/>
          </p:cNvSpPr>
          <p:nvPr/>
        </p:nvSpPr>
        <p:spPr>
          <a:xfrm>
            <a:off x="1275193" y="4909332"/>
            <a:ext cx="9784080" cy="323044"/>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4000" kern="1200" cap="all" baseline="0">
                <a:solidFill>
                  <a:schemeClr val="bg2"/>
                </a:solidFill>
                <a:latin typeface="+mj-lt"/>
                <a:ea typeface="+mj-ea"/>
                <a:cs typeface="+mj-cs"/>
              </a:defRPr>
            </a:lvl1pPr>
          </a:lstStyle>
          <a:p>
            <a:r>
              <a:rPr lang="fr-FR" sz="1200" dirty="0">
                <a:solidFill>
                  <a:schemeClr val="tx2">
                    <a:lumMod val="10000"/>
                  </a:schemeClr>
                </a:solidFill>
              </a:rPr>
              <a:t>Table  </a:t>
            </a:r>
            <a:r>
              <a:rPr lang="fr-FR" sz="1200" dirty="0" err="1">
                <a:solidFill>
                  <a:schemeClr val="tx2">
                    <a:lumMod val="10000"/>
                  </a:schemeClr>
                </a:solidFill>
              </a:rPr>
              <a:t>role</a:t>
            </a:r>
            <a:endParaRPr lang="fr-FR" sz="1200" dirty="0">
              <a:solidFill>
                <a:schemeClr val="tx2">
                  <a:lumMod val="10000"/>
                </a:schemeClr>
              </a:solidFill>
            </a:endParaRPr>
          </a:p>
        </p:txBody>
      </p:sp>
    </p:spTree>
    <p:extLst>
      <p:ext uri="{BB962C8B-B14F-4D97-AF65-F5344CB8AC3E}">
        <p14:creationId xmlns:p14="http://schemas.microsoft.com/office/powerpoint/2010/main" val="12202137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Espace réservé du contenu 3">
            <a:extLst>
              <a:ext uri="{FF2B5EF4-FFF2-40B4-BE49-F238E27FC236}">
                <a16:creationId xmlns:a16="http://schemas.microsoft.com/office/drawing/2014/main" id="{C42B5499-A6EE-9DD6-D103-35C2F0A939A4}"/>
              </a:ext>
            </a:extLst>
          </p:cNvPr>
          <p:cNvGraphicFramePr>
            <a:graphicFrameLocks/>
          </p:cNvGraphicFramePr>
          <p:nvPr>
            <p:extLst>
              <p:ext uri="{D42A27DB-BD31-4B8C-83A1-F6EECF244321}">
                <p14:modId xmlns:p14="http://schemas.microsoft.com/office/powerpoint/2010/main" val="3416023709"/>
              </p:ext>
            </p:extLst>
          </p:nvPr>
        </p:nvGraphicFramePr>
        <p:xfrm>
          <a:off x="1383682" y="607207"/>
          <a:ext cx="8400081" cy="1832870"/>
        </p:xfrm>
        <a:graphic>
          <a:graphicData uri="http://schemas.openxmlformats.org/drawingml/2006/table">
            <a:tbl>
              <a:tblPr firstRow="1" firstCol="1" bandRow="1">
                <a:tableStyleId>{5C22544A-7EE6-4342-B048-85BDC9FD1C3A}</a:tableStyleId>
              </a:tblPr>
              <a:tblGrid>
                <a:gridCol w="1234048">
                  <a:extLst>
                    <a:ext uri="{9D8B030D-6E8A-4147-A177-3AD203B41FA5}">
                      <a16:colId xmlns:a16="http://schemas.microsoft.com/office/drawing/2014/main" val="842503426"/>
                    </a:ext>
                  </a:extLst>
                </a:gridCol>
                <a:gridCol w="1234048">
                  <a:extLst>
                    <a:ext uri="{9D8B030D-6E8A-4147-A177-3AD203B41FA5}">
                      <a16:colId xmlns:a16="http://schemas.microsoft.com/office/drawing/2014/main" val="4221350816"/>
                    </a:ext>
                  </a:extLst>
                </a:gridCol>
                <a:gridCol w="2590299">
                  <a:extLst>
                    <a:ext uri="{9D8B030D-6E8A-4147-A177-3AD203B41FA5}">
                      <a16:colId xmlns:a16="http://schemas.microsoft.com/office/drawing/2014/main" val="1731659934"/>
                    </a:ext>
                  </a:extLst>
                </a:gridCol>
                <a:gridCol w="1315282">
                  <a:extLst>
                    <a:ext uri="{9D8B030D-6E8A-4147-A177-3AD203B41FA5}">
                      <a16:colId xmlns:a16="http://schemas.microsoft.com/office/drawing/2014/main" val="3830548918"/>
                    </a:ext>
                  </a:extLst>
                </a:gridCol>
                <a:gridCol w="2026404">
                  <a:extLst>
                    <a:ext uri="{9D8B030D-6E8A-4147-A177-3AD203B41FA5}">
                      <a16:colId xmlns:a16="http://schemas.microsoft.com/office/drawing/2014/main" val="2495977261"/>
                    </a:ext>
                  </a:extLst>
                </a:gridCol>
              </a:tblGrid>
              <a:tr h="154928">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Propriété</a:t>
                      </a:r>
                    </a:p>
                  </a:txBody>
                  <a:tcPr marL="32195" marR="32195" marT="0" marB="0"/>
                </a:tc>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Type</a:t>
                      </a:r>
                    </a:p>
                  </a:txBody>
                  <a:tcPr marL="32195" marR="32195" marT="0" marB="0"/>
                </a:tc>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Description</a:t>
                      </a:r>
                    </a:p>
                  </a:txBody>
                  <a:tcPr marL="32195" marR="32195" marT="0" marB="0"/>
                </a:tc>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Entité</a:t>
                      </a:r>
                    </a:p>
                  </a:txBody>
                  <a:tcPr marL="32195" marR="32195" marT="0" marB="0" anchor="ctr"/>
                </a:tc>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Observation</a:t>
                      </a:r>
                    </a:p>
                  </a:txBody>
                  <a:tcPr marL="32195" marR="32195" marT="0" marB="0"/>
                </a:tc>
                <a:extLst>
                  <a:ext uri="{0D108BD9-81ED-4DB2-BD59-A6C34878D82A}">
                    <a16:rowId xmlns:a16="http://schemas.microsoft.com/office/drawing/2014/main" val="2076792558"/>
                  </a:ext>
                </a:extLst>
              </a:tr>
              <a:tr h="309855">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id_invenaire</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NUMÉRIQUE</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Identifiant de L’inventaire</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rowSpan="6">
                  <a:txBody>
                    <a:bodyPr/>
                    <a:lstStyle/>
                    <a:p>
                      <a:pPr algn="ctr">
                        <a:buNone/>
                      </a:pPr>
                      <a:r>
                        <a:rPr lang="fr-FR" sz="1200" b="0" u="none" strike="noStrike"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endParaRPr lang="fr-FR" sz="1800" b="0"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p>
                      <a:pPr algn="ctr">
                        <a:buNone/>
                      </a:pPr>
                      <a:r>
                        <a:rPr lang="fr-FR" sz="1200" b="0" u="none" strike="noStrike"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endParaRPr lang="fr-FR" sz="1800" b="0"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p>
                      <a:pPr algn="ctr">
                        <a:buNone/>
                      </a:pPr>
                      <a:r>
                        <a:rPr lang="fr-FR" sz="1200" b="0" u="none" strike="noStrike"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endParaRPr lang="fr-FR" sz="1800" b="0"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p>
                      <a:pPr algn="ctr">
                        <a:buNone/>
                      </a:pPr>
                      <a:r>
                        <a:rPr lang="fr-FR" sz="1200" b="0" u="none" strike="noStrike"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endParaRPr lang="fr-FR" sz="1800" b="0"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p>
                      <a:pPr algn="ctr">
                        <a:buNone/>
                      </a:pPr>
                      <a:r>
                        <a:rPr lang="fr-FR" sz="1200" b="0" u="none" strike="noStrike"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inventaire</a:t>
                      </a:r>
                    </a:p>
                    <a:p>
                      <a:pPr algn="ctr">
                        <a:buNone/>
                      </a:pPr>
                      <a:r>
                        <a:rPr lang="fr-FR" sz="1200" b="0" u="none" strike="noStrike" dirty="0">
                          <a:effectLst/>
                          <a:uFill>
                            <a:solidFill>
                              <a:srgbClr val="000000"/>
                            </a:solidFill>
                          </a:uFill>
                          <a:latin typeface="Times New Roman" panose="02020603050405020304" pitchFamily="18" charset="0"/>
                          <a:cs typeface="Times New Roman" panose="02020603050405020304" pitchFamily="18" charset="0"/>
                        </a:rPr>
                        <a:t> </a:t>
                      </a:r>
                      <a:endParaRPr lang="fr-FR" sz="1800" b="0" u="sng" dirty="0">
                        <a:effectLst/>
                        <a:uFill>
                          <a:solidFill>
                            <a:srgbClr val="000000"/>
                          </a:solidFill>
                        </a:uFill>
                        <a:latin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Identifiant unique</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1086001364"/>
                  </a:ext>
                </a:extLst>
              </a:tr>
              <a:tr h="268027">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date_ invenaire</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Date</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Date de L’inventaire</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tc>
                <a:tc vMerge="1">
                  <a:txBody>
                    <a:bodyPr/>
                    <a:lstStyle/>
                    <a:p>
                      <a:endParaRPr lang="fr-FR"/>
                    </a:p>
                  </a:txBody>
                  <a:tcPr/>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Datetime</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2494216591"/>
                  </a:ext>
                </a:extLst>
              </a:tr>
              <a:tr h="268027">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id_entrepot</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NUMÉRIQUE</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Identifiant d’emplacement</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vMerge="1">
                  <a:txBody>
                    <a:bodyPr/>
                    <a:lstStyle/>
                    <a:p>
                      <a:endParaRPr lang="fr-FR"/>
                    </a:p>
                  </a:txBody>
                  <a:tcPr/>
                </a:tc>
                <a:tc>
                  <a:txBody>
                    <a:bodyPr/>
                    <a:lstStyle/>
                    <a:p>
                      <a:pPr algn="ctr">
                        <a:buNone/>
                      </a:pPr>
                      <a:r>
                        <a:rPr lang="fr-FR" sz="1200" b="0" u="none" strike="noStrike"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Identifiant unique</a:t>
                      </a:r>
                      <a:endParaRPr lang="fr-FR" sz="1800" b="0"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3207997279"/>
                  </a:ext>
                </a:extLst>
              </a:tr>
              <a:tr h="268027">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id_utilisateur</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NUMÉRIQUE</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Identifiant de l’utilisateur</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vMerge="1">
                  <a:txBody>
                    <a:bodyPr/>
                    <a:lstStyle/>
                    <a:p>
                      <a:endParaRPr dirty="0"/>
                    </a:p>
                  </a:txBody>
                  <a:tcPr marL="68580" marR="68580" marT="0" marB="0" anchor="ctr"/>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3475416075"/>
                  </a:ext>
                </a:extLst>
              </a:tr>
              <a:tr h="268027">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id_produit</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NUMÉRIQUE</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Identifiant unique de produit</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vMerge="1">
                  <a:txBody>
                    <a:bodyPr/>
                    <a:lstStyle/>
                    <a:p>
                      <a:endParaRPr lang="fr-FR"/>
                    </a:p>
                  </a:txBody>
                  <a:tcPr/>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Identifiant unique</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2782703814"/>
                  </a:ext>
                </a:extLst>
              </a:tr>
              <a:tr h="268027">
                <a:tc>
                  <a:txBody>
                    <a:bodyPr/>
                    <a:lstStyle/>
                    <a:p>
                      <a:pPr algn="ctr">
                        <a:buNone/>
                      </a:pPr>
                      <a:r>
                        <a:rPr lang="fr-FR" sz="1200" b="0" u="none" strike="noStrike"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remarque</a:t>
                      </a:r>
                      <a:endParaRPr lang="fr-FR" sz="1800" b="0"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TEXTE</a:t>
                      </a:r>
                      <a:endParaRPr lang="fr-FR" sz="1800" b="0"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Quantite réelle en stock</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vMerge="1">
                  <a:txBody>
                    <a:bodyPr/>
                    <a:lstStyle/>
                    <a:p>
                      <a:endParaRPr lang="fr-FR"/>
                    </a:p>
                  </a:txBody>
                  <a:tcPr/>
                </a:tc>
                <a:tc>
                  <a:txBody>
                    <a:bodyPr/>
                    <a:lstStyle/>
                    <a:p>
                      <a:pPr algn="ctr">
                        <a:buNone/>
                      </a:pPr>
                      <a:r>
                        <a:rPr lang="fr-FR" sz="1200" b="0" u="none" strike="noStrike"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endParaRPr lang="fr-FR" sz="1800" b="0"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3329346535"/>
                  </a:ext>
                </a:extLst>
              </a:tr>
            </a:tbl>
          </a:graphicData>
        </a:graphic>
      </p:graphicFrame>
      <p:sp>
        <p:nvSpPr>
          <p:cNvPr id="5" name="Titre 1">
            <a:extLst>
              <a:ext uri="{FF2B5EF4-FFF2-40B4-BE49-F238E27FC236}">
                <a16:creationId xmlns:a16="http://schemas.microsoft.com/office/drawing/2014/main" id="{597FD289-4F46-1494-C3B0-4687E7BF94B2}"/>
              </a:ext>
            </a:extLst>
          </p:cNvPr>
          <p:cNvSpPr txBox="1">
            <a:spLocks/>
          </p:cNvSpPr>
          <p:nvPr/>
        </p:nvSpPr>
        <p:spPr>
          <a:xfrm>
            <a:off x="1275193" y="284163"/>
            <a:ext cx="9784080" cy="323044"/>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4000" kern="1200" cap="all" baseline="0">
                <a:solidFill>
                  <a:schemeClr val="bg2"/>
                </a:solidFill>
                <a:latin typeface="+mj-lt"/>
                <a:ea typeface="+mj-ea"/>
                <a:cs typeface="+mj-cs"/>
              </a:defRPr>
            </a:lvl1pPr>
          </a:lstStyle>
          <a:p>
            <a:r>
              <a:rPr lang="fr-FR" sz="1200" dirty="0">
                <a:solidFill>
                  <a:schemeClr val="tx2">
                    <a:lumMod val="10000"/>
                  </a:schemeClr>
                </a:solidFill>
              </a:rPr>
              <a:t>Table  Inventaire</a:t>
            </a:r>
          </a:p>
        </p:txBody>
      </p:sp>
      <p:graphicFrame>
        <p:nvGraphicFramePr>
          <p:cNvPr id="7" name="Espace réservé du contenu 3">
            <a:extLst>
              <a:ext uri="{FF2B5EF4-FFF2-40B4-BE49-F238E27FC236}">
                <a16:creationId xmlns:a16="http://schemas.microsoft.com/office/drawing/2014/main" id="{9853CED8-298F-CD68-DF57-6CBC2355FE6D}"/>
              </a:ext>
            </a:extLst>
          </p:cNvPr>
          <p:cNvGraphicFramePr>
            <a:graphicFrameLocks/>
          </p:cNvGraphicFramePr>
          <p:nvPr>
            <p:extLst>
              <p:ext uri="{D42A27DB-BD31-4B8C-83A1-F6EECF244321}">
                <p14:modId xmlns:p14="http://schemas.microsoft.com/office/powerpoint/2010/main" val="2656183401"/>
              </p:ext>
            </p:extLst>
          </p:nvPr>
        </p:nvGraphicFramePr>
        <p:xfrm>
          <a:off x="1383681" y="2804246"/>
          <a:ext cx="8523981" cy="1028789"/>
        </p:xfrm>
        <a:graphic>
          <a:graphicData uri="http://schemas.openxmlformats.org/drawingml/2006/table">
            <a:tbl>
              <a:tblPr firstRow="1" firstCol="1" bandRow="1">
                <a:tableStyleId>{5C22544A-7EE6-4342-B048-85BDC9FD1C3A}</a:tableStyleId>
              </a:tblPr>
              <a:tblGrid>
                <a:gridCol w="1357948">
                  <a:extLst>
                    <a:ext uri="{9D8B030D-6E8A-4147-A177-3AD203B41FA5}">
                      <a16:colId xmlns:a16="http://schemas.microsoft.com/office/drawing/2014/main" val="842503426"/>
                    </a:ext>
                  </a:extLst>
                </a:gridCol>
                <a:gridCol w="1234048">
                  <a:extLst>
                    <a:ext uri="{9D8B030D-6E8A-4147-A177-3AD203B41FA5}">
                      <a16:colId xmlns:a16="http://schemas.microsoft.com/office/drawing/2014/main" val="4221350816"/>
                    </a:ext>
                  </a:extLst>
                </a:gridCol>
                <a:gridCol w="2590299">
                  <a:extLst>
                    <a:ext uri="{9D8B030D-6E8A-4147-A177-3AD203B41FA5}">
                      <a16:colId xmlns:a16="http://schemas.microsoft.com/office/drawing/2014/main" val="1731659934"/>
                    </a:ext>
                  </a:extLst>
                </a:gridCol>
                <a:gridCol w="1315282">
                  <a:extLst>
                    <a:ext uri="{9D8B030D-6E8A-4147-A177-3AD203B41FA5}">
                      <a16:colId xmlns:a16="http://schemas.microsoft.com/office/drawing/2014/main" val="3830548918"/>
                    </a:ext>
                  </a:extLst>
                </a:gridCol>
                <a:gridCol w="2026404">
                  <a:extLst>
                    <a:ext uri="{9D8B030D-6E8A-4147-A177-3AD203B41FA5}">
                      <a16:colId xmlns:a16="http://schemas.microsoft.com/office/drawing/2014/main" val="2495977261"/>
                    </a:ext>
                  </a:extLst>
                </a:gridCol>
              </a:tblGrid>
              <a:tr h="154928">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Propriété</a:t>
                      </a:r>
                    </a:p>
                  </a:txBody>
                  <a:tcPr marL="32195" marR="32195" marT="0" marB="0"/>
                </a:tc>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Type</a:t>
                      </a:r>
                    </a:p>
                  </a:txBody>
                  <a:tcPr marL="32195" marR="32195" marT="0" marB="0"/>
                </a:tc>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Description</a:t>
                      </a:r>
                    </a:p>
                  </a:txBody>
                  <a:tcPr marL="32195" marR="32195" marT="0" marB="0"/>
                </a:tc>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Entité</a:t>
                      </a:r>
                    </a:p>
                  </a:txBody>
                  <a:tcPr marL="32195" marR="32195" marT="0" marB="0" anchor="ctr"/>
                </a:tc>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Observation</a:t>
                      </a:r>
                    </a:p>
                  </a:txBody>
                  <a:tcPr marL="32195" marR="32195" marT="0" marB="0"/>
                </a:tc>
                <a:extLst>
                  <a:ext uri="{0D108BD9-81ED-4DB2-BD59-A6C34878D82A}">
                    <a16:rowId xmlns:a16="http://schemas.microsoft.com/office/drawing/2014/main" val="2076792558"/>
                  </a:ext>
                </a:extLst>
              </a:tr>
              <a:tr h="309855">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id_bon_Livraison</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NUMÉRIQUE</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Identifiant de la Livraison</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rowSpan="3">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Bon_Livraison</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Identifiant unique</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1086001364"/>
                  </a:ext>
                </a:extLst>
              </a:tr>
              <a:tr h="268027">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date_ Livraison</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Date</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Date de La livraison</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tc>
                <a:tc vMerge="1">
                  <a:txBody>
                    <a:bodyPr/>
                    <a:lstStyle/>
                    <a:p>
                      <a:endParaRPr lang="fr-FR"/>
                    </a:p>
                  </a:txBody>
                  <a:tcPr/>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Datetime</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2494216591"/>
                  </a:ext>
                </a:extLst>
              </a:tr>
              <a:tr h="268027">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adresse</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TEXTE</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Adresse de La livraison</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vMerge="1">
                  <a:txBody>
                    <a:bodyPr/>
                    <a:lstStyle/>
                    <a:p>
                      <a:endParaRPr lang="fr-FR"/>
                    </a:p>
                  </a:txBody>
                  <a:tcPr/>
                </a:tc>
                <a:tc>
                  <a:txBody>
                    <a:bodyPr/>
                    <a:lstStyle/>
                    <a:p>
                      <a:pPr algn="ctr">
                        <a:buNone/>
                      </a:pPr>
                      <a:r>
                        <a:rPr lang="fr-FR" sz="1200" b="0" u="none" strike="noStrike"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Localisation</a:t>
                      </a:r>
                      <a:endParaRPr lang="fr-FR" sz="1800" b="0"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3207997279"/>
                  </a:ext>
                </a:extLst>
              </a:tr>
            </a:tbl>
          </a:graphicData>
        </a:graphic>
      </p:graphicFrame>
      <p:sp>
        <p:nvSpPr>
          <p:cNvPr id="9" name="Titre 1">
            <a:extLst>
              <a:ext uri="{FF2B5EF4-FFF2-40B4-BE49-F238E27FC236}">
                <a16:creationId xmlns:a16="http://schemas.microsoft.com/office/drawing/2014/main" id="{721C2B77-474C-DCED-3A49-FC08055D17BE}"/>
              </a:ext>
            </a:extLst>
          </p:cNvPr>
          <p:cNvSpPr txBox="1">
            <a:spLocks/>
          </p:cNvSpPr>
          <p:nvPr/>
        </p:nvSpPr>
        <p:spPr>
          <a:xfrm>
            <a:off x="1275193" y="2476779"/>
            <a:ext cx="9784080" cy="323044"/>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4000" kern="1200" cap="all" baseline="0">
                <a:solidFill>
                  <a:schemeClr val="bg2"/>
                </a:solidFill>
                <a:latin typeface="+mj-lt"/>
                <a:ea typeface="+mj-ea"/>
                <a:cs typeface="+mj-cs"/>
              </a:defRPr>
            </a:lvl1pPr>
          </a:lstStyle>
          <a:p>
            <a:r>
              <a:rPr lang="fr-FR" sz="1200" dirty="0">
                <a:solidFill>
                  <a:schemeClr val="tx2">
                    <a:lumMod val="10000"/>
                  </a:schemeClr>
                </a:solidFill>
              </a:rPr>
              <a:t>Table  </a:t>
            </a:r>
            <a:r>
              <a:rPr lang="fr-FR" sz="1200" dirty="0" err="1">
                <a:solidFill>
                  <a:schemeClr val="tx2">
                    <a:lumMod val="10000"/>
                  </a:schemeClr>
                </a:solidFill>
              </a:rPr>
              <a:t>Bon_livraison</a:t>
            </a:r>
            <a:endParaRPr lang="fr-FR" sz="1200" dirty="0">
              <a:solidFill>
                <a:schemeClr val="tx2">
                  <a:lumMod val="10000"/>
                </a:schemeClr>
              </a:solidFill>
            </a:endParaRPr>
          </a:p>
        </p:txBody>
      </p:sp>
      <p:graphicFrame>
        <p:nvGraphicFramePr>
          <p:cNvPr id="11" name="Espace réservé du contenu 3">
            <a:extLst>
              <a:ext uri="{FF2B5EF4-FFF2-40B4-BE49-F238E27FC236}">
                <a16:creationId xmlns:a16="http://schemas.microsoft.com/office/drawing/2014/main" id="{1E49B140-FC48-9FAD-E6F7-93B3B3FBD058}"/>
              </a:ext>
            </a:extLst>
          </p:cNvPr>
          <p:cNvGraphicFramePr>
            <a:graphicFrameLocks/>
          </p:cNvGraphicFramePr>
          <p:nvPr>
            <p:extLst>
              <p:ext uri="{D42A27DB-BD31-4B8C-83A1-F6EECF244321}">
                <p14:modId xmlns:p14="http://schemas.microsoft.com/office/powerpoint/2010/main" val="3389952864"/>
              </p:ext>
            </p:extLst>
          </p:nvPr>
        </p:nvGraphicFramePr>
        <p:xfrm>
          <a:off x="1383681" y="4293165"/>
          <a:ext cx="8400081" cy="1564843"/>
        </p:xfrm>
        <a:graphic>
          <a:graphicData uri="http://schemas.openxmlformats.org/drawingml/2006/table">
            <a:tbl>
              <a:tblPr firstRow="1" firstCol="1" bandRow="1">
                <a:tableStyleId>{5C22544A-7EE6-4342-B048-85BDC9FD1C3A}</a:tableStyleId>
              </a:tblPr>
              <a:tblGrid>
                <a:gridCol w="1234048">
                  <a:extLst>
                    <a:ext uri="{9D8B030D-6E8A-4147-A177-3AD203B41FA5}">
                      <a16:colId xmlns:a16="http://schemas.microsoft.com/office/drawing/2014/main" val="842503426"/>
                    </a:ext>
                  </a:extLst>
                </a:gridCol>
                <a:gridCol w="1234048">
                  <a:extLst>
                    <a:ext uri="{9D8B030D-6E8A-4147-A177-3AD203B41FA5}">
                      <a16:colId xmlns:a16="http://schemas.microsoft.com/office/drawing/2014/main" val="4221350816"/>
                    </a:ext>
                  </a:extLst>
                </a:gridCol>
                <a:gridCol w="2590299">
                  <a:extLst>
                    <a:ext uri="{9D8B030D-6E8A-4147-A177-3AD203B41FA5}">
                      <a16:colId xmlns:a16="http://schemas.microsoft.com/office/drawing/2014/main" val="1731659934"/>
                    </a:ext>
                  </a:extLst>
                </a:gridCol>
                <a:gridCol w="1315282">
                  <a:extLst>
                    <a:ext uri="{9D8B030D-6E8A-4147-A177-3AD203B41FA5}">
                      <a16:colId xmlns:a16="http://schemas.microsoft.com/office/drawing/2014/main" val="3830548918"/>
                    </a:ext>
                  </a:extLst>
                </a:gridCol>
                <a:gridCol w="2026404">
                  <a:extLst>
                    <a:ext uri="{9D8B030D-6E8A-4147-A177-3AD203B41FA5}">
                      <a16:colId xmlns:a16="http://schemas.microsoft.com/office/drawing/2014/main" val="2495977261"/>
                    </a:ext>
                  </a:extLst>
                </a:gridCol>
              </a:tblGrid>
              <a:tr h="154928">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Propriété</a:t>
                      </a:r>
                    </a:p>
                  </a:txBody>
                  <a:tcPr marL="32195" marR="32195" marT="0" marB="0"/>
                </a:tc>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Type</a:t>
                      </a:r>
                    </a:p>
                  </a:txBody>
                  <a:tcPr marL="32195" marR="32195" marT="0" marB="0"/>
                </a:tc>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Description</a:t>
                      </a:r>
                    </a:p>
                  </a:txBody>
                  <a:tcPr marL="32195" marR="32195" marT="0" marB="0"/>
                </a:tc>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Entité</a:t>
                      </a:r>
                    </a:p>
                  </a:txBody>
                  <a:tcPr marL="32195" marR="32195" marT="0" marB="0" anchor="ctr"/>
                </a:tc>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Observation</a:t>
                      </a:r>
                    </a:p>
                  </a:txBody>
                  <a:tcPr marL="32195" marR="32195" marT="0" marB="0"/>
                </a:tc>
                <a:extLst>
                  <a:ext uri="{0D108BD9-81ED-4DB2-BD59-A6C34878D82A}">
                    <a16:rowId xmlns:a16="http://schemas.microsoft.com/office/drawing/2014/main" val="2076792558"/>
                  </a:ext>
                </a:extLst>
              </a:tr>
              <a:tr h="309855">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id_utilisateur</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NUMÉRIQUE</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Identifiant de l’utilisateur</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rowSpan="5">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Utilisateur</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Identifiant unique</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1086001364"/>
                  </a:ext>
                </a:extLst>
              </a:tr>
              <a:tr h="268027">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id_role</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NUMÉRIQUE</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Identifiant de </a:t>
                      </a:r>
                      <a:r>
                        <a:rPr lang="fr-FR" sz="1200" b="0" u="none" strike="noStrike" dirty="0" err="1">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role</a:t>
                      </a:r>
                      <a:r>
                        <a:rPr lang="fr-FR" sz="1200" b="0" u="none" strike="noStrike"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de l’utilisateur</a:t>
                      </a:r>
                      <a:endParaRPr lang="fr-FR" sz="1800" b="0"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vMerge="1">
                  <a:txBody>
                    <a:bodyPr/>
                    <a:lstStyle/>
                    <a:p>
                      <a:endParaRPr lang="fr-FR"/>
                    </a:p>
                  </a:txBody>
                  <a:tcPr/>
                </a:tc>
                <a:tc>
                  <a:txBody>
                    <a:bodyPr/>
                    <a:lstStyle/>
                    <a:p>
                      <a:pPr algn="ctr">
                        <a:buNone/>
                      </a:pPr>
                      <a:r>
                        <a:rPr lang="fr-FR" sz="1200" b="0" u="none" strike="noStrike"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Identifiant unique</a:t>
                      </a:r>
                      <a:endParaRPr lang="fr-FR" sz="1800" b="0"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2494216591"/>
                  </a:ext>
                </a:extLst>
              </a:tr>
              <a:tr h="268027">
                <a:tc>
                  <a:txBody>
                    <a:bodyPr/>
                    <a:lstStyle/>
                    <a:p>
                      <a:pPr algn="ctr">
                        <a:buNone/>
                      </a:pPr>
                      <a:r>
                        <a:rPr lang="fr-FR" sz="1200" b="0" u="none" strike="noStrike" dirty="0" err="1">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nom_utilisateur</a:t>
                      </a:r>
                      <a:endParaRPr lang="fr-FR" sz="1800" b="0"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TEXTE</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Nom d’utilisateur</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vMerge="1">
                  <a:txBody>
                    <a:bodyPr/>
                    <a:lstStyle/>
                    <a:p>
                      <a:endParaRPr lang="fr-FR"/>
                    </a:p>
                  </a:txBody>
                  <a:tcPr/>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3207997279"/>
                  </a:ext>
                </a:extLst>
              </a:tr>
              <a:tr h="268027">
                <a:tc>
                  <a:txBody>
                    <a:bodyPr/>
                    <a:lstStyle/>
                    <a:p>
                      <a:pPr algn="ctr">
                        <a:buNone/>
                      </a:pPr>
                      <a:r>
                        <a:rPr lang="fr-FR" sz="1200" b="0" u="none" strike="noStrike" dirty="0" err="1">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mot_passe</a:t>
                      </a:r>
                      <a:endParaRPr lang="fr-FR" sz="1800" b="0"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TEXTE</a:t>
                      </a:r>
                      <a:endParaRPr lang="fr-FR" sz="1800" b="0"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Mot de passe</a:t>
                      </a:r>
                      <a:endParaRPr lang="fr-FR" sz="1800" b="0"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vMerge="1">
                  <a:txBody>
                    <a:bodyPr/>
                    <a:lstStyle/>
                    <a:p>
                      <a:endParaRPr lang="fr-FR"/>
                    </a:p>
                  </a:txBody>
                  <a:tcPr/>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2412068121"/>
                  </a:ext>
                </a:extLst>
              </a:tr>
              <a:tr h="268027">
                <a:tc>
                  <a:txBody>
                    <a:bodyPr/>
                    <a:lstStyle/>
                    <a:p>
                      <a:pPr algn="ctr">
                        <a:buNone/>
                      </a:pPr>
                      <a:r>
                        <a:rPr lang="fr-FR" sz="1200" b="0" u="none" strike="noStrike" dirty="0" err="1">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is_active</a:t>
                      </a:r>
                      <a:endParaRPr lang="fr-FR" sz="1800" b="0"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DEFAULT(0,1)</a:t>
                      </a:r>
                      <a:endParaRPr lang="fr-FR" sz="1800" b="0"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Compte D’utilisateur activer ou non</a:t>
                      </a:r>
                      <a:endParaRPr lang="fr-FR" sz="1800" b="0"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vMerge="1">
                  <a:txBody>
                    <a:bodyPr/>
                    <a:lstStyle/>
                    <a:p>
                      <a:endParaRPr lang="fr-FR"/>
                    </a:p>
                  </a:txBody>
                  <a:tcPr/>
                </a:tc>
                <a:tc>
                  <a:txBody>
                    <a:bodyPr/>
                    <a:lstStyle/>
                    <a:p>
                      <a:pPr algn="ctr">
                        <a:buNone/>
                      </a:pPr>
                      <a:r>
                        <a:rPr lang="fr-FR" sz="1200" b="0" u="none" strike="noStrike"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Default</a:t>
                      </a:r>
                      <a:endParaRPr lang="fr-FR" sz="1800" b="0"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3319160217"/>
                  </a:ext>
                </a:extLst>
              </a:tr>
            </a:tbl>
          </a:graphicData>
        </a:graphic>
      </p:graphicFrame>
      <p:sp>
        <p:nvSpPr>
          <p:cNvPr id="13" name="Titre 1">
            <a:extLst>
              <a:ext uri="{FF2B5EF4-FFF2-40B4-BE49-F238E27FC236}">
                <a16:creationId xmlns:a16="http://schemas.microsoft.com/office/drawing/2014/main" id="{D52DCB37-1BEE-81B5-4E5E-5263C3DB1CEA}"/>
              </a:ext>
            </a:extLst>
          </p:cNvPr>
          <p:cNvSpPr txBox="1">
            <a:spLocks/>
          </p:cNvSpPr>
          <p:nvPr/>
        </p:nvSpPr>
        <p:spPr>
          <a:xfrm>
            <a:off x="1275193" y="3925476"/>
            <a:ext cx="9784080" cy="323044"/>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4000" kern="1200" cap="all" baseline="0">
                <a:solidFill>
                  <a:schemeClr val="bg2"/>
                </a:solidFill>
                <a:latin typeface="+mj-lt"/>
                <a:ea typeface="+mj-ea"/>
                <a:cs typeface="+mj-cs"/>
              </a:defRPr>
            </a:lvl1pPr>
          </a:lstStyle>
          <a:p>
            <a:r>
              <a:rPr lang="fr-FR" sz="1200" dirty="0">
                <a:solidFill>
                  <a:schemeClr val="tx2">
                    <a:lumMod val="10000"/>
                  </a:schemeClr>
                </a:solidFill>
              </a:rPr>
              <a:t>Table  Utilisateur</a:t>
            </a:r>
          </a:p>
        </p:txBody>
      </p:sp>
    </p:spTree>
    <p:extLst>
      <p:ext uri="{BB962C8B-B14F-4D97-AF65-F5344CB8AC3E}">
        <p14:creationId xmlns:p14="http://schemas.microsoft.com/office/powerpoint/2010/main" val="39421694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au 1">
            <a:extLst>
              <a:ext uri="{FF2B5EF4-FFF2-40B4-BE49-F238E27FC236}">
                <a16:creationId xmlns:a16="http://schemas.microsoft.com/office/drawing/2014/main" id="{8BDD9A45-BC20-4F45-5EEE-0683CD9C17FE}"/>
              </a:ext>
            </a:extLst>
          </p:cNvPr>
          <p:cNvGraphicFramePr>
            <a:graphicFrameLocks noGrp="1"/>
          </p:cNvGraphicFramePr>
          <p:nvPr>
            <p:extLst>
              <p:ext uri="{D42A27DB-BD31-4B8C-83A1-F6EECF244321}">
                <p14:modId xmlns:p14="http://schemas.microsoft.com/office/powerpoint/2010/main" val="1337525666"/>
              </p:ext>
            </p:extLst>
          </p:nvPr>
        </p:nvGraphicFramePr>
        <p:xfrm>
          <a:off x="810243" y="2504411"/>
          <a:ext cx="9252489" cy="2488322"/>
        </p:xfrm>
        <a:graphic>
          <a:graphicData uri="http://schemas.openxmlformats.org/drawingml/2006/table">
            <a:tbl>
              <a:tblPr firstRow="1" firstCol="1" bandRow="1">
                <a:tableStyleId>{5C22544A-7EE6-4342-B048-85BDC9FD1C3A}</a:tableStyleId>
              </a:tblPr>
              <a:tblGrid>
                <a:gridCol w="1642820">
                  <a:extLst>
                    <a:ext uri="{9D8B030D-6E8A-4147-A177-3AD203B41FA5}">
                      <a16:colId xmlns:a16="http://schemas.microsoft.com/office/drawing/2014/main" val="790482099"/>
                    </a:ext>
                  </a:extLst>
                </a:gridCol>
                <a:gridCol w="2428902">
                  <a:extLst>
                    <a:ext uri="{9D8B030D-6E8A-4147-A177-3AD203B41FA5}">
                      <a16:colId xmlns:a16="http://schemas.microsoft.com/office/drawing/2014/main" val="274384043"/>
                    </a:ext>
                  </a:extLst>
                </a:gridCol>
                <a:gridCol w="2681207">
                  <a:extLst>
                    <a:ext uri="{9D8B030D-6E8A-4147-A177-3AD203B41FA5}">
                      <a16:colId xmlns:a16="http://schemas.microsoft.com/office/drawing/2014/main" val="2602570831"/>
                    </a:ext>
                  </a:extLst>
                </a:gridCol>
                <a:gridCol w="960895">
                  <a:extLst>
                    <a:ext uri="{9D8B030D-6E8A-4147-A177-3AD203B41FA5}">
                      <a16:colId xmlns:a16="http://schemas.microsoft.com/office/drawing/2014/main" val="3424652413"/>
                    </a:ext>
                  </a:extLst>
                </a:gridCol>
                <a:gridCol w="1538665">
                  <a:extLst>
                    <a:ext uri="{9D8B030D-6E8A-4147-A177-3AD203B41FA5}">
                      <a16:colId xmlns:a16="http://schemas.microsoft.com/office/drawing/2014/main" val="3530066480"/>
                    </a:ext>
                  </a:extLst>
                </a:gridCol>
              </a:tblGrid>
              <a:tr h="147066">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Propriété</a:t>
                      </a:r>
                    </a:p>
                  </a:txBody>
                  <a:tcPr marL="32195" marR="32195" marT="0" marB="0"/>
                </a:tc>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Type</a:t>
                      </a:r>
                    </a:p>
                  </a:txBody>
                  <a:tcPr marL="32195" marR="32195" marT="0" marB="0"/>
                </a:tc>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Description</a:t>
                      </a:r>
                    </a:p>
                  </a:txBody>
                  <a:tcPr marL="32195" marR="32195" marT="0" marB="0"/>
                </a:tc>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Entité</a:t>
                      </a:r>
                    </a:p>
                  </a:txBody>
                  <a:tcPr marL="32195" marR="32195" marT="0" marB="0" anchor="ctr"/>
                </a:tc>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Observation</a:t>
                      </a:r>
                    </a:p>
                  </a:txBody>
                  <a:tcPr marL="32195" marR="32195" marT="0" marB="0"/>
                </a:tc>
                <a:extLst>
                  <a:ext uri="{0D108BD9-81ED-4DB2-BD59-A6C34878D82A}">
                    <a16:rowId xmlns:a16="http://schemas.microsoft.com/office/drawing/2014/main" val="367196042"/>
                  </a:ext>
                </a:extLst>
              </a:tr>
              <a:tr h="147066">
                <a:tc>
                  <a:txBody>
                    <a:bodyPr/>
                    <a:lstStyle/>
                    <a:p>
                      <a:pPr algn="ctr">
                        <a:buNone/>
                      </a:pPr>
                      <a:r>
                        <a:rPr lang="fr-FR" sz="1200" u="none" strike="noStrike" dirty="0" err="1">
                          <a:effectLst/>
                          <a:uFill>
                            <a:solidFill>
                              <a:srgbClr val="000000"/>
                            </a:solidFill>
                          </a:uFill>
                        </a:rPr>
                        <a:t>id_audit</a:t>
                      </a:r>
                      <a:endPar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32195" marR="32195" marT="0" marB="0"/>
                </a:tc>
                <a:tc>
                  <a:txBody>
                    <a:bodyPr/>
                    <a:lstStyle/>
                    <a:p>
                      <a:pPr algn="ctr">
                        <a:buNone/>
                      </a:pPr>
                      <a:r>
                        <a:rPr lang="fr-FR" sz="1200" u="none" strike="noStrike" dirty="0">
                          <a:effectLst/>
                          <a:uFill>
                            <a:solidFill>
                              <a:srgbClr val="000000"/>
                            </a:solidFill>
                          </a:uFill>
                        </a:rPr>
                        <a:t>NUMÉRIQUE</a:t>
                      </a:r>
                      <a:endPar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32195" marR="32195" marT="0" marB="0"/>
                </a:tc>
                <a:tc>
                  <a:txBody>
                    <a:bodyPr/>
                    <a:lstStyle/>
                    <a:p>
                      <a:pPr algn="ctr">
                        <a:buNone/>
                      </a:pPr>
                      <a:r>
                        <a:rPr lang="fr-FR" sz="1200" u="none" strike="noStrike" dirty="0">
                          <a:effectLst/>
                          <a:uFill>
                            <a:solidFill>
                              <a:srgbClr val="000000"/>
                            </a:solidFill>
                          </a:uFill>
                        </a:rPr>
                        <a:t>Identifiant d’Audit</a:t>
                      </a:r>
                      <a:endPar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32195" marR="32195" marT="0" marB="0"/>
                </a:tc>
                <a:tc rowSpan="10">
                  <a:txBody>
                    <a:bodyPr/>
                    <a:lstStyle/>
                    <a:p>
                      <a:pPr algn="ctr">
                        <a:buNone/>
                      </a:pPr>
                      <a:r>
                        <a:rPr lang="fr-FR" sz="1200" u="none" strike="noStrike" dirty="0">
                          <a:effectLst/>
                          <a:uFill>
                            <a:solidFill>
                              <a:srgbClr val="000000"/>
                            </a:solidFill>
                          </a:uFill>
                        </a:rPr>
                        <a:t>AUDIT</a:t>
                      </a:r>
                      <a:endPar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32195" marR="32195" marT="0" marB="0" anchor="ctr"/>
                </a:tc>
                <a:tc>
                  <a:txBody>
                    <a:bodyPr/>
                    <a:lstStyle/>
                    <a:p>
                      <a:pPr algn="ctr">
                        <a:buNone/>
                      </a:pPr>
                      <a:r>
                        <a:rPr lang="fr-FR" sz="1200" u="none" strike="noStrike" dirty="0">
                          <a:effectLst/>
                          <a:uFill>
                            <a:solidFill>
                              <a:srgbClr val="000000"/>
                            </a:solidFill>
                          </a:uFill>
                        </a:rPr>
                        <a:t>Identifiant unique</a:t>
                      </a:r>
                      <a:endPar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32195" marR="32195" marT="0" marB="0"/>
                </a:tc>
                <a:extLst>
                  <a:ext uri="{0D108BD9-81ED-4DB2-BD59-A6C34878D82A}">
                    <a16:rowId xmlns:a16="http://schemas.microsoft.com/office/drawing/2014/main" val="382749056"/>
                  </a:ext>
                </a:extLst>
              </a:tr>
              <a:tr h="211437">
                <a:tc>
                  <a:txBody>
                    <a:bodyPr/>
                    <a:lstStyle/>
                    <a:p>
                      <a:pPr algn="ctr">
                        <a:buNone/>
                      </a:pPr>
                      <a:r>
                        <a:rPr lang="fr-FR" sz="1200" u="none" strike="noStrike">
                          <a:effectLst/>
                          <a:uFill>
                            <a:solidFill>
                              <a:srgbClr val="000000"/>
                            </a:solidFill>
                          </a:uFill>
                        </a:rPr>
                        <a:t>id_cible</a:t>
                      </a:r>
                      <a:endParaRPr lang="fr-FR" sz="12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32195" marR="32195" marT="0" marB="0"/>
                </a:tc>
                <a:tc>
                  <a:txBody>
                    <a:bodyPr/>
                    <a:lstStyle/>
                    <a:p>
                      <a:pPr algn="ctr">
                        <a:buNone/>
                      </a:pPr>
                      <a:r>
                        <a:rPr lang="fr-FR" sz="1200" u="none" strike="noStrike" dirty="0">
                          <a:effectLst/>
                          <a:uFill>
                            <a:solidFill>
                              <a:srgbClr val="000000"/>
                            </a:solidFill>
                          </a:uFill>
                        </a:rPr>
                        <a:t>NUMÉRIQUE</a:t>
                      </a:r>
                      <a:endPar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32195" marR="32195" marT="0" marB="0"/>
                </a:tc>
                <a:tc>
                  <a:txBody>
                    <a:bodyPr/>
                    <a:lstStyle/>
                    <a:p>
                      <a:pPr algn="ctr">
                        <a:buNone/>
                      </a:pPr>
                      <a:r>
                        <a:rPr lang="fr-FR" sz="1200" u="none" strike="noStrike">
                          <a:effectLst/>
                          <a:uFill>
                            <a:solidFill>
                              <a:srgbClr val="000000"/>
                            </a:solidFill>
                          </a:uFill>
                        </a:rPr>
                        <a:t>Identifiant de table cible</a:t>
                      </a:r>
                      <a:endParaRPr lang="fr-FR" sz="12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32195" marR="32195" marT="0" marB="0"/>
                </a:tc>
                <a:tc vMerge="1">
                  <a:txBody>
                    <a:bodyPr/>
                    <a:lstStyle/>
                    <a:p>
                      <a:endParaRPr lang="fr-FR"/>
                    </a:p>
                  </a:txBody>
                  <a:tcPr/>
                </a:tc>
                <a:tc>
                  <a:txBody>
                    <a:bodyPr/>
                    <a:lstStyle/>
                    <a:p>
                      <a:pPr algn="ctr">
                        <a:buNone/>
                      </a:pPr>
                      <a:r>
                        <a:rPr lang="fr-FR" sz="1200" u="none" strike="noStrike">
                          <a:effectLst/>
                          <a:uFill>
                            <a:solidFill>
                              <a:srgbClr val="000000"/>
                            </a:solidFill>
                          </a:uFill>
                        </a:rPr>
                        <a:t>Identifiant unique</a:t>
                      </a:r>
                      <a:endParaRPr lang="fr-FR" sz="12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32195" marR="32195" marT="0" marB="0"/>
                </a:tc>
                <a:extLst>
                  <a:ext uri="{0D108BD9-81ED-4DB2-BD59-A6C34878D82A}">
                    <a16:rowId xmlns:a16="http://schemas.microsoft.com/office/drawing/2014/main" val="1858378893"/>
                  </a:ext>
                </a:extLst>
              </a:tr>
              <a:tr h="147066">
                <a:tc>
                  <a:txBody>
                    <a:bodyPr/>
                    <a:lstStyle/>
                    <a:p>
                      <a:pPr algn="ctr">
                        <a:buNone/>
                      </a:pPr>
                      <a:r>
                        <a:rPr lang="fr-FR" sz="1200" u="none" strike="noStrike" dirty="0" err="1">
                          <a:effectLst/>
                          <a:uFill>
                            <a:solidFill>
                              <a:srgbClr val="000000"/>
                            </a:solidFill>
                          </a:uFill>
                        </a:rPr>
                        <a:t>nom_table</a:t>
                      </a:r>
                      <a:endPar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32195" marR="32195" marT="0" marB="0"/>
                </a:tc>
                <a:tc>
                  <a:txBody>
                    <a:bodyPr/>
                    <a:lstStyle/>
                    <a:p>
                      <a:pPr algn="ctr">
                        <a:buNone/>
                      </a:pPr>
                      <a:r>
                        <a:rPr lang="fr-FR" sz="1200" u="none" strike="noStrike" dirty="0">
                          <a:effectLst/>
                          <a:uFill>
                            <a:solidFill>
                              <a:srgbClr val="000000"/>
                            </a:solidFill>
                          </a:uFill>
                        </a:rPr>
                        <a:t>TEXTE </a:t>
                      </a:r>
                      <a:endPar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32195" marR="32195" marT="0" marB="0"/>
                </a:tc>
                <a:tc>
                  <a:txBody>
                    <a:bodyPr/>
                    <a:lstStyle/>
                    <a:p>
                      <a:pPr algn="ctr">
                        <a:buNone/>
                      </a:pPr>
                      <a:r>
                        <a:rPr lang="fr-FR" sz="1200" u="none" strike="noStrike">
                          <a:effectLst/>
                          <a:uFill>
                            <a:solidFill>
                              <a:srgbClr val="000000"/>
                            </a:solidFill>
                          </a:uFill>
                        </a:rPr>
                        <a:t>Nom de table</a:t>
                      </a:r>
                      <a:endParaRPr lang="fr-FR" sz="12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32195" marR="32195" marT="0" marB="0"/>
                </a:tc>
                <a:tc vMerge="1">
                  <a:txBody>
                    <a:bodyPr/>
                    <a:lstStyle/>
                    <a:p>
                      <a:endParaRPr lang="fr-FR"/>
                    </a:p>
                  </a:txBody>
                  <a:tcPr/>
                </a:tc>
                <a:tc>
                  <a:txBody>
                    <a:bodyPr/>
                    <a:lstStyle/>
                    <a:p>
                      <a:pPr algn="ctr">
                        <a:buNone/>
                      </a:pPr>
                      <a:r>
                        <a:rPr lang="fr-FR" sz="1200" u="none" strike="noStrike">
                          <a:effectLst/>
                          <a:uFill>
                            <a:solidFill>
                              <a:srgbClr val="000000"/>
                            </a:solidFill>
                          </a:uFill>
                        </a:rPr>
                        <a:t> </a:t>
                      </a:r>
                      <a:endParaRPr lang="fr-FR" sz="12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32195" marR="32195" marT="0" marB="0"/>
                </a:tc>
                <a:extLst>
                  <a:ext uri="{0D108BD9-81ED-4DB2-BD59-A6C34878D82A}">
                    <a16:rowId xmlns:a16="http://schemas.microsoft.com/office/drawing/2014/main" val="741261979"/>
                  </a:ext>
                </a:extLst>
              </a:tr>
              <a:tr h="411019">
                <a:tc>
                  <a:txBody>
                    <a:bodyPr/>
                    <a:lstStyle/>
                    <a:p>
                      <a:pPr algn="ctr">
                        <a:buNone/>
                      </a:pPr>
                      <a:r>
                        <a:rPr lang="fr-FR" sz="1200" u="none" strike="noStrike">
                          <a:effectLst/>
                          <a:uFill>
                            <a:solidFill>
                              <a:srgbClr val="000000"/>
                            </a:solidFill>
                          </a:uFill>
                        </a:rPr>
                        <a:t>type_op</a:t>
                      </a:r>
                      <a:endParaRPr lang="fr-FR" sz="12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32195" marR="32195" marT="0" marB="0"/>
                </a:tc>
                <a:tc>
                  <a:txBody>
                    <a:bodyPr/>
                    <a:lstStyle/>
                    <a:p>
                      <a:pPr algn="ctr">
                        <a:buNone/>
                      </a:pPr>
                      <a:r>
                        <a:rPr lang="en-AE" sz="1200" u="none" strike="noStrike" dirty="0">
                          <a:effectLst/>
                          <a:uFill>
                            <a:solidFill>
                              <a:srgbClr val="000000"/>
                            </a:solidFill>
                          </a:uFill>
                        </a:rPr>
                        <a:t>DEFAULT (</a:t>
                      </a:r>
                      <a:r>
                        <a:rPr lang="en-AE" sz="1200" u="none" strike="noStrike" dirty="0" err="1">
                          <a:effectLst/>
                          <a:uFill>
                            <a:solidFill>
                              <a:srgbClr val="000000"/>
                            </a:solidFill>
                          </a:uFill>
                        </a:rPr>
                        <a:t>insert,update,delete</a:t>
                      </a:r>
                      <a:r>
                        <a:rPr lang="en-AE" sz="1200" u="none" strike="noStrike" dirty="0">
                          <a:effectLst/>
                          <a:uFill>
                            <a:solidFill>
                              <a:srgbClr val="000000"/>
                            </a:solidFill>
                          </a:uFill>
                        </a:rPr>
                        <a:t>)</a:t>
                      </a:r>
                      <a:endPar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32195" marR="32195" marT="0" marB="0"/>
                </a:tc>
                <a:tc>
                  <a:txBody>
                    <a:bodyPr/>
                    <a:lstStyle/>
                    <a:p>
                      <a:pPr algn="ctr">
                        <a:buNone/>
                      </a:pPr>
                      <a:r>
                        <a:rPr lang="en-AE" sz="1200" u="none" strike="noStrike">
                          <a:effectLst/>
                          <a:uFill>
                            <a:solidFill>
                              <a:srgbClr val="000000"/>
                            </a:solidFill>
                          </a:uFill>
                        </a:rPr>
                        <a:t>Type D’opperation</a:t>
                      </a:r>
                      <a:endParaRPr lang="fr-FR" sz="1200" u="sng">
                        <a:effectLst/>
                        <a:uFill>
                          <a:solidFill>
                            <a:srgbClr val="000000"/>
                          </a:solidFill>
                        </a:uFill>
                      </a:endParaRPr>
                    </a:p>
                    <a:p>
                      <a:pPr algn="ctr">
                        <a:buNone/>
                      </a:pPr>
                      <a:r>
                        <a:rPr lang="en-AE" sz="1200" u="none" strike="noStrike">
                          <a:effectLst/>
                          <a:uFill>
                            <a:solidFill>
                              <a:srgbClr val="000000"/>
                            </a:solidFill>
                          </a:uFill>
                        </a:rPr>
                        <a:t>(Insert,Update,Delete)</a:t>
                      </a:r>
                      <a:endParaRPr lang="fr-FR" sz="12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32195" marR="32195" marT="0" marB="0"/>
                </a:tc>
                <a:tc vMerge="1">
                  <a:txBody>
                    <a:bodyPr/>
                    <a:lstStyle/>
                    <a:p>
                      <a:endParaRPr lang="fr-FR"/>
                    </a:p>
                  </a:txBody>
                  <a:tcPr/>
                </a:tc>
                <a:tc>
                  <a:txBody>
                    <a:bodyPr/>
                    <a:lstStyle/>
                    <a:p>
                      <a:pPr algn="ctr">
                        <a:buNone/>
                      </a:pPr>
                      <a:r>
                        <a:rPr lang="en-AE" sz="1200" u="none" strike="noStrike">
                          <a:effectLst/>
                          <a:uFill>
                            <a:solidFill>
                              <a:srgbClr val="000000"/>
                            </a:solidFill>
                          </a:uFill>
                        </a:rPr>
                        <a:t>DEFAULT</a:t>
                      </a:r>
                      <a:endParaRPr lang="fr-FR" sz="12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32195" marR="32195" marT="0" marB="0"/>
                </a:tc>
                <a:extLst>
                  <a:ext uri="{0D108BD9-81ED-4DB2-BD59-A6C34878D82A}">
                    <a16:rowId xmlns:a16="http://schemas.microsoft.com/office/drawing/2014/main" val="4200996657"/>
                  </a:ext>
                </a:extLst>
              </a:tr>
              <a:tr h="147066">
                <a:tc>
                  <a:txBody>
                    <a:bodyPr/>
                    <a:lstStyle/>
                    <a:p>
                      <a:pPr algn="ctr">
                        <a:buNone/>
                      </a:pPr>
                      <a:r>
                        <a:rPr lang="fr-FR" sz="1200" u="none" strike="noStrike">
                          <a:effectLst/>
                          <a:uFill>
                            <a:solidFill>
                              <a:srgbClr val="000000"/>
                            </a:solidFill>
                          </a:uFill>
                        </a:rPr>
                        <a:t>date_op</a:t>
                      </a:r>
                      <a:endParaRPr lang="fr-FR" sz="12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32195" marR="32195" marT="0" marB="0"/>
                </a:tc>
                <a:tc>
                  <a:txBody>
                    <a:bodyPr/>
                    <a:lstStyle/>
                    <a:p>
                      <a:pPr algn="ctr">
                        <a:buNone/>
                      </a:pPr>
                      <a:r>
                        <a:rPr lang="fr-FR" sz="1200" u="none" strike="noStrike">
                          <a:effectLst/>
                          <a:uFill>
                            <a:solidFill>
                              <a:srgbClr val="000000"/>
                            </a:solidFill>
                          </a:uFill>
                        </a:rPr>
                        <a:t>DATE</a:t>
                      </a:r>
                      <a:endParaRPr lang="fr-FR" sz="12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32195" marR="32195" marT="0" marB="0"/>
                </a:tc>
                <a:tc>
                  <a:txBody>
                    <a:bodyPr/>
                    <a:lstStyle/>
                    <a:p>
                      <a:pPr algn="ctr">
                        <a:buNone/>
                      </a:pPr>
                      <a:r>
                        <a:rPr lang="fr-FR" sz="1200" u="none" strike="noStrike">
                          <a:effectLst/>
                          <a:uFill>
                            <a:solidFill>
                              <a:srgbClr val="000000"/>
                            </a:solidFill>
                          </a:uFill>
                        </a:rPr>
                        <a:t>Date </a:t>
                      </a:r>
                      <a:r>
                        <a:rPr lang="en-AE" sz="1200" u="none" strike="noStrike">
                          <a:effectLst/>
                          <a:uFill>
                            <a:solidFill>
                              <a:srgbClr val="000000"/>
                            </a:solidFill>
                          </a:uFill>
                        </a:rPr>
                        <a:t>D’opperation</a:t>
                      </a:r>
                      <a:endParaRPr lang="fr-FR" sz="12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32195" marR="32195" marT="0" marB="0"/>
                </a:tc>
                <a:tc vMerge="1">
                  <a:txBody>
                    <a:bodyPr/>
                    <a:lstStyle/>
                    <a:p>
                      <a:endParaRPr lang="fr-FR"/>
                    </a:p>
                  </a:txBody>
                  <a:tcPr/>
                </a:tc>
                <a:tc>
                  <a:txBody>
                    <a:bodyPr/>
                    <a:lstStyle/>
                    <a:p>
                      <a:pPr algn="ctr">
                        <a:buNone/>
                      </a:pPr>
                      <a:r>
                        <a:rPr lang="fr-FR" sz="1200" u="none" strike="noStrike">
                          <a:effectLst/>
                          <a:uFill>
                            <a:solidFill>
                              <a:srgbClr val="000000"/>
                            </a:solidFill>
                          </a:uFill>
                        </a:rPr>
                        <a:t> </a:t>
                      </a:r>
                      <a:endParaRPr lang="fr-FR" sz="12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32195" marR="32195" marT="0" marB="0"/>
                </a:tc>
                <a:extLst>
                  <a:ext uri="{0D108BD9-81ED-4DB2-BD59-A6C34878D82A}">
                    <a16:rowId xmlns:a16="http://schemas.microsoft.com/office/drawing/2014/main" val="89561970"/>
                  </a:ext>
                </a:extLst>
              </a:tr>
              <a:tr h="147066">
                <a:tc>
                  <a:txBody>
                    <a:bodyPr/>
                    <a:lstStyle/>
                    <a:p>
                      <a:pPr algn="ctr">
                        <a:buNone/>
                      </a:pPr>
                      <a:r>
                        <a:rPr lang="fr-FR" sz="1200" u="none" strike="noStrike">
                          <a:effectLst/>
                          <a:uFill>
                            <a:solidFill>
                              <a:srgbClr val="000000"/>
                            </a:solidFill>
                          </a:uFill>
                        </a:rPr>
                        <a:t>nom_utilisateur</a:t>
                      </a:r>
                      <a:endParaRPr lang="fr-FR" sz="12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32195" marR="32195" marT="0" marB="0"/>
                </a:tc>
                <a:tc>
                  <a:txBody>
                    <a:bodyPr/>
                    <a:lstStyle/>
                    <a:p>
                      <a:pPr algn="ctr">
                        <a:buNone/>
                      </a:pPr>
                      <a:r>
                        <a:rPr lang="fr-FR" sz="1200" u="none" strike="noStrike">
                          <a:effectLst/>
                          <a:uFill>
                            <a:solidFill>
                              <a:srgbClr val="000000"/>
                            </a:solidFill>
                          </a:uFill>
                        </a:rPr>
                        <a:t>TEXTE</a:t>
                      </a:r>
                      <a:endParaRPr lang="fr-FR" sz="12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32195" marR="32195" marT="0" marB="0"/>
                </a:tc>
                <a:tc>
                  <a:txBody>
                    <a:bodyPr/>
                    <a:lstStyle/>
                    <a:p>
                      <a:pPr algn="ctr">
                        <a:buNone/>
                      </a:pPr>
                      <a:r>
                        <a:rPr lang="fr-FR" sz="1200" u="none" strike="noStrike">
                          <a:effectLst/>
                          <a:uFill>
                            <a:solidFill>
                              <a:srgbClr val="000000"/>
                            </a:solidFill>
                          </a:uFill>
                        </a:rPr>
                        <a:t>Nom D’utilisateur</a:t>
                      </a:r>
                      <a:endParaRPr lang="fr-FR" sz="12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32195" marR="32195" marT="0" marB="0"/>
                </a:tc>
                <a:tc vMerge="1">
                  <a:txBody>
                    <a:bodyPr/>
                    <a:lstStyle/>
                    <a:p>
                      <a:endParaRPr lang="fr-FR"/>
                    </a:p>
                  </a:txBody>
                  <a:tcPr/>
                </a:tc>
                <a:tc>
                  <a:txBody>
                    <a:bodyPr/>
                    <a:lstStyle/>
                    <a:p>
                      <a:pPr algn="ctr">
                        <a:buNone/>
                      </a:pPr>
                      <a:r>
                        <a:rPr lang="fr-FR" sz="1200" u="none" strike="noStrike">
                          <a:effectLst/>
                          <a:uFill>
                            <a:solidFill>
                              <a:srgbClr val="000000"/>
                            </a:solidFill>
                          </a:uFill>
                        </a:rPr>
                        <a:t> </a:t>
                      </a:r>
                      <a:endParaRPr lang="fr-FR" sz="12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32195" marR="32195" marT="0" marB="0"/>
                </a:tc>
                <a:extLst>
                  <a:ext uri="{0D108BD9-81ED-4DB2-BD59-A6C34878D82A}">
                    <a16:rowId xmlns:a16="http://schemas.microsoft.com/office/drawing/2014/main" val="418787163"/>
                  </a:ext>
                </a:extLst>
              </a:tr>
              <a:tr h="211437">
                <a:tc>
                  <a:txBody>
                    <a:bodyPr/>
                    <a:lstStyle/>
                    <a:p>
                      <a:pPr algn="ctr">
                        <a:buNone/>
                      </a:pPr>
                      <a:r>
                        <a:rPr lang="fr-FR" sz="1200" u="none" strike="noStrike">
                          <a:effectLst/>
                          <a:uFill>
                            <a:solidFill>
                              <a:srgbClr val="000000"/>
                            </a:solidFill>
                          </a:uFill>
                        </a:rPr>
                        <a:t>ancienne_valeur</a:t>
                      </a:r>
                      <a:endParaRPr lang="fr-FR" sz="12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32195" marR="32195" marT="0" marB="0"/>
                </a:tc>
                <a:tc>
                  <a:txBody>
                    <a:bodyPr/>
                    <a:lstStyle/>
                    <a:p>
                      <a:pPr algn="ctr">
                        <a:buNone/>
                      </a:pPr>
                      <a:r>
                        <a:rPr lang="fr-FR" sz="1200" u="none" strike="noStrike">
                          <a:effectLst/>
                          <a:uFill>
                            <a:solidFill>
                              <a:srgbClr val="000000"/>
                            </a:solidFill>
                          </a:uFill>
                        </a:rPr>
                        <a:t>TEXTE</a:t>
                      </a:r>
                      <a:endParaRPr lang="fr-FR" sz="12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32195" marR="32195" marT="0" marB="0"/>
                </a:tc>
                <a:tc>
                  <a:txBody>
                    <a:bodyPr/>
                    <a:lstStyle/>
                    <a:p>
                      <a:pPr algn="ctr">
                        <a:buNone/>
                      </a:pPr>
                      <a:r>
                        <a:rPr lang="fr-FR" sz="1200" u="none" strike="noStrike" dirty="0">
                          <a:effectLst/>
                          <a:uFill>
                            <a:solidFill>
                              <a:srgbClr val="000000"/>
                            </a:solidFill>
                          </a:uFill>
                        </a:rPr>
                        <a:t>Champs supprimer ou modifier</a:t>
                      </a:r>
                      <a:endPar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32195" marR="32195" marT="0" marB="0"/>
                </a:tc>
                <a:tc vMerge="1">
                  <a:txBody>
                    <a:bodyPr/>
                    <a:lstStyle/>
                    <a:p>
                      <a:endParaRPr lang="fr-FR"/>
                    </a:p>
                  </a:txBody>
                  <a:tcPr/>
                </a:tc>
                <a:tc>
                  <a:txBody>
                    <a:bodyPr/>
                    <a:lstStyle/>
                    <a:p>
                      <a:pPr algn="ctr">
                        <a:buNone/>
                      </a:pPr>
                      <a:r>
                        <a:rPr lang="fr-FR" sz="1200" u="none" strike="noStrike">
                          <a:effectLst/>
                          <a:uFill>
                            <a:solidFill>
                              <a:srgbClr val="000000"/>
                            </a:solidFill>
                          </a:uFill>
                        </a:rPr>
                        <a:t> </a:t>
                      </a:r>
                      <a:endParaRPr lang="fr-FR" sz="12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32195" marR="32195" marT="0" marB="0"/>
                </a:tc>
                <a:extLst>
                  <a:ext uri="{0D108BD9-81ED-4DB2-BD59-A6C34878D82A}">
                    <a16:rowId xmlns:a16="http://schemas.microsoft.com/office/drawing/2014/main" val="3949146677"/>
                  </a:ext>
                </a:extLst>
              </a:tr>
              <a:tr h="211437">
                <a:tc>
                  <a:txBody>
                    <a:bodyPr/>
                    <a:lstStyle/>
                    <a:p>
                      <a:pPr algn="ctr">
                        <a:buNone/>
                      </a:pPr>
                      <a:r>
                        <a:rPr lang="fr-FR" sz="1200" u="none" strike="noStrike">
                          <a:effectLst/>
                          <a:uFill>
                            <a:solidFill>
                              <a:srgbClr val="000000"/>
                            </a:solidFill>
                          </a:uFill>
                        </a:rPr>
                        <a:t>nouvelle_valeur</a:t>
                      </a:r>
                      <a:endParaRPr lang="fr-FR" sz="12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32195" marR="32195" marT="0" marB="0"/>
                </a:tc>
                <a:tc>
                  <a:txBody>
                    <a:bodyPr/>
                    <a:lstStyle/>
                    <a:p>
                      <a:pPr algn="ctr">
                        <a:buNone/>
                      </a:pPr>
                      <a:r>
                        <a:rPr lang="fr-FR" sz="1200" u="none" strike="noStrike">
                          <a:effectLst/>
                          <a:uFill>
                            <a:solidFill>
                              <a:srgbClr val="000000"/>
                            </a:solidFill>
                          </a:uFill>
                        </a:rPr>
                        <a:t>TEXTE</a:t>
                      </a:r>
                      <a:endParaRPr lang="fr-FR" sz="12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32195" marR="32195" marT="0" marB="0"/>
                </a:tc>
                <a:tc>
                  <a:txBody>
                    <a:bodyPr/>
                    <a:lstStyle/>
                    <a:p>
                      <a:pPr algn="ctr">
                        <a:buNone/>
                      </a:pPr>
                      <a:r>
                        <a:rPr lang="fr-FR" sz="1200" u="none" strike="noStrike">
                          <a:effectLst/>
                          <a:uFill>
                            <a:solidFill>
                              <a:srgbClr val="000000"/>
                            </a:solidFill>
                          </a:uFill>
                        </a:rPr>
                        <a:t>Champs Ajouter ou modifier</a:t>
                      </a:r>
                      <a:endParaRPr lang="fr-FR" sz="12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32195" marR="32195" marT="0" marB="0"/>
                </a:tc>
                <a:tc vMerge="1">
                  <a:txBody>
                    <a:bodyPr/>
                    <a:lstStyle/>
                    <a:p>
                      <a:endParaRPr lang="fr-FR"/>
                    </a:p>
                  </a:txBody>
                  <a:tcPr/>
                </a:tc>
                <a:tc>
                  <a:txBody>
                    <a:bodyPr/>
                    <a:lstStyle/>
                    <a:p>
                      <a:pPr algn="ctr">
                        <a:buNone/>
                      </a:pPr>
                      <a:r>
                        <a:rPr lang="fr-FR" sz="1200" u="none" strike="noStrike">
                          <a:effectLst/>
                          <a:uFill>
                            <a:solidFill>
                              <a:srgbClr val="000000"/>
                            </a:solidFill>
                          </a:uFill>
                        </a:rPr>
                        <a:t> </a:t>
                      </a:r>
                      <a:endParaRPr lang="fr-FR" sz="12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32195" marR="32195" marT="0" marB="0"/>
                </a:tc>
                <a:extLst>
                  <a:ext uri="{0D108BD9-81ED-4DB2-BD59-A6C34878D82A}">
                    <a16:rowId xmlns:a16="http://schemas.microsoft.com/office/drawing/2014/main" val="299593975"/>
                  </a:ext>
                </a:extLst>
              </a:tr>
              <a:tr h="211437">
                <a:tc>
                  <a:txBody>
                    <a:bodyPr/>
                    <a:lstStyle/>
                    <a:p>
                      <a:pPr algn="ctr">
                        <a:buNone/>
                      </a:pPr>
                      <a:r>
                        <a:rPr lang="fr-FR" sz="1200" u="none" strike="noStrike">
                          <a:effectLst/>
                          <a:uFill>
                            <a:solidFill>
                              <a:srgbClr val="000000"/>
                            </a:solidFill>
                          </a:uFill>
                        </a:rPr>
                        <a:t>id_utilisateur</a:t>
                      </a:r>
                      <a:endParaRPr lang="fr-FR" sz="12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32195" marR="32195" marT="0" marB="0"/>
                </a:tc>
                <a:tc>
                  <a:txBody>
                    <a:bodyPr/>
                    <a:lstStyle/>
                    <a:p>
                      <a:pPr algn="ctr">
                        <a:buNone/>
                      </a:pPr>
                      <a:r>
                        <a:rPr lang="fr-FR" sz="1200" u="none" strike="noStrike">
                          <a:effectLst/>
                          <a:uFill>
                            <a:solidFill>
                              <a:srgbClr val="000000"/>
                            </a:solidFill>
                          </a:uFill>
                        </a:rPr>
                        <a:t>NUMÉRIQUE</a:t>
                      </a:r>
                      <a:endParaRPr lang="fr-FR" sz="12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32195" marR="32195" marT="0" marB="0"/>
                </a:tc>
                <a:tc>
                  <a:txBody>
                    <a:bodyPr/>
                    <a:lstStyle/>
                    <a:p>
                      <a:pPr algn="ctr">
                        <a:buNone/>
                      </a:pPr>
                      <a:r>
                        <a:rPr lang="fr-FR" sz="1200" u="none" strike="noStrike">
                          <a:effectLst/>
                          <a:uFill>
                            <a:solidFill>
                              <a:srgbClr val="000000"/>
                            </a:solidFill>
                          </a:uFill>
                        </a:rPr>
                        <a:t>Identifiant de l’utilisateur</a:t>
                      </a:r>
                      <a:endParaRPr lang="fr-FR" sz="12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32195" marR="32195" marT="0" marB="0"/>
                </a:tc>
                <a:tc vMerge="1">
                  <a:txBody>
                    <a:bodyPr/>
                    <a:lstStyle/>
                    <a:p>
                      <a:endParaRPr lang="fr-FR"/>
                    </a:p>
                  </a:txBody>
                  <a:tcPr/>
                </a:tc>
                <a:tc>
                  <a:txBody>
                    <a:bodyPr/>
                    <a:lstStyle/>
                    <a:p>
                      <a:pPr algn="ctr">
                        <a:buNone/>
                      </a:pPr>
                      <a:r>
                        <a:rPr lang="fr-FR" sz="1200" u="none" strike="noStrike">
                          <a:effectLst/>
                          <a:uFill>
                            <a:solidFill>
                              <a:srgbClr val="000000"/>
                            </a:solidFill>
                          </a:uFill>
                        </a:rPr>
                        <a:t>Identifiant unique</a:t>
                      </a:r>
                      <a:endParaRPr lang="fr-FR" sz="12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32195" marR="32195" marT="0" marB="0"/>
                </a:tc>
                <a:extLst>
                  <a:ext uri="{0D108BD9-81ED-4DB2-BD59-A6C34878D82A}">
                    <a16:rowId xmlns:a16="http://schemas.microsoft.com/office/drawing/2014/main" val="3671794142"/>
                  </a:ext>
                </a:extLst>
              </a:tr>
              <a:tr h="317155">
                <a:tc>
                  <a:txBody>
                    <a:bodyPr/>
                    <a:lstStyle/>
                    <a:p>
                      <a:pPr algn="ctr">
                        <a:buNone/>
                      </a:pPr>
                      <a:r>
                        <a:rPr lang="fr-FR" sz="1200" u="none" strike="noStrike">
                          <a:effectLst/>
                          <a:uFill>
                            <a:solidFill>
                              <a:srgbClr val="000000"/>
                            </a:solidFill>
                          </a:uFill>
                        </a:rPr>
                        <a:t>id_utilisateur_connecte</a:t>
                      </a:r>
                      <a:endParaRPr lang="fr-FR" sz="12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32195" marR="32195" marT="0" marB="0"/>
                </a:tc>
                <a:tc>
                  <a:txBody>
                    <a:bodyPr/>
                    <a:lstStyle/>
                    <a:p>
                      <a:pPr algn="ctr">
                        <a:buNone/>
                      </a:pPr>
                      <a:r>
                        <a:rPr lang="fr-FR" sz="1200" u="none" strike="noStrike">
                          <a:effectLst/>
                          <a:uFill>
                            <a:solidFill>
                              <a:srgbClr val="000000"/>
                            </a:solidFill>
                          </a:uFill>
                        </a:rPr>
                        <a:t>NUMÉRIQUE</a:t>
                      </a:r>
                      <a:endParaRPr lang="fr-FR" sz="12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32195" marR="32195" marT="0" marB="0"/>
                </a:tc>
                <a:tc>
                  <a:txBody>
                    <a:bodyPr/>
                    <a:lstStyle/>
                    <a:p>
                      <a:pPr algn="ctr">
                        <a:buNone/>
                      </a:pPr>
                      <a:r>
                        <a:rPr lang="fr-FR" sz="1200" u="none" strike="noStrike">
                          <a:effectLst/>
                          <a:uFill>
                            <a:solidFill>
                              <a:srgbClr val="000000"/>
                            </a:solidFill>
                          </a:uFill>
                        </a:rPr>
                        <a:t>Identifiant de l’utilisateur Connecter</a:t>
                      </a:r>
                      <a:endParaRPr lang="fr-FR" sz="12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32195" marR="32195" marT="0" marB="0"/>
                </a:tc>
                <a:tc vMerge="1">
                  <a:txBody>
                    <a:bodyPr/>
                    <a:lstStyle/>
                    <a:p>
                      <a:endParaRPr lang="fr-FR"/>
                    </a:p>
                  </a:txBody>
                  <a:tcPr/>
                </a:tc>
                <a:tc>
                  <a:txBody>
                    <a:bodyPr/>
                    <a:lstStyle/>
                    <a:p>
                      <a:pPr algn="ctr">
                        <a:buNone/>
                      </a:pPr>
                      <a:r>
                        <a:rPr lang="fr-FR" sz="1200" u="none" strike="noStrike" dirty="0">
                          <a:effectLst/>
                          <a:uFill>
                            <a:solidFill>
                              <a:srgbClr val="000000"/>
                            </a:solidFill>
                          </a:uFill>
                        </a:rPr>
                        <a:t>Identifiant unique</a:t>
                      </a:r>
                      <a:endPar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32195" marR="32195" marT="0" marB="0"/>
                </a:tc>
                <a:extLst>
                  <a:ext uri="{0D108BD9-81ED-4DB2-BD59-A6C34878D82A}">
                    <a16:rowId xmlns:a16="http://schemas.microsoft.com/office/drawing/2014/main" val="2964894730"/>
                  </a:ext>
                </a:extLst>
              </a:tr>
            </a:tbl>
          </a:graphicData>
        </a:graphic>
      </p:graphicFrame>
      <p:sp>
        <p:nvSpPr>
          <p:cNvPr id="6" name="Titre 1">
            <a:extLst>
              <a:ext uri="{FF2B5EF4-FFF2-40B4-BE49-F238E27FC236}">
                <a16:creationId xmlns:a16="http://schemas.microsoft.com/office/drawing/2014/main" id="{639123A3-F551-BA09-16D6-6106391CABCC}"/>
              </a:ext>
            </a:extLst>
          </p:cNvPr>
          <p:cNvSpPr txBox="1">
            <a:spLocks/>
          </p:cNvSpPr>
          <p:nvPr/>
        </p:nvSpPr>
        <p:spPr>
          <a:xfrm>
            <a:off x="810243" y="2136755"/>
            <a:ext cx="9784080" cy="323044"/>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4000" kern="1200" cap="all" baseline="0">
                <a:solidFill>
                  <a:schemeClr val="bg2"/>
                </a:solidFill>
                <a:latin typeface="+mj-lt"/>
                <a:ea typeface="+mj-ea"/>
                <a:cs typeface="+mj-cs"/>
              </a:defRPr>
            </a:lvl1pPr>
          </a:lstStyle>
          <a:p>
            <a:r>
              <a:rPr lang="fr-FR" sz="1200" dirty="0">
                <a:solidFill>
                  <a:schemeClr val="tx2">
                    <a:lumMod val="10000"/>
                  </a:schemeClr>
                </a:solidFill>
              </a:rPr>
              <a:t>Table  Audit</a:t>
            </a:r>
          </a:p>
        </p:txBody>
      </p:sp>
      <p:graphicFrame>
        <p:nvGraphicFramePr>
          <p:cNvPr id="15" name="Tableau 14">
            <a:extLst>
              <a:ext uri="{FF2B5EF4-FFF2-40B4-BE49-F238E27FC236}">
                <a16:creationId xmlns:a16="http://schemas.microsoft.com/office/drawing/2014/main" id="{7D769AFC-D529-47D6-0E35-6DF211A65AA4}"/>
              </a:ext>
            </a:extLst>
          </p:cNvPr>
          <p:cNvGraphicFramePr>
            <a:graphicFrameLocks noGrp="1"/>
          </p:cNvGraphicFramePr>
          <p:nvPr>
            <p:extLst>
              <p:ext uri="{D42A27DB-BD31-4B8C-83A1-F6EECF244321}">
                <p14:modId xmlns:p14="http://schemas.microsoft.com/office/powerpoint/2010/main" val="769311574"/>
              </p:ext>
            </p:extLst>
          </p:nvPr>
        </p:nvGraphicFramePr>
        <p:xfrm>
          <a:off x="810243" y="662755"/>
          <a:ext cx="9784081" cy="1449777"/>
        </p:xfrm>
        <a:graphic>
          <a:graphicData uri="http://schemas.openxmlformats.org/drawingml/2006/table">
            <a:tbl>
              <a:tblPr firstRow="1" firstCol="1" bandRow="1">
                <a:tableStyleId>{5C22544A-7EE6-4342-B048-85BDC9FD1C3A}</a:tableStyleId>
              </a:tblPr>
              <a:tblGrid>
                <a:gridCol w="1437370">
                  <a:extLst>
                    <a:ext uri="{9D8B030D-6E8A-4147-A177-3AD203B41FA5}">
                      <a16:colId xmlns:a16="http://schemas.microsoft.com/office/drawing/2014/main" val="1258906147"/>
                    </a:ext>
                  </a:extLst>
                </a:gridCol>
                <a:gridCol w="1437370">
                  <a:extLst>
                    <a:ext uri="{9D8B030D-6E8A-4147-A177-3AD203B41FA5}">
                      <a16:colId xmlns:a16="http://schemas.microsoft.com/office/drawing/2014/main" val="1590305489"/>
                    </a:ext>
                  </a:extLst>
                </a:gridCol>
                <a:gridCol w="2798078">
                  <a:extLst>
                    <a:ext uri="{9D8B030D-6E8A-4147-A177-3AD203B41FA5}">
                      <a16:colId xmlns:a16="http://schemas.microsoft.com/office/drawing/2014/main" val="1629911197"/>
                    </a:ext>
                  </a:extLst>
                </a:gridCol>
                <a:gridCol w="1750988">
                  <a:extLst>
                    <a:ext uri="{9D8B030D-6E8A-4147-A177-3AD203B41FA5}">
                      <a16:colId xmlns:a16="http://schemas.microsoft.com/office/drawing/2014/main" val="839966242"/>
                    </a:ext>
                  </a:extLst>
                </a:gridCol>
                <a:gridCol w="2360275">
                  <a:extLst>
                    <a:ext uri="{9D8B030D-6E8A-4147-A177-3AD203B41FA5}">
                      <a16:colId xmlns:a16="http://schemas.microsoft.com/office/drawing/2014/main" val="2163240271"/>
                    </a:ext>
                  </a:extLst>
                </a:gridCol>
              </a:tblGrid>
              <a:tr h="160106">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Propriété</a:t>
                      </a:r>
                    </a:p>
                  </a:txBody>
                  <a:tcPr marL="32195" marR="32195" marT="0" marB="0"/>
                </a:tc>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Type</a:t>
                      </a:r>
                    </a:p>
                  </a:txBody>
                  <a:tcPr marL="32195" marR="32195" marT="0" marB="0"/>
                </a:tc>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Description</a:t>
                      </a:r>
                    </a:p>
                  </a:txBody>
                  <a:tcPr marL="32195" marR="32195" marT="0" marB="0"/>
                </a:tc>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Entité</a:t>
                      </a:r>
                    </a:p>
                  </a:txBody>
                  <a:tcPr marL="32195" marR="32195" marT="0" marB="0" anchor="ctr"/>
                </a:tc>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Observation</a:t>
                      </a:r>
                    </a:p>
                  </a:txBody>
                  <a:tcPr marL="32195" marR="32195" marT="0" marB="0"/>
                </a:tc>
                <a:extLst>
                  <a:ext uri="{0D108BD9-81ED-4DB2-BD59-A6C34878D82A}">
                    <a16:rowId xmlns:a16="http://schemas.microsoft.com/office/drawing/2014/main" val="3023209675"/>
                  </a:ext>
                </a:extLst>
              </a:tr>
              <a:tr h="233425">
                <a:tc>
                  <a:txBody>
                    <a:bodyPr/>
                    <a:lstStyle/>
                    <a:p>
                      <a:pPr algn="ctr">
                        <a:buNone/>
                      </a:pPr>
                      <a:r>
                        <a:rPr lang="fr-FR" sz="1200" u="none" strike="noStrike">
                          <a:effectLst/>
                          <a:uFill>
                            <a:solidFill>
                              <a:srgbClr val="000000"/>
                            </a:solidFill>
                          </a:uFill>
                        </a:rPr>
                        <a:t>id_produit</a:t>
                      </a:r>
                      <a:endParaRPr lang="fr-FR" sz="12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28030" marR="28030" marT="0" marB="0"/>
                </a:tc>
                <a:tc>
                  <a:txBody>
                    <a:bodyPr/>
                    <a:lstStyle/>
                    <a:p>
                      <a:pPr algn="ctr">
                        <a:buNone/>
                      </a:pPr>
                      <a:r>
                        <a:rPr lang="fr-FR" sz="1200" u="none" strike="noStrike">
                          <a:effectLst/>
                          <a:uFill>
                            <a:solidFill>
                              <a:srgbClr val="000000"/>
                            </a:solidFill>
                          </a:uFill>
                        </a:rPr>
                        <a:t>NUMÉRIQUE</a:t>
                      </a:r>
                      <a:endParaRPr lang="fr-FR" sz="12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28030" marR="28030" marT="0" marB="0"/>
                </a:tc>
                <a:tc>
                  <a:txBody>
                    <a:bodyPr/>
                    <a:lstStyle/>
                    <a:p>
                      <a:pPr algn="ctr">
                        <a:buNone/>
                      </a:pPr>
                      <a:r>
                        <a:rPr lang="fr-FR" sz="1200" u="none" strike="noStrike">
                          <a:effectLst/>
                          <a:uFill>
                            <a:solidFill>
                              <a:srgbClr val="000000"/>
                            </a:solidFill>
                          </a:uFill>
                        </a:rPr>
                        <a:t>Identifiant unique de produit</a:t>
                      </a:r>
                      <a:endParaRPr lang="fr-FR" sz="12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28030" marR="28030" marT="0" marB="0"/>
                </a:tc>
                <a:tc rowSpan="6">
                  <a:txBody>
                    <a:bodyPr/>
                    <a:lstStyle/>
                    <a:p>
                      <a:pPr algn="ctr">
                        <a:buNone/>
                      </a:pPr>
                      <a:r>
                        <a:rPr lang="fr-FR" sz="1200" u="none" strike="noStrike" dirty="0">
                          <a:effectLst/>
                          <a:uFill>
                            <a:solidFill>
                              <a:srgbClr val="000000"/>
                            </a:solidFill>
                          </a:uFill>
                        </a:rPr>
                        <a:t>Produit</a:t>
                      </a:r>
                      <a:endPar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28030" marR="28030" marT="0" marB="0" anchor="ctr"/>
                </a:tc>
                <a:tc>
                  <a:txBody>
                    <a:bodyPr/>
                    <a:lstStyle/>
                    <a:p>
                      <a:pPr algn="ctr">
                        <a:buNone/>
                      </a:pPr>
                      <a:r>
                        <a:rPr lang="fr-FR" sz="1200" u="none" strike="noStrike" dirty="0">
                          <a:effectLst/>
                          <a:uFill>
                            <a:solidFill>
                              <a:srgbClr val="000000"/>
                            </a:solidFill>
                          </a:uFill>
                        </a:rPr>
                        <a:t>Identifiant unique</a:t>
                      </a:r>
                      <a:endPar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28030" marR="28030" marT="0" marB="0"/>
                </a:tc>
                <a:extLst>
                  <a:ext uri="{0D108BD9-81ED-4DB2-BD59-A6C34878D82A}">
                    <a16:rowId xmlns:a16="http://schemas.microsoft.com/office/drawing/2014/main" val="1964369465"/>
                  </a:ext>
                </a:extLst>
              </a:tr>
              <a:tr h="167751">
                <a:tc>
                  <a:txBody>
                    <a:bodyPr/>
                    <a:lstStyle/>
                    <a:p>
                      <a:pPr algn="ctr">
                        <a:buNone/>
                      </a:pPr>
                      <a:r>
                        <a:rPr lang="fr-FR" sz="1200" u="none" strike="noStrike" dirty="0" err="1">
                          <a:effectLst/>
                          <a:uFill>
                            <a:solidFill>
                              <a:srgbClr val="000000"/>
                            </a:solidFill>
                          </a:uFill>
                        </a:rPr>
                        <a:t>Quantite</a:t>
                      </a:r>
                      <a:endPar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28030" marR="28030" marT="0" marB="0"/>
                </a:tc>
                <a:tc>
                  <a:txBody>
                    <a:bodyPr/>
                    <a:lstStyle/>
                    <a:p>
                      <a:pPr algn="ctr">
                        <a:buNone/>
                      </a:pPr>
                      <a:r>
                        <a:rPr lang="fr-FR" sz="1200" u="none" strike="noStrike" dirty="0">
                          <a:effectLst/>
                          <a:uFill>
                            <a:solidFill>
                              <a:srgbClr val="000000"/>
                            </a:solidFill>
                          </a:uFill>
                        </a:rPr>
                        <a:t>INT</a:t>
                      </a:r>
                      <a:endPar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28030" marR="28030" marT="0" marB="0"/>
                </a:tc>
                <a:tc>
                  <a:txBody>
                    <a:bodyPr/>
                    <a:lstStyle/>
                    <a:p>
                      <a:pPr algn="ctr">
                        <a:buNone/>
                      </a:pPr>
                      <a:r>
                        <a:rPr lang="fr-FR" sz="1200" u="none" strike="noStrike" dirty="0">
                          <a:effectLst/>
                          <a:uFill>
                            <a:solidFill>
                              <a:srgbClr val="000000"/>
                            </a:solidFill>
                          </a:uFill>
                        </a:rPr>
                        <a:t>Quantité de produit</a:t>
                      </a:r>
                      <a:endPar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28030" marR="28030" marT="0" marB="0"/>
                </a:tc>
                <a:tc vMerge="1">
                  <a:txBody>
                    <a:bodyPr/>
                    <a:lstStyle/>
                    <a:p>
                      <a:endParaRPr lang="fr-FR"/>
                    </a:p>
                  </a:txBody>
                  <a:tcPr/>
                </a:tc>
                <a:tc>
                  <a:txBody>
                    <a:bodyPr/>
                    <a:lstStyle/>
                    <a:p>
                      <a:pPr algn="ctr">
                        <a:buNone/>
                      </a:pPr>
                      <a:r>
                        <a:rPr lang="fr-FR" sz="1200" u="none" strike="noStrike">
                          <a:effectLst/>
                          <a:uFill>
                            <a:solidFill>
                              <a:srgbClr val="000000"/>
                            </a:solidFill>
                          </a:uFill>
                        </a:rPr>
                        <a:t> </a:t>
                      </a:r>
                      <a:endParaRPr lang="fr-FR" sz="12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28030" marR="28030" marT="0" marB="0"/>
                </a:tc>
                <a:extLst>
                  <a:ext uri="{0D108BD9-81ED-4DB2-BD59-A6C34878D82A}">
                    <a16:rowId xmlns:a16="http://schemas.microsoft.com/office/drawing/2014/main" val="2780896367"/>
                  </a:ext>
                </a:extLst>
              </a:tr>
              <a:tr h="160106">
                <a:tc>
                  <a:txBody>
                    <a:bodyPr/>
                    <a:lstStyle/>
                    <a:p>
                      <a:pPr algn="ctr">
                        <a:buNone/>
                      </a:pPr>
                      <a:r>
                        <a:rPr lang="fr-FR" sz="1200" u="none" strike="noStrike">
                          <a:effectLst/>
                          <a:uFill>
                            <a:solidFill>
                              <a:srgbClr val="000000"/>
                            </a:solidFill>
                          </a:uFill>
                        </a:rPr>
                        <a:t>designation</a:t>
                      </a:r>
                      <a:endParaRPr lang="fr-FR" sz="12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28030" marR="28030" marT="0" marB="0"/>
                </a:tc>
                <a:tc>
                  <a:txBody>
                    <a:bodyPr/>
                    <a:lstStyle/>
                    <a:p>
                      <a:pPr algn="ctr">
                        <a:buNone/>
                      </a:pPr>
                      <a:r>
                        <a:rPr lang="fr-FR" sz="1200" u="none" strike="noStrike">
                          <a:effectLst/>
                          <a:uFill>
                            <a:solidFill>
                              <a:srgbClr val="000000"/>
                            </a:solidFill>
                          </a:uFill>
                        </a:rPr>
                        <a:t>TEXTE</a:t>
                      </a:r>
                      <a:endParaRPr lang="fr-FR" sz="12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28030" marR="28030" marT="0" marB="0"/>
                </a:tc>
                <a:tc>
                  <a:txBody>
                    <a:bodyPr/>
                    <a:lstStyle/>
                    <a:p>
                      <a:pPr algn="ctr">
                        <a:buNone/>
                      </a:pPr>
                      <a:r>
                        <a:rPr lang="fr-FR" sz="1200" u="none" strike="noStrike">
                          <a:effectLst/>
                          <a:uFill>
                            <a:solidFill>
                              <a:srgbClr val="000000"/>
                            </a:solidFill>
                          </a:uFill>
                        </a:rPr>
                        <a:t>Nom du produit</a:t>
                      </a:r>
                      <a:endParaRPr lang="fr-FR" sz="12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28030" marR="28030" marT="0" marB="0"/>
                </a:tc>
                <a:tc vMerge="1">
                  <a:txBody>
                    <a:bodyPr/>
                    <a:lstStyle/>
                    <a:p>
                      <a:endParaRPr lang="fr-FR"/>
                    </a:p>
                  </a:txBody>
                  <a:tcPr/>
                </a:tc>
                <a:tc>
                  <a:txBody>
                    <a:bodyPr/>
                    <a:lstStyle/>
                    <a:p>
                      <a:pPr algn="ctr">
                        <a:buNone/>
                      </a:pPr>
                      <a:r>
                        <a:rPr lang="fr-FR" sz="1200" u="none" strike="noStrike">
                          <a:effectLst/>
                          <a:uFill>
                            <a:solidFill>
                              <a:srgbClr val="000000"/>
                            </a:solidFill>
                          </a:uFill>
                        </a:rPr>
                        <a:t> </a:t>
                      </a:r>
                      <a:endParaRPr lang="fr-FR" sz="12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28030" marR="28030" marT="0" marB="0"/>
                </a:tc>
                <a:extLst>
                  <a:ext uri="{0D108BD9-81ED-4DB2-BD59-A6C34878D82A}">
                    <a16:rowId xmlns:a16="http://schemas.microsoft.com/office/drawing/2014/main" val="64888391"/>
                  </a:ext>
                </a:extLst>
              </a:tr>
              <a:tr h="160106">
                <a:tc>
                  <a:txBody>
                    <a:bodyPr/>
                    <a:lstStyle/>
                    <a:p>
                      <a:pPr algn="ctr">
                        <a:buNone/>
                      </a:pPr>
                      <a:r>
                        <a:rPr lang="fr-FR" sz="1200" u="none" strike="noStrike">
                          <a:effectLst/>
                          <a:uFill>
                            <a:solidFill>
                              <a:srgbClr val="000000"/>
                            </a:solidFill>
                          </a:uFill>
                        </a:rPr>
                        <a:t>description</a:t>
                      </a:r>
                      <a:endParaRPr lang="fr-FR" sz="12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28030" marR="28030" marT="0" marB="0"/>
                </a:tc>
                <a:tc>
                  <a:txBody>
                    <a:bodyPr/>
                    <a:lstStyle/>
                    <a:p>
                      <a:pPr algn="ctr">
                        <a:buNone/>
                      </a:pPr>
                      <a:r>
                        <a:rPr lang="fr-FR" sz="1200" u="none" strike="noStrike">
                          <a:effectLst/>
                          <a:uFill>
                            <a:solidFill>
                              <a:srgbClr val="000000"/>
                            </a:solidFill>
                          </a:uFill>
                        </a:rPr>
                        <a:t>TEXTE</a:t>
                      </a:r>
                      <a:endParaRPr lang="fr-FR" sz="12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28030" marR="28030" marT="0" marB="0"/>
                </a:tc>
                <a:tc>
                  <a:txBody>
                    <a:bodyPr/>
                    <a:lstStyle/>
                    <a:p>
                      <a:pPr algn="ctr">
                        <a:buNone/>
                      </a:pPr>
                      <a:r>
                        <a:rPr lang="fr-FR" sz="1200" u="none" strike="noStrike">
                          <a:effectLst/>
                          <a:uFill>
                            <a:solidFill>
                              <a:srgbClr val="000000"/>
                            </a:solidFill>
                          </a:uFill>
                        </a:rPr>
                        <a:t>Détails techniques</a:t>
                      </a:r>
                      <a:endParaRPr lang="fr-FR" sz="12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28030" marR="28030" marT="0" marB="0"/>
                </a:tc>
                <a:tc vMerge="1">
                  <a:txBody>
                    <a:bodyPr/>
                    <a:lstStyle/>
                    <a:p>
                      <a:endParaRPr lang="fr-FR"/>
                    </a:p>
                  </a:txBody>
                  <a:tcPr/>
                </a:tc>
                <a:tc>
                  <a:txBody>
                    <a:bodyPr/>
                    <a:lstStyle/>
                    <a:p>
                      <a:pPr algn="ctr">
                        <a:buNone/>
                      </a:pPr>
                      <a:r>
                        <a:rPr lang="fr-FR" sz="1200" u="none" strike="noStrike">
                          <a:effectLst/>
                          <a:uFill>
                            <a:solidFill>
                              <a:srgbClr val="000000"/>
                            </a:solidFill>
                          </a:uFill>
                        </a:rPr>
                        <a:t> </a:t>
                      </a:r>
                      <a:endParaRPr lang="fr-FR" sz="12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28030" marR="28030" marT="0" marB="0"/>
                </a:tc>
                <a:extLst>
                  <a:ext uri="{0D108BD9-81ED-4DB2-BD59-A6C34878D82A}">
                    <a16:rowId xmlns:a16="http://schemas.microsoft.com/office/drawing/2014/main" val="446224209"/>
                  </a:ext>
                </a:extLst>
              </a:tr>
              <a:tr h="167751">
                <a:tc>
                  <a:txBody>
                    <a:bodyPr/>
                    <a:lstStyle/>
                    <a:p>
                      <a:pPr algn="ctr">
                        <a:buNone/>
                      </a:pPr>
                      <a:r>
                        <a:rPr lang="fr-FR" sz="1200" u="none" strike="noStrike">
                          <a:effectLst/>
                          <a:uFill>
                            <a:solidFill>
                              <a:srgbClr val="000000"/>
                            </a:solidFill>
                          </a:uFill>
                        </a:rPr>
                        <a:t>prix_unitaire</a:t>
                      </a:r>
                      <a:endParaRPr lang="fr-FR" sz="12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28030" marR="28030" marT="0" marB="0"/>
                </a:tc>
                <a:tc>
                  <a:txBody>
                    <a:bodyPr/>
                    <a:lstStyle/>
                    <a:p>
                      <a:pPr algn="ctr">
                        <a:buNone/>
                      </a:pPr>
                      <a:r>
                        <a:rPr lang="fr-FR" sz="1200" u="none" strike="noStrike">
                          <a:effectLst/>
                          <a:uFill>
                            <a:solidFill>
                              <a:srgbClr val="000000"/>
                            </a:solidFill>
                          </a:uFill>
                        </a:rPr>
                        <a:t>NUMÉRIQUE</a:t>
                      </a:r>
                      <a:endParaRPr lang="fr-FR" sz="12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28030" marR="28030" marT="0" marB="0"/>
                </a:tc>
                <a:tc>
                  <a:txBody>
                    <a:bodyPr/>
                    <a:lstStyle/>
                    <a:p>
                      <a:pPr algn="ctr">
                        <a:buNone/>
                      </a:pPr>
                      <a:r>
                        <a:rPr lang="fr-FR" sz="1200" u="none" strike="noStrike">
                          <a:effectLst/>
                          <a:uFill>
                            <a:solidFill>
                              <a:srgbClr val="000000"/>
                            </a:solidFill>
                          </a:uFill>
                        </a:rPr>
                        <a:t>Prix de vente de base</a:t>
                      </a:r>
                      <a:endParaRPr lang="fr-FR" sz="12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28030" marR="28030" marT="0" marB="0"/>
                </a:tc>
                <a:tc vMerge="1">
                  <a:txBody>
                    <a:bodyPr/>
                    <a:lstStyle/>
                    <a:p>
                      <a:endParaRPr lang="fr-FR"/>
                    </a:p>
                  </a:txBody>
                  <a:tcPr/>
                </a:tc>
                <a:tc>
                  <a:txBody>
                    <a:bodyPr/>
                    <a:lstStyle/>
                    <a:p>
                      <a:pPr algn="ctr">
                        <a:buNone/>
                      </a:pPr>
                      <a:r>
                        <a:rPr lang="fr-FR" sz="1200" u="none" strike="noStrike">
                          <a:effectLst/>
                          <a:uFill>
                            <a:solidFill>
                              <a:srgbClr val="000000"/>
                            </a:solidFill>
                          </a:uFill>
                        </a:rPr>
                        <a:t> </a:t>
                      </a:r>
                      <a:endParaRPr lang="fr-FR" sz="12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28030" marR="28030" marT="0" marB="0"/>
                </a:tc>
                <a:extLst>
                  <a:ext uri="{0D108BD9-81ED-4DB2-BD59-A6C34878D82A}">
                    <a16:rowId xmlns:a16="http://schemas.microsoft.com/office/drawing/2014/main" val="1866417479"/>
                  </a:ext>
                </a:extLst>
              </a:tr>
              <a:tr h="301952">
                <a:tc>
                  <a:txBody>
                    <a:bodyPr/>
                    <a:lstStyle/>
                    <a:p>
                      <a:pPr algn="ctr">
                        <a:buNone/>
                      </a:pPr>
                      <a:r>
                        <a:rPr lang="fr-FR" sz="1200" u="none" strike="noStrike" dirty="0" err="1">
                          <a:effectLst/>
                          <a:uFill>
                            <a:solidFill>
                              <a:srgbClr val="000000"/>
                            </a:solidFill>
                          </a:uFill>
                        </a:rPr>
                        <a:t>seuil_alerte</a:t>
                      </a:r>
                      <a:endPar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28030" marR="28030" marT="0" marB="0"/>
                </a:tc>
                <a:tc>
                  <a:txBody>
                    <a:bodyPr/>
                    <a:lstStyle/>
                    <a:p>
                      <a:pPr algn="ctr">
                        <a:buNone/>
                      </a:pPr>
                      <a:r>
                        <a:rPr lang="fr-FR" sz="1200" u="none" strike="noStrike" dirty="0">
                          <a:effectLst/>
                          <a:uFill>
                            <a:solidFill>
                              <a:srgbClr val="000000"/>
                            </a:solidFill>
                          </a:uFill>
                        </a:rPr>
                        <a:t>NUMÉRIQUE</a:t>
                      </a:r>
                      <a:endPar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28030" marR="28030" marT="0" marB="0"/>
                </a:tc>
                <a:tc>
                  <a:txBody>
                    <a:bodyPr/>
                    <a:lstStyle/>
                    <a:p>
                      <a:pPr algn="ctr">
                        <a:buNone/>
                      </a:pPr>
                      <a:r>
                        <a:rPr lang="fr-FR" sz="1200" u="none" strike="noStrike" dirty="0">
                          <a:effectLst/>
                          <a:uFill>
                            <a:solidFill>
                              <a:srgbClr val="000000"/>
                            </a:solidFill>
                          </a:uFill>
                        </a:rPr>
                        <a:t>L’état  de quantité de produit</a:t>
                      </a:r>
                      <a:endPar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28030" marR="28030" marT="0" marB="0"/>
                </a:tc>
                <a:tc vMerge="1">
                  <a:txBody>
                    <a:bodyPr/>
                    <a:lstStyle/>
                    <a:p>
                      <a:endParaRPr lang="fr-FR"/>
                    </a:p>
                  </a:txBody>
                  <a:tcPr/>
                </a:tc>
                <a:tc>
                  <a:txBody>
                    <a:bodyPr/>
                    <a:lstStyle/>
                    <a:p>
                      <a:pPr algn="ctr">
                        <a:buNone/>
                      </a:pPr>
                      <a:r>
                        <a:rPr lang="fr-FR" sz="1200" u="none" strike="noStrike" dirty="0">
                          <a:effectLst/>
                          <a:uFill>
                            <a:solidFill>
                              <a:srgbClr val="000000"/>
                            </a:solidFill>
                          </a:uFill>
                        </a:rPr>
                        <a:t> </a:t>
                      </a:r>
                      <a:endPar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28030" marR="28030" marT="0" marB="0"/>
                </a:tc>
                <a:extLst>
                  <a:ext uri="{0D108BD9-81ED-4DB2-BD59-A6C34878D82A}">
                    <a16:rowId xmlns:a16="http://schemas.microsoft.com/office/drawing/2014/main" val="1128506172"/>
                  </a:ext>
                </a:extLst>
              </a:tr>
            </a:tbl>
          </a:graphicData>
        </a:graphic>
      </p:graphicFrame>
      <p:sp>
        <p:nvSpPr>
          <p:cNvPr id="17" name="Titre 1">
            <a:extLst>
              <a:ext uri="{FF2B5EF4-FFF2-40B4-BE49-F238E27FC236}">
                <a16:creationId xmlns:a16="http://schemas.microsoft.com/office/drawing/2014/main" id="{8BFFFFB4-7FB8-17D1-AE23-F0B1061C2E69}"/>
              </a:ext>
            </a:extLst>
          </p:cNvPr>
          <p:cNvSpPr txBox="1">
            <a:spLocks/>
          </p:cNvSpPr>
          <p:nvPr/>
        </p:nvSpPr>
        <p:spPr>
          <a:xfrm>
            <a:off x="810244" y="260493"/>
            <a:ext cx="6662972" cy="384135"/>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4000" kern="1200" cap="all" baseline="0">
                <a:solidFill>
                  <a:schemeClr val="bg2"/>
                </a:solidFill>
                <a:latin typeface="+mj-lt"/>
                <a:ea typeface="+mj-ea"/>
                <a:cs typeface="+mj-cs"/>
              </a:defRPr>
            </a:lvl1pPr>
          </a:lstStyle>
          <a:p>
            <a:r>
              <a:rPr lang="fr-FR" sz="1500" dirty="0">
                <a:solidFill>
                  <a:schemeClr val="tx2">
                    <a:lumMod val="10000"/>
                  </a:schemeClr>
                </a:solidFill>
              </a:rPr>
              <a:t>Table Produit :</a:t>
            </a:r>
          </a:p>
        </p:txBody>
      </p:sp>
      <p:graphicFrame>
        <p:nvGraphicFramePr>
          <p:cNvPr id="23" name="Tableau 22">
            <a:extLst>
              <a:ext uri="{FF2B5EF4-FFF2-40B4-BE49-F238E27FC236}">
                <a16:creationId xmlns:a16="http://schemas.microsoft.com/office/drawing/2014/main" id="{D6A127DA-C78D-B6CA-0977-C084FAAC25AB}"/>
              </a:ext>
            </a:extLst>
          </p:cNvPr>
          <p:cNvGraphicFramePr>
            <a:graphicFrameLocks noGrp="1"/>
          </p:cNvGraphicFramePr>
          <p:nvPr>
            <p:extLst>
              <p:ext uri="{D42A27DB-BD31-4B8C-83A1-F6EECF244321}">
                <p14:modId xmlns:p14="http://schemas.microsoft.com/office/powerpoint/2010/main" val="2964415666"/>
              </p:ext>
            </p:extLst>
          </p:nvPr>
        </p:nvGraphicFramePr>
        <p:xfrm>
          <a:off x="810243" y="5360389"/>
          <a:ext cx="9252490" cy="1171575"/>
        </p:xfrm>
        <a:graphic>
          <a:graphicData uri="http://schemas.openxmlformats.org/drawingml/2006/table">
            <a:tbl>
              <a:tblPr firstRow="1" firstCol="1" bandRow="1">
                <a:tableStyleId>{5C22544A-7EE6-4342-B048-85BDC9FD1C3A}</a:tableStyleId>
              </a:tblPr>
              <a:tblGrid>
                <a:gridCol w="1359274">
                  <a:extLst>
                    <a:ext uri="{9D8B030D-6E8A-4147-A177-3AD203B41FA5}">
                      <a16:colId xmlns:a16="http://schemas.microsoft.com/office/drawing/2014/main" val="1503650294"/>
                    </a:ext>
                  </a:extLst>
                </a:gridCol>
                <a:gridCol w="2448977">
                  <a:extLst>
                    <a:ext uri="{9D8B030D-6E8A-4147-A177-3AD203B41FA5}">
                      <a16:colId xmlns:a16="http://schemas.microsoft.com/office/drawing/2014/main" val="3734623116"/>
                    </a:ext>
                  </a:extLst>
                </a:gridCol>
                <a:gridCol w="2030278">
                  <a:extLst>
                    <a:ext uri="{9D8B030D-6E8A-4147-A177-3AD203B41FA5}">
                      <a16:colId xmlns:a16="http://schemas.microsoft.com/office/drawing/2014/main" val="1913930384"/>
                    </a:ext>
                  </a:extLst>
                </a:gridCol>
                <a:gridCol w="1181925">
                  <a:extLst>
                    <a:ext uri="{9D8B030D-6E8A-4147-A177-3AD203B41FA5}">
                      <a16:colId xmlns:a16="http://schemas.microsoft.com/office/drawing/2014/main" val="3332312095"/>
                    </a:ext>
                  </a:extLst>
                </a:gridCol>
                <a:gridCol w="2232036">
                  <a:extLst>
                    <a:ext uri="{9D8B030D-6E8A-4147-A177-3AD203B41FA5}">
                      <a16:colId xmlns:a16="http://schemas.microsoft.com/office/drawing/2014/main" val="3332919423"/>
                    </a:ext>
                  </a:extLst>
                </a:gridCol>
              </a:tblGrid>
              <a:tr h="234315">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Propriété</a:t>
                      </a:r>
                    </a:p>
                  </a:txBody>
                  <a:tcPr marL="32195" marR="32195" marT="0" marB="0"/>
                </a:tc>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Type</a:t>
                      </a:r>
                    </a:p>
                  </a:txBody>
                  <a:tcPr marL="32195" marR="32195" marT="0" marB="0"/>
                </a:tc>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Description</a:t>
                      </a:r>
                    </a:p>
                  </a:txBody>
                  <a:tcPr marL="32195" marR="32195" marT="0" marB="0"/>
                </a:tc>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Entité</a:t>
                      </a:r>
                    </a:p>
                  </a:txBody>
                  <a:tcPr marL="32195" marR="32195" marT="0" marB="0" anchor="ctr"/>
                </a:tc>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Observation</a:t>
                      </a:r>
                    </a:p>
                  </a:txBody>
                  <a:tcPr marL="32195" marR="32195" marT="0" marB="0"/>
                </a:tc>
                <a:extLst>
                  <a:ext uri="{0D108BD9-81ED-4DB2-BD59-A6C34878D82A}">
                    <a16:rowId xmlns:a16="http://schemas.microsoft.com/office/drawing/2014/main" val="1668869291"/>
                  </a:ext>
                </a:extLst>
              </a:tr>
              <a:tr h="234315">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id_produit</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NUMÉRIQUE</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Identifiant de produit</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rowSpan="4">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Ligne_inventaire</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tc>
                <a:tc>
                  <a:txBody>
                    <a:bodyPr/>
                    <a:lstStyle/>
                    <a:p>
                      <a:pPr algn="ctr">
                        <a:buNone/>
                      </a:pPr>
                      <a:r>
                        <a:rPr lang="fr-FR" sz="1200" b="0" u="none" strike="noStrike"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Identifiant unique</a:t>
                      </a:r>
                      <a:endParaRPr lang="fr-FR" sz="1800" b="0"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3295030676"/>
                  </a:ext>
                </a:extLst>
              </a:tr>
              <a:tr h="234315">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id_inventaire</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NUMÉRIQUE</a:t>
                      </a:r>
                      <a:endParaRPr lang="fr-FR" sz="1800" b="0"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Identifiant de l’inventaire</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vMerge="1">
                  <a:txBody>
                    <a:bodyPr/>
                    <a:lstStyle/>
                    <a:p>
                      <a:endParaRPr lang="fr-FR"/>
                    </a:p>
                  </a:txBody>
                  <a:tcPr/>
                </a:tc>
                <a:tc>
                  <a:txBody>
                    <a:bodyPr/>
                    <a:lstStyle/>
                    <a:p>
                      <a:pPr algn="ctr">
                        <a:buNone/>
                      </a:pPr>
                      <a:r>
                        <a:rPr lang="fr-FR" sz="1200" b="0" u="none" strike="noStrike"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Identifiant unique</a:t>
                      </a:r>
                      <a:endParaRPr lang="fr-FR" sz="1800" b="0"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2606743612"/>
                  </a:ext>
                </a:extLst>
              </a:tr>
              <a:tr h="234315">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stock_theorique</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NUMÉRIQUE</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Stocke en théorie</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vMerge="1">
                  <a:txBody>
                    <a:bodyPr/>
                    <a:lstStyle/>
                    <a:p>
                      <a:endParaRPr lang="fr-FR"/>
                    </a:p>
                  </a:txBody>
                  <a:tcPr/>
                </a:tc>
                <a:tc>
                  <a:txBody>
                    <a:bodyPr/>
                    <a:lstStyle/>
                    <a:p>
                      <a:pPr algn="ctr">
                        <a:buNone/>
                      </a:pPr>
                      <a:r>
                        <a:rPr lang="fr-FR" sz="1200" b="0" u="none" strike="noStrike"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endParaRPr lang="fr-FR" sz="1800" b="0"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3732144682"/>
                  </a:ext>
                </a:extLst>
              </a:tr>
              <a:tr h="234315">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stock_reel</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NUMÉRIQUE</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Stock en réalité</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vMerge="1">
                  <a:txBody>
                    <a:bodyPr/>
                    <a:lstStyle/>
                    <a:p>
                      <a:endParaRPr lang="fr-FR"/>
                    </a:p>
                  </a:txBody>
                  <a:tcPr/>
                </a:tc>
                <a:tc>
                  <a:txBody>
                    <a:bodyPr/>
                    <a:lstStyle/>
                    <a:p>
                      <a:pPr algn="ctr">
                        <a:buNone/>
                      </a:pPr>
                      <a:r>
                        <a:rPr lang="fr-FR" sz="1200" b="0" u="none" strike="noStrike"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endParaRPr lang="fr-FR" sz="1800" b="0"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1665990046"/>
                  </a:ext>
                </a:extLst>
              </a:tr>
            </a:tbl>
          </a:graphicData>
        </a:graphic>
      </p:graphicFrame>
      <p:sp>
        <p:nvSpPr>
          <p:cNvPr id="25" name="Titre 1">
            <a:extLst>
              <a:ext uri="{FF2B5EF4-FFF2-40B4-BE49-F238E27FC236}">
                <a16:creationId xmlns:a16="http://schemas.microsoft.com/office/drawing/2014/main" id="{ED4D06EF-E520-9636-15B0-721F10A8F34A}"/>
              </a:ext>
            </a:extLst>
          </p:cNvPr>
          <p:cNvSpPr txBox="1">
            <a:spLocks/>
          </p:cNvSpPr>
          <p:nvPr/>
        </p:nvSpPr>
        <p:spPr>
          <a:xfrm>
            <a:off x="810244" y="5037345"/>
            <a:ext cx="9784080" cy="323044"/>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4000" kern="1200" cap="all" baseline="0">
                <a:solidFill>
                  <a:schemeClr val="bg2"/>
                </a:solidFill>
                <a:latin typeface="+mj-lt"/>
                <a:ea typeface="+mj-ea"/>
                <a:cs typeface="+mj-cs"/>
              </a:defRPr>
            </a:lvl1pPr>
          </a:lstStyle>
          <a:p>
            <a:r>
              <a:rPr lang="fr-FR" sz="1200" dirty="0">
                <a:solidFill>
                  <a:schemeClr val="tx2">
                    <a:lumMod val="10000"/>
                  </a:schemeClr>
                </a:solidFill>
              </a:rPr>
              <a:t>Table  Ligne inventaire</a:t>
            </a:r>
          </a:p>
        </p:txBody>
      </p:sp>
    </p:spTree>
    <p:extLst>
      <p:ext uri="{BB962C8B-B14F-4D97-AF65-F5344CB8AC3E}">
        <p14:creationId xmlns:p14="http://schemas.microsoft.com/office/powerpoint/2010/main" val="39674274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a:extLst>
              <a:ext uri="{FF2B5EF4-FFF2-40B4-BE49-F238E27FC236}">
                <a16:creationId xmlns:a16="http://schemas.microsoft.com/office/drawing/2014/main" id="{8F3B8661-1760-43BF-AE99-EDA037333A98}"/>
              </a:ext>
            </a:extLst>
          </p:cNvPr>
          <p:cNvGraphicFramePr>
            <a:graphicFrameLocks noGrp="1"/>
          </p:cNvGraphicFramePr>
          <p:nvPr>
            <p:extLst>
              <p:ext uri="{D42A27DB-BD31-4B8C-83A1-F6EECF244321}">
                <p14:modId xmlns:p14="http://schemas.microsoft.com/office/powerpoint/2010/main" val="2267432421"/>
              </p:ext>
            </p:extLst>
          </p:nvPr>
        </p:nvGraphicFramePr>
        <p:xfrm>
          <a:off x="546771" y="3009460"/>
          <a:ext cx="9252490" cy="937260"/>
        </p:xfrm>
        <a:graphic>
          <a:graphicData uri="http://schemas.openxmlformats.org/drawingml/2006/table">
            <a:tbl>
              <a:tblPr firstRow="1" firstCol="1" bandRow="1">
                <a:tableStyleId>{5C22544A-7EE6-4342-B048-85BDC9FD1C3A}</a:tableStyleId>
              </a:tblPr>
              <a:tblGrid>
                <a:gridCol w="1359274">
                  <a:extLst>
                    <a:ext uri="{9D8B030D-6E8A-4147-A177-3AD203B41FA5}">
                      <a16:colId xmlns:a16="http://schemas.microsoft.com/office/drawing/2014/main" val="1503650294"/>
                    </a:ext>
                  </a:extLst>
                </a:gridCol>
                <a:gridCol w="2448977">
                  <a:extLst>
                    <a:ext uri="{9D8B030D-6E8A-4147-A177-3AD203B41FA5}">
                      <a16:colId xmlns:a16="http://schemas.microsoft.com/office/drawing/2014/main" val="3734623116"/>
                    </a:ext>
                  </a:extLst>
                </a:gridCol>
                <a:gridCol w="2030278">
                  <a:extLst>
                    <a:ext uri="{9D8B030D-6E8A-4147-A177-3AD203B41FA5}">
                      <a16:colId xmlns:a16="http://schemas.microsoft.com/office/drawing/2014/main" val="1913930384"/>
                    </a:ext>
                  </a:extLst>
                </a:gridCol>
                <a:gridCol w="1181925">
                  <a:extLst>
                    <a:ext uri="{9D8B030D-6E8A-4147-A177-3AD203B41FA5}">
                      <a16:colId xmlns:a16="http://schemas.microsoft.com/office/drawing/2014/main" val="3332312095"/>
                    </a:ext>
                  </a:extLst>
                </a:gridCol>
                <a:gridCol w="2232036">
                  <a:extLst>
                    <a:ext uri="{9D8B030D-6E8A-4147-A177-3AD203B41FA5}">
                      <a16:colId xmlns:a16="http://schemas.microsoft.com/office/drawing/2014/main" val="3332919423"/>
                    </a:ext>
                  </a:extLst>
                </a:gridCol>
              </a:tblGrid>
              <a:tr h="234315">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Propriété</a:t>
                      </a:r>
                    </a:p>
                  </a:txBody>
                  <a:tcPr marL="32195" marR="32195" marT="0" marB="0"/>
                </a:tc>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Type</a:t>
                      </a:r>
                    </a:p>
                  </a:txBody>
                  <a:tcPr marL="32195" marR="32195" marT="0" marB="0"/>
                </a:tc>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Description</a:t>
                      </a:r>
                    </a:p>
                  </a:txBody>
                  <a:tcPr marL="32195" marR="32195" marT="0" marB="0"/>
                </a:tc>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Entité</a:t>
                      </a:r>
                    </a:p>
                  </a:txBody>
                  <a:tcPr marL="32195" marR="32195" marT="0" marB="0" anchor="ctr"/>
                </a:tc>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Observation</a:t>
                      </a:r>
                    </a:p>
                  </a:txBody>
                  <a:tcPr marL="32195" marR="32195" marT="0" marB="0"/>
                </a:tc>
                <a:extLst>
                  <a:ext uri="{0D108BD9-81ED-4DB2-BD59-A6C34878D82A}">
                    <a16:rowId xmlns:a16="http://schemas.microsoft.com/office/drawing/2014/main" val="1668869291"/>
                  </a:ext>
                </a:extLst>
              </a:tr>
              <a:tr h="234315">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id_produit</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NUMÉRIQUE</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Identifiant de produit</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rowSpan="3">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Fournir</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tc>
                <a:tc>
                  <a:txBody>
                    <a:bodyPr/>
                    <a:lstStyle/>
                    <a:p>
                      <a:pPr algn="ctr">
                        <a:buNone/>
                      </a:pPr>
                      <a:r>
                        <a:rPr lang="fr-FR" sz="1200" b="0" u="none" strike="noStrike"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Identifiant unique</a:t>
                      </a:r>
                      <a:endParaRPr lang="fr-FR" sz="1800" b="0"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3295030676"/>
                  </a:ext>
                </a:extLst>
              </a:tr>
              <a:tr h="234315">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id_fournisseur</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NUMÉRIQUE</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Identifiant de fournisseur</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vMerge="1">
                  <a:txBody>
                    <a:bodyPr/>
                    <a:lstStyle/>
                    <a:p>
                      <a:endParaRPr lang="fr-FR"/>
                    </a:p>
                  </a:txBody>
                  <a:tcPr/>
                </a:tc>
                <a:tc>
                  <a:txBody>
                    <a:bodyPr/>
                    <a:lstStyle/>
                    <a:p>
                      <a:pPr algn="ctr">
                        <a:buNone/>
                      </a:pPr>
                      <a:r>
                        <a:rPr lang="fr-FR" sz="1200" b="0" u="none" strike="noStrike"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Identifiant unique</a:t>
                      </a:r>
                      <a:endParaRPr lang="fr-FR" sz="1800" b="0"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2606743612"/>
                  </a:ext>
                </a:extLst>
              </a:tr>
              <a:tr h="234315">
                <a:tc>
                  <a:txBody>
                    <a:bodyPr/>
                    <a:lstStyle/>
                    <a:p>
                      <a:pPr algn="ctr">
                        <a:buNone/>
                      </a:pPr>
                      <a:r>
                        <a:rPr lang="fr-FR" sz="1200" b="0" u="none" strike="noStrike" dirty="0" err="1">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quantite</a:t>
                      </a:r>
                      <a:endParaRPr lang="fr-FR" sz="1800" b="0"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NUMÉRIQUE</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b="0" u="none" strike="noStrike">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Quantité fournit</a:t>
                      </a:r>
                      <a:endParaRPr lang="fr-FR" sz="1800" b="0"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vMerge="1">
                  <a:txBody>
                    <a:bodyPr/>
                    <a:lstStyle/>
                    <a:p>
                      <a:endParaRPr lang="fr-FR"/>
                    </a:p>
                  </a:txBody>
                  <a:tcPr/>
                </a:tc>
                <a:tc>
                  <a:txBody>
                    <a:bodyPr/>
                    <a:lstStyle/>
                    <a:p>
                      <a:pPr algn="ctr">
                        <a:buNone/>
                      </a:pPr>
                      <a:r>
                        <a:rPr lang="fr-FR" sz="1200" b="0" u="none" strike="noStrike" dirty="0" err="1">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integer</a:t>
                      </a:r>
                      <a:endParaRPr lang="fr-FR" sz="1800" b="0"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3732144682"/>
                  </a:ext>
                </a:extLst>
              </a:tr>
            </a:tbl>
          </a:graphicData>
        </a:graphic>
      </p:graphicFrame>
      <p:sp>
        <p:nvSpPr>
          <p:cNvPr id="5" name="Titre 1">
            <a:extLst>
              <a:ext uri="{FF2B5EF4-FFF2-40B4-BE49-F238E27FC236}">
                <a16:creationId xmlns:a16="http://schemas.microsoft.com/office/drawing/2014/main" id="{60B0393C-3626-5184-0238-B604175EF177}"/>
              </a:ext>
            </a:extLst>
          </p:cNvPr>
          <p:cNvSpPr txBox="1">
            <a:spLocks/>
          </p:cNvSpPr>
          <p:nvPr/>
        </p:nvSpPr>
        <p:spPr>
          <a:xfrm>
            <a:off x="546772" y="2686416"/>
            <a:ext cx="9784080" cy="323044"/>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4000" kern="1200" cap="all" baseline="0">
                <a:solidFill>
                  <a:schemeClr val="bg2"/>
                </a:solidFill>
                <a:latin typeface="+mj-lt"/>
                <a:ea typeface="+mj-ea"/>
                <a:cs typeface="+mj-cs"/>
              </a:defRPr>
            </a:lvl1pPr>
          </a:lstStyle>
          <a:p>
            <a:r>
              <a:rPr lang="fr-FR" sz="1200" dirty="0">
                <a:solidFill>
                  <a:schemeClr val="tx2">
                    <a:lumMod val="10000"/>
                  </a:schemeClr>
                </a:solidFill>
              </a:rPr>
              <a:t>Table  Fournir</a:t>
            </a:r>
          </a:p>
        </p:txBody>
      </p:sp>
      <p:graphicFrame>
        <p:nvGraphicFramePr>
          <p:cNvPr id="7" name="Tableau 6">
            <a:extLst>
              <a:ext uri="{FF2B5EF4-FFF2-40B4-BE49-F238E27FC236}">
                <a16:creationId xmlns:a16="http://schemas.microsoft.com/office/drawing/2014/main" id="{E923FA88-C851-2498-8E92-C285D621EAEC}"/>
              </a:ext>
            </a:extLst>
          </p:cNvPr>
          <p:cNvGraphicFramePr>
            <a:graphicFrameLocks noGrp="1"/>
          </p:cNvGraphicFramePr>
          <p:nvPr>
            <p:extLst>
              <p:ext uri="{D42A27DB-BD31-4B8C-83A1-F6EECF244321}">
                <p14:modId xmlns:p14="http://schemas.microsoft.com/office/powerpoint/2010/main" val="3554129642"/>
              </p:ext>
            </p:extLst>
          </p:nvPr>
        </p:nvGraphicFramePr>
        <p:xfrm>
          <a:off x="546772" y="1191797"/>
          <a:ext cx="9252490" cy="1171575"/>
        </p:xfrm>
        <a:graphic>
          <a:graphicData uri="http://schemas.openxmlformats.org/drawingml/2006/table">
            <a:tbl>
              <a:tblPr firstRow="1" firstCol="1" bandRow="1">
                <a:tableStyleId>{5C22544A-7EE6-4342-B048-85BDC9FD1C3A}</a:tableStyleId>
              </a:tblPr>
              <a:tblGrid>
                <a:gridCol w="1359274">
                  <a:extLst>
                    <a:ext uri="{9D8B030D-6E8A-4147-A177-3AD203B41FA5}">
                      <a16:colId xmlns:a16="http://schemas.microsoft.com/office/drawing/2014/main" val="1503650294"/>
                    </a:ext>
                  </a:extLst>
                </a:gridCol>
                <a:gridCol w="2448977">
                  <a:extLst>
                    <a:ext uri="{9D8B030D-6E8A-4147-A177-3AD203B41FA5}">
                      <a16:colId xmlns:a16="http://schemas.microsoft.com/office/drawing/2014/main" val="3734623116"/>
                    </a:ext>
                  </a:extLst>
                </a:gridCol>
                <a:gridCol w="2030278">
                  <a:extLst>
                    <a:ext uri="{9D8B030D-6E8A-4147-A177-3AD203B41FA5}">
                      <a16:colId xmlns:a16="http://schemas.microsoft.com/office/drawing/2014/main" val="1913930384"/>
                    </a:ext>
                  </a:extLst>
                </a:gridCol>
                <a:gridCol w="1181925">
                  <a:extLst>
                    <a:ext uri="{9D8B030D-6E8A-4147-A177-3AD203B41FA5}">
                      <a16:colId xmlns:a16="http://schemas.microsoft.com/office/drawing/2014/main" val="3332312095"/>
                    </a:ext>
                  </a:extLst>
                </a:gridCol>
                <a:gridCol w="2232036">
                  <a:extLst>
                    <a:ext uri="{9D8B030D-6E8A-4147-A177-3AD203B41FA5}">
                      <a16:colId xmlns:a16="http://schemas.microsoft.com/office/drawing/2014/main" val="3332919423"/>
                    </a:ext>
                  </a:extLst>
                </a:gridCol>
              </a:tblGrid>
              <a:tr h="234315">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Propriété</a:t>
                      </a:r>
                    </a:p>
                  </a:txBody>
                  <a:tcPr marL="32195" marR="32195" marT="0" marB="0"/>
                </a:tc>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Type</a:t>
                      </a:r>
                    </a:p>
                  </a:txBody>
                  <a:tcPr marL="32195" marR="32195" marT="0" marB="0"/>
                </a:tc>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Description</a:t>
                      </a:r>
                    </a:p>
                  </a:txBody>
                  <a:tcPr marL="32195" marR="32195" marT="0" marB="0"/>
                </a:tc>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Entité</a:t>
                      </a:r>
                    </a:p>
                  </a:txBody>
                  <a:tcPr marL="32195" marR="32195" marT="0" marB="0" anchor="ctr"/>
                </a:tc>
                <a:tc>
                  <a:txBody>
                    <a:bodyPr/>
                    <a:lstStyle/>
                    <a:p>
                      <a:pPr algn="ctr">
                        <a:buNone/>
                      </a:pPr>
                      <a:r>
                        <a:rPr lang="fr-FR" sz="12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rPr>
                        <a:t>Observation</a:t>
                      </a:r>
                    </a:p>
                  </a:txBody>
                  <a:tcPr marL="32195" marR="32195" marT="0" marB="0"/>
                </a:tc>
                <a:extLst>
                  <a:ext uri="{0D108BD9-81ED-4DB2-BD59-A6C34878D82A}">
                    <a16:rowId xmlns:a16="http://schemas.microsoft.com/office/drawing/2014/main" val="1668869291"/>
                  </a:ext>
                </a:extLst>
              </a:tr>
              <a:tr h="234315">
                <a:tc>
                  <a:txBody>
                    <a:bodyPr/>
                    <a:lstStyle/>
                    <a:p>
                      <a:pPr algn="ctr">
                        <a:buNone/>
                      </a:pPr>
                      <a:r>
                        <a:rPr lang="fr-FR" sz="1200" u="none" strike="noStrike">
                          <a:effectLst/>
                          <a:uFill>
                            <a:solidFill>
                              <a:srgbClr val="000000"/>
                            </a:solidFill>
                          </a:uFill>
                        </a:rPr>
                        <a:t>id_paiement</a:t>
                      </a:r>
                      <a:endParaRPr lang="fr-FR" sz="18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u="none" strike="noStrike">
                          <a:effectLst/>
                          <a:uFill>
                            <a:solidFill>
                              <a:srgbClr val="000000"/>
                            </a:solidFill>
                          </a:uFill>
                        </a:rPr>
                        <a:t>NUMÉRIQUE</a:t>
                      </a:r>
                      <a:endParaRPr lang="fr-FR" sz="18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u="none" strike="noStrike">
                          <a:effectLst/>
                          <a:uFill>
                            <a:solidFill>
                              <a:srgbClr val="000000"/>
                            </a:solidFill>
                          </a:uFill>
                        </a:rPr>
                        <a:t>Identifiant de paiement</a:t>
                      </a:r>
                      <a:endParaRPr lang="fr-FR" sz="18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rowSpan="4">
                  <a:txBody>
                    <a:bodyPr/>
                    <a:lstStyle/>
                    <a:p>
                      <a:pPr algn="ctr">
                        <a:buNone/>
                      </a:pPr>
                      <a:r>
                        <a:rPr lang="fr-FR" sz="1200" u="none" strike="noStrike" dirty="0">
                          <a:effectLst/>
                          <a:uFill>
                            <a:solidFill>
                              <a:srgbClr val="000000"/>
                            </a:solidFill>
                          </a:uFill>
                        </a:rPr>
                        <a:t>Paiement</a:t>
                      </a:r>
                      <a:endParaRPr lang="fr-FR" sz="18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tc>
                <a:tc>
                  <a:txBody>
                    <a:bodyPr/>
                    <a:lstStyle/>
                    <a:p>
                      <a:pPr algn="ctr">
                        <a:buNone/>
                      </a:pPr>
                      <a:r>
                        <a:rPr lang="fr-FR" sz="1200" u="none" strike="noStrike" dirty="0">
                          <a:effectLst/>
                          <a:uFill>
                            <a:solidFill>
                              <a:srgbClr val="000000"/>
                            </a:solidFill>
                          </a:uFill>
                        </a:rPr>
                        <a:t>Identifiant unique</a:t>
                      </a:r>
                      <a:endParaRPr lang="fr-FR" sz="18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3295030676"/>
                  </a:ext>
                </a:extLst>
              </a:tr>
              <a:tr h="234315">
                <a:tc>
                  <a:txBody>
                    <a:bodyPr/>
                    <a:lstStyle/>
                    <a:p>
                      <a:pPr algn="ctr">
                        <a:buNone/>
                      </a:pPr>
                      <a:r>
                        <a:rPr lang="fr-FR" sz="1200" u="none" strike="noStrike">
                          <a:effectLst/>
                          <a:uFill>
                            <a:solidFill>
                              <a:srgbClr val="000000"/>
                            </a:solidFill>
                          </a:uFill>
                        </a:rPr>
                        <a:t>date_paiement</a:t>
                      </a:r>
                      <a:endParaRPr lang="fr-FR" sz="18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u="none" strike="noStrike">
                          <a:effectLst/>
                          <a:uFill>
                            <a:solidFill>
                              <a:srgbClr val="000000"/>
                            </a:solidFill>
                          </a:uFill>
                        </a:rPr>
                        <a:t> </a:t>
                      </a:r>
                      <a:endParaRPr lang="fr-FR" sz="18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u="none" strike="noStrike">
                          <a:effectLst/>
                          <a:uFill>
                            <a:solidFill>
                              <a:srgbClr val="000000"/>
                            </a:solidFill>
                          </a:uFill>
                        </a:rPr>
                        <a:t>Date de paiement</a:t>
                      </a:r>
                      <a:endParaRPr lang="fr-FR" sz="18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vMerge="1">
                  <a:txBody>
                    <a:bodyPr/>
                    <a:lstStyle/>
                    <a:p>
                      <a:endParaRPr lang="fr-FR"/>
                    </a:p>
                  </a:txBody>
                  <a:tcPr/>
                </a:tc>
                <a:tc>
                  <a:txBody>
                    <a:bodyPr/>
                    <a:lstStyle/>
                    <a:p>
                      <a:pPr algn="ctr">
                        <a:buNone/>
                      </a:pPr>
                      <a:r>
                        <a:rPr lang="fr-FR" sz="1200" u="none" strike="noStrike">
                          <a:effectLst/>
                          <a:uFill>
                            <a:solidFill>
                              <a:srgbClr val="000000"/>
                            </a:solidFill>
                          </a:uFill>
                        </a:rPr>
                        <a:t>DATETIME</a:t>
                      </a:r>
                      <a:endParaRPr lang="fr-FR" sz="18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2606743612"/>
                  </a:ext>
                </a:extLst>
              </a:tr>
              <a:tr h="234315">
                <a:tc>
                  <a:txBody>
                    <a:bodyPr/>
                    <a:lstStyle/>
                    <a:p>
                      <a:pPr algn="ctr">
                        <a:buNone/>
                      </a:pPr>
                      <a:r>
                        <a:rPr lang="fr-FR" sz="1200" u="none" strike="noStrike">
                          <a:effectLst/>
                          <a:uFill>
                            <a:solidFill>
                              <a:srgbClr val="000000"/>
                            </a:solidFill>
                          </a:uFill>
                        </a:rPr>
                        <a:t>mode_paiement</a:t>
                      </a:r>
                      <a:endParaRPr lang="fr-FR" sz="18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u="none" strike="noStrike">
                          <a:effectLst/>
                          <a:uFill>
                            <a:solidFill>
                              <a:srgbClr val="000000"/>
                            </a:solidFill>
                          </a:uFill>
                        </a:rPr>
                        <a:t>DEFAULT (éspeces,chéque,cache…)</a:t>
                      </a:r>
                      <a:endParaRPr lang="fr-FR" sz="18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u="none" strike="noStrike">
                          <a:effectLst/>
                          <a:uFill>
                            <a:solidFill>
                              <a:srgbClr val="000000"/>
                            </a:solidFill>
                          </a:uFill>
                        </a:rPr>
                        <a:t>Mode de paiement</a:t>
                      </a:r>
                      <a:endParaRPr lang="fr-FR" sz="18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vMerge="1">
                  <a:txBody>
                    <a:bodyPr/>
                    <a:lstStyle/>
                    <a:p>
                      <a:endParaRPr lang="fr-FR"/>
                    </a:p>
                  </a:txBody>
                  <a:tcPr/>
                </a:tc>
                <a:tc>
                  <a:txBody>
                    <a:bodyPr/>
                    <a:lstStyle/>
                    <a:p>
                      <a:pPr algn="ctr">
                        <a:buNone/>
                      </a:pPr>
                      <a:r>
                        <a:rPr lang="fr-FR" sz="1200" u="none" strike="noStrike">
                          <a:effectLst/>
                          <a:uFill>
                            <a:solidFill>
                              <a:srgbClr val="000000"/>
                            </a:solidFill>
                          </a:uFill>
                        </a:rPr>
                        <a:t>DEFAULT</a:t>
                      </a:r>
                      <a:endParaRPr lang="fr-FR" sz="18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3732144682"/>
                  </a:ext>
                </a:extLst>
              </a:tr>
              <a:tr h="234315">
                <a:tc>
                  <a:txBody>
                    <a:bodyPr/>
                    <a:lstStyle/>
                    <a:p>
                      <a:pPr algn="ctr">
                        <a:buNone/>
                      </a:pPr>
                      <a:r>
                        <a:rPr lang="fr-FR" sz="1200" u="none" strike="noStrike">
                          <a:effectLst/>
                          <a:uFill>
                            <a:solidFill>
                              <a:srgbClr val="000000"/>
                            </a:solidFill>
                          </a:uFill>
                        </a:rPr>
                        <a:t>id_vente</a:t>
                      </a:r>
                      <a:endParaRPr lang="fr-FR" sz="18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u="none" strike="noStrike">
                          <a:effectLst/>
                          <a:uFill>
                            <a:solidFill>
                              <a:srgbClr val="000000"/>
                            </a:solidFill>
                          </a:uFill>
                        </a:rPr>
                        <a:t>NUMÉRIQUE</a:t>
                      </a:r>
                      <a:endParaRPr lang="fr-FR" sz="18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ctr">
                        <a:buNone/>
                      </a:pPr>
                      <a:r>
                        <a:rPr lang="fr-FR" sz="1200" u="none" strike="noStrike">
                          <a:effectLst/>
                          <a:uFill>
                            <a:solidFill>
                              <a:srgbClr val="000000"/>
                            </a:solidFill>
                          </a:uFill>
                        </a:rPr>
                        <a:t>Identifiant de vente</a:t>
                      </a:r>
                      <a:endParaRPr lang="fr-FR" sz="1800" b="1" u="sng">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vMerge="1">
                  <a:txBody>
                    <a:bodyPr/>
                    <a:lstStyle/>
                    <a:p>
                      <a:endParaRPr lang="fr-FR"/>
                    </a:p>
                  </a:txBody>
                  <a:tcPr/>
                </a:tc>
                <a:tc>
                  <a:txBody>
                    <a:bodyPr/>
                    <a:lstStyle/>
                    <a:p>
                      <a:pPr algn="ctr">
                        <a:buNone/>
                      </a:pPr>
                      <a:r>
                        <a:rPr lang="fr-FR" sz="1200" u="none" strike="noStrike" dirty="0">
                          <a:effectLst/>
                          <a:uFill>
                            <a:solidFill>
                              <a:srgbClr val="000000"/>
                            </a:solidFill>
                          </a:uFill>
                        </a:rPr>
                        <a:t>Identifiant unique</a:t>
                      </a:r>
                      <a:endParaRPr lang="fr-FR" sz="1800" b="1" u="sng" dirty="0">
                        <a:effectLst/>
                        <a:uFill>
                          <a:solidFill>
                            <a:srgbClr val="000000"/>
                          </a:solidFill>
                        </a:uFill>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1665990046"/>
                  </a:ext>
                </a:extLst>
              </a:tr>
            </a:tbl>
          </a:graphicData>
        </a:graphic>
      </p:graphicFrame>
      <p:sp>
        <p:nvSpPr>
          <p:cNvPr id="9" name="Titre 1">
            <a:extLst>
              <a:ext uri="{FF2B5EF4-FFF2-40B4-BE49-F238E27FC236}">
                <a16:creationId xmlns:a16="http://schemas.microsoft.com/office/drawing/2014/main" id="{3D564F48-D3F7-5160-0F87-7C0A123AF3AC}"/>
              </a:ext>
            </a:extLst>
          </p:cNvPr>
          <p:cNvSpPr txBox="1">
            <a:spLocks/>
          </p:cNvSpPr>
          <p:nvPr/>
        </p:nvSpPr>
        <p:spPr>
          <a:xfrm>
            <a:off x="546773" y="868753"/>
            <a:ext cx="9784080" cy="323044"/>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4000" kern="1200" cap="all" baseline="0">
                <a:solidFill>
                  <a:schemeClr val="bg2"/>
                </a:solidFill>
                <a:latin typeface="+mj-lt"/>
                <a:ea typeface="+mj-ea"/>
                <a:cs typeface="+mj-cs"/>
              </a:defRPr>
            </a:lvl1pPr>
          </a:lstStyle>
          <a:p>
            <a:r>
              <a:rPr lang="fr-FR" sz="1200" dirty="0">
                <a:solidFill>
                  <a:schemeClr val="tx2">
                    <a:lumMod val="10000"/>
                  </a:schemeClr>
                </a:solidFill>
              </a:rPr>
              <a:t>Table  paiement</a:t>
            </a:r>
          </a:p>
        </p:txBody>
      </p:sp>
    </p:spTree>
    <p:extLst>
      <p:ext uri="{BB962C8B-B14F-4D97-AF65-F5344CB8AC3E}">
        <p14:creationId xmlns:p14="http://schemas.microsoft.com/office/powerpoint/2010/main" val="42270596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546EC636-574C-389D-0D8A-E56823AB4589}"/>
              </a:ext>
            </a:extLst>
          </p:cNvPr>
          <p:cNvSpPr>
            <a:spLocks noGrp="1"/>
          </p:cNvSpPr>
          <p:nvPr>
            <p:ph type="title"/>
          </p:nvPr>
        </p:nvSpPr>
        <p:spPr/>
        <p:txBody>
          <a:bodyPr>
            <a:normAutofit/>
          </a:bodyPr>
          <a:lstStyle/>
          <a:p>
            <a:pPr algn="ctr"/>
            <a:r>
              <a:rPr lang="fr-FR" sz="2000" dirty="0"/>
              <a:t>Règles de gestion :</a:t>
            </a:r>
          </a:p>
        </p:txBody>
      </p:sp>
      <p:sp>
        <p:nvSpPr>
          <p:cNvPr id="5" name="Espace réservé du contenu 4">
            <a:extLst>
              <a:ext uri="{FF2B5EF4-FFF2-40B4-BE49-F238E27FC236}">
                <a16:creationId xmlns:a16="http://schemas.microsoft.com/office/drawing/2014/main" id="{B8E8429A-73C5-00D9-BC6A-E8E561AA33DC}"/>
              </a:ext>
            </a:extLst>
          </p:cNvPr>
          <p:cNvSpPr>
            <a:spLocks noGrp="1"/>
          </p:cNvSpPr>
          <p:nvPr>
            <p:ph idx="1"/>
          </p:nvPr>
        </p:nvSpPr>
        <p:spPr>
          <a:xfrm>
            <a:off x="1202919" y="2011680"/>
            <a:ext cx="9784080" cy="4683588"/>
          </a:xfrm>
        </p:spPr>
        <p:txBody>
          <a:bodyPr numCol="2" spcCol="360000">
            <a:noAutofit/>
          </a:bodyPr>
          <a:lstStyle/>
          <a:p>
            <a:pPr eaLnBrk="0" fontAlgn="base" hangingPunct="0">
              <a:lnSpc>
                <a:spcPct val="100000"/>
              </a:lnSpc>
              <a:spcBef>
                <a:spcPct val="0"/>
              </a:spcBef>
              <a:spcAft>
                <a:spcPct val="0"/>
              </a:spcAft>
              <a:buClrTx/>
              <a:buFont typeface="Wingdings" panose="05000000000000000000" pitchFamily="2" charset="2"/>
              <a:buChar char="§"/>
              <a:tabLst>
                <a:tab pos="1085850" algn="l"/>
              </a:tabLst>
            </a:pPr>
            <a:r>
              <a:rPr lang="fr-FR" altLang="fr-FR" sz="12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RG1 : Un client peut effectuer 0 à n ventes</a:t>
            </a:r>
            <a:endParaRPr lang="fr-FR" altLang="fr-FR" sz="1200" dirty="0">
              <a:solidFill>
                <a:schemeClr val="bg1"/>
              </a:solidFill>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buClrTx/>
              <a:buFont typeface="Wingdings" panose="05000000000000000000" pitchFamily="2" charset="2"/>
              <a:buChar char="§"/>
              <a:tabLst>
                <a:tab pos="1085850" algn="l"/>
              </a:tabLst>
            </a:pPr>
            <a:r>
              <a:rPr lang="fr-FR" altLang="fr-FR" sz="12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RG2 : Une vente est effectuée par un et un seul client</a:t>
            </a:r>
            <a:endParaRPr lang="fr-FR" altLang="fr-FR" sz="1200" dirty="0">
              <a:solidFill>
                <a:schemeClr val="bg1"/>
              </a:solidFill>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buClrTx/>
              <a:buFont typeface="Wingdings" panose="05000000000000000000" pitchFamily="2" charset="2"/>
              <a:buChar char="§"/>
              <a:tabLst>
                <a:tab pos="1085850" algn="l"/>
              </a:tabLst>
            </a:pPr>
            <a:r>
              <a:rPr lang="fr-FR" altLang="fr-FR" sz="12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RG3 : Une vente contient au minimum 1 produit</a:t>
            </a:r>
            <a:endParaRPr lang="fr-FR" altLang="fr-FR" sz="1200" dirty="0">
              <a:solidFill>
                <a:schemeClr val="bg1"/>
              </a:solidFill>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buClrTx/>
              <a:buFont typeface="Wingdings" panose="05000000000000000000" pitchFamily="2" charset="2"/>
              <a:buChar char="§"/>
              <a:tabLst>
                <a:tab pos="1085850" algn="l"/>
              </a:tabLst>
            </a:pPr>
            <a:r>
              <a:rPr lang="fr-FR" altLang="fr-FR" sz="12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RG4 : Un produit peut apparaître dans 0 à n ventes</a:t>
            </a:r>
            <a:endParaRPr lang="fr-FR" altLang="fr-FR" sz="1200" dirty="0">
              <a:solidFill>
                <a:schemeClr val="bg1"/>
              </a:solidFill>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buClrTx/>
              <a:buFont typeface="Wingdings" panose="05000000000000000000" pitchFamily="2" charset="2"/>
              <a:buChar char="§"/>
              <a:tabLst>
                <a:tab pos="1085850" algn="l"/>
              </a:tabLst>
            </a:pPr>
            <a:r>
              <a:rPr lang="fr-FR" altLang="fr-FR" sz="12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RG5 : Une vente peut avoir 0 ou 1 bon de livraison</a:t>
            </a:r>
            <a:endParaRPr lang="fr-FR" altLang="fr-FR" sz="1200" dirty="0">
              <a:solidFill>
                <a:schemeClr val="bg1"/>
              </a:solidFill>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buClrTx/>
              <a:buFont typeface="Wingdings" panose="05000000000000000000" pitchFamily="2" charset="2"/>
              <a:buChar char="§"/>
              <a:tabLst>
                <a:tab pos="1085850" algn="l"/>
              </a:tabLst>
            </a:pPr>
            <a:r>
              <a:rPr lang="fr-FR" altLang="fr-FR" sz="12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RG6 : Un bon de livraison correspond à une seule vente</a:t>
            </a:r>
            <a:endParaRPr lang="fr-FR" altLang="fr-FR" sz="1200" dirty="0">
              <a:solidFill>
                <a:schemeClr val="bg1"/>
              </a:solidFill>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buClrTx/>
              <a:buFont typeface="Wingdings" panose="05000000000000000000" pitchFamily="2" charset="2"/>
              <a:buChar char="§"/>
              <a:tabLst>
                <a:tab pos="1085850" algn="l"/>
              </a:tabLst>
            </a:pPr>
            <a:r>
              <a:rPr lang="fr-FR" altLang="fr-FR" sz="12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RG7 : Un produit appartient à une et une seule catégorie</a:t>
            </a:r>
            <a:endParaRPr lang="fr-FR" altLang="fr-FR" sz="1200" dirty="0">
              <a:solidFill>
                <a:schemeClr val="bg1"/>
              </a:solidFill>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buClrTx/>
              <a:buFont typeface="Wingdings" panose="05000000000000000000" pitchFamily="2" charset="2"/>
              <a:buChar char="§"/>
              <a:tabLst>
                <a:tab pos="1085850" algn="l"/>
              </a:tabLst>
            </a:pPr>
            <a:r>
              <a:rPr lang="fr-FR" altLang="fr-FR" sz="12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RG8 : Une catégorie contient 0 à n produits</a:t>
            </a:r>
            <a:endParaRPr lang="fr-FR" altLang="fr-FR" sz="1200" dirty="0">
              <a:solidFill>
                <a:schemeClr val="bg1"/>
              </a:solidFill>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buClrTx/>
              <a:buFont typeface="Wingdings" panose="05000000000000000000" pitchFamily="2" charset="2"/>
              <a:buChar char="§"/>
              <a:tabLst>
                <a:tab pos="1085850" algn="l"/>
              </a:tabLst>
            </a:pPr>
            <a:r>
              <a:rPr lang="fr-FR" altLang="fr-FR" sz="12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RG9 : Un fournisseur peut fournir 0 à n produits</a:t>
            </a:r>
            <a:endParaRPr lang="fr-FR" altLang="fr-FR" sz="1200" dirty="0">
              <a:solidFill>
                <a:schemeClr val="bg1"/>
              </a:solidFill>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buClrTx/>
              <a:buFont typeface="Wingdings" panose="05000000000000000000" pitchFamily="2" charset="2"/>
              <a:buChar char="§"/>
              <a:tabLst>
                <a:tab pos="1085850" algn="l"/>
              </a:tabLst>
            </a:pPr>
            <a:r>
              <a:rPr lang="fr-FR" altLang="fr-FR" sz="12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RG10 : Un produit peut être fourni par 0 à n fournisseurs</a:t>
            </a:r>
            <a:endParaRPr lang="fr-FR" altLang="fr-FR" sz="1200" dirty="0">
              <a:solidFill>
                <a:schemeClr val="bg1"/>
              </a:solidFill>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buClrTx/>
              <a:buFont typeface="Wingdings" panose="05000000000000000000" pitchFamily="2" charset="2"/>
              <a:buChar char="§"/>
              <a:tabLst>
                <a:tab pos="1085850" algn="l"/>
              </a:tabLst>
            </a:pPr>
            <a:r>
              <a:rPr lang="fr-FR" altLang="fr-FR" sz="12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RG11 : Un fournisseur peut recevoir 0 à n commandes d’achat</a:t>
            </a:r>
            <a:endParaRPr lang="fr-FR" altLang="fr-FR" sz="1200" dirty="0">
              <a:solidFill>
                <a:schemeClr val="bg1"/>
              </a:solidFill>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buClrTx/>
              <a:buFont typeface="Wingdings" panose="05000000000000000000" pitchFamily="2" charset="2"/>
              <a:buChar char="§"/>
              <a:tabLst>
                <a:tab pos="1085850" algn="l"/>
              </a:tabLst>
            </a:pPr>
            <a:r>
              <a:rPr lang="fr-FR" altLang="fr-FR" sz="12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RG12 : Une commande d’achat est passée auprès d’un et un seul fournisseur</a:t>
            </a:r>
            <a:endParaRPr lang="fr-FR" altLang="fr-FR" sz="1200" dirty="0">
              <a:solidFill>
                <a:schemeClr val="bg1"/>
              </a:solidFill>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buClrTx/>
              <a:buFont typeface="Wingdings" panose="05000000000000000000" pitchFamily="2" charset="2"/>
              <a:buChar char="§"/>
              <a:tabLst>
                <a:tab pos="1085850" algn="l"/>
              </a:tabLst>
            </a:pPr>
            <a:r>
              <a:rPr lang="fr-FR" altLang="fr-FR" sz="12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RG13 : Une commande d’achat contient au minimum 1 produit</a:t>
            </a:r>
            <a:endParaRPr lang="fr-FR" altLang="fr-FR" sz="1200" dirty="0">
              <a:solidFill>
                <a:schemeClr val="bg1"/>
              </a:solidFill>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buClrTx/>
              <a:buFont typeface="Wingdings" panose="05000000000000000000" pitchFamily="2" charset="2"/>
              <a:buChar char="§"/>
              <a:tabLst>
                <a:tab pos="1085850" algn="l"/>
              </a:tabLst>
            </a:pPr>
            <a:r>
              <a:rPr lang="fr-FR" altLang="fr-FR" sz="12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RG14 : Un produit peut apparaître dans 0 à n commandes d’achat</a:t>
            </a:r>
            <a:endParaRPr lang="fr-FR" altLang="fr-FR" sz="1200" dirty="0">
              <a:solidFill>
                <a:schemeClr val="bg1"/>
              </a:solidFill>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buClrTx/>
              <a:buFont typeface="Wingdings" panose="05000000000000000000" pitchFamily="2" charset="2"/>
              <a:buChar char="§"/>
              <a:tabLst>
                <a:tab pos="1085850" algn="l"/>
              </a:tabLst>
            </a:pPr>
            <a:r>
              <a:rPr lang="fr-FR" altLang="fr-FR" sz="12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RG15 : Un produit peut avoir 0 à n lots</a:t>
            </a:r>
            <a:endParaRPr lang="fr-FR" altLang="fr-FR" sz="1200" dirty="0">
              <a:solidFill>
                <a:schemeClr val="bg1"/>
              </a:solidFill>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buClrTx/>
              <a:buFont typeface="Wingdings" panose="05000000000000000000" pitchFamily="2" charset="2"/>
              <a:buChar char="§"/>
              <a:tabLst>
                <a:tab pos="1085850" algn="l"/>
              </a:tabLst>
            </a:pPr>
            <a:r>
              <a:rPr lang="fr-FR" altLang="fr-FR" sz="12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RG16 : Un lot appartient à un et un seul produit</a:t>
            </a:r>
            <a:endParaRPr lang="fr-FR" altLang="fr-FR" sz="1200" dirty="0">
              <a:solidFill>
                <a:schemeClr val="bg1"/>
              </a:solidFill>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buClrTx/>
              <a:buFont typeface="Wingdings" panose="05000000000000000000" pitchFamily="2" charset="2"/>
              <a:buChar char="§"/>
              <a:tabLst>
                <a:tab pos="1085850" algn="l"/>
              </a:tabLst>
            </a:pPr>
            <a:r>
              <a:rPr lang="fr-FR" altLang="fr-FR" sz="12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RG17 : Un produit peut être stocké dans 0 à n emplacements</a:t>
            </a:r>
            <a:endParaRPr lang="fr-FR" altLang="fr-FR" sz="1200" dirty="0">
              <a:solidFill>
                <a:schemeClr val="bg1"/>
              </a:solidFill>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buClrTx/>
              <a:buFont typeface="Wingdings" panose="05000000000000000000" pitchFamily="2" charset="2"/>
              <a:buChar char="§"/>
              <a:tabLst>
                <a:tab pos="1085850" algn="l"/>
              </a:tabLst>
            </a:pPr>
            <a:r>
              <a:rPr lang="fr-FR" altLang="fr-FR" sz="12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RG18 : Un emplacement peut contenir 0 à n produits</a:t>
            </a:r>
            <a:endParaRPr lang="fr-FR" altLang="fr-FR" sz="1200" dirty="0">
              <a:solidFill>
                <a:schemeClr val="bg1"/>
              </a:solidFill>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buClrTx/>
              <a:buFont typeface="Wingdings" panose="05000000000000000000" pitchFamily="2" charset="2"/>
              <a:buChar char="§"/>
              <a:tabLst>
                <a:tab pos="1085850" algn="l"/>
              </a:tabLst>
            </a:pPr>
            <a:r>
              <a:rPr lang="fr-FR" altLang="fr-FR" sz="12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RG19 : Un emplacement appartient à un et un seul entrepôt</a:t>
            </a:r>
            <a:endParaRPr lang="fr-FR" altLang="fr-FR" sz="1200" dirty="0">
              <a:solidFill>
                <a:schemeClr val="bg1"/>
              </a:solidFill>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buClrTx/>
              <a:buFont typeface="Wingdings" panose="05000000000000000000" pitchFamily="2" charset="2"/>
              <a:buChar char="§"/>
              <a:tabLst>
                <a:tab pos="1085850" algn="l"/>
              </a:tabLst>
            </a:pPr>
            <a:r>
              <a:rPr lang="fr-FR" altLang="fr-FR" sz="12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RG20 : Un entrepôt contient 0 à n emplacements</a:t>
            </a:r>
            <a:endParaRPr lang="fr-FR" altLang="fr-FR" sz="1200" dirty="0">
              <a:solidFill>
                <a:schemeClr val="bg1"/>
              </a:solidFill>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buClrTx/>
              <a:buFont typeface="Wingdings" panose="05000000000000000000" pitchFamily="2" charset="2"/>
              <a:buChar char="§"/>
              <a:tabLst>
                <a:tab pos="1085850" algn="l"/>
              </a:tabLst>
            </a:pPr>
            <a:r>
              <a:rPr lang="fr-FR" altLang="fr-FR" sz="12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RG21 : Une vente peut être réglée par 0 à n paiements</a:t>
            </a:r>
            <a:endParaRPr lang="fr-FR" altLang="fr-FR" sz="1200" dirty="0">
              <a:solidFill>
                <a:schemeClr val="bg1"/>
              </a:solidFill>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buClrTx/>
              <a:buFont typeface="Wingdings" panose="05000000000000000000" pitchFamily="2" charset="2"/>
              <a:buChar char="§"/>
              <a:tabLst>
                <a:tab pos="1085850" algn="l"/>
              </a:tabLst>
            </a:pPr>
            <a:r>
              <a:rPr lang="fr-FR" altLang="fr-FR" sz="12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RG22 : Un paiement concerne une et une seule vente</a:t>
            </a:r>
            <a:endParaRPr lang="fr-FR" altLang="fr-FR" sz="1200" dirty="0">
              <a:solidFill>
                <a:schemeClr val="bg1"/>
              </a:solidFill>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buClrTx/>
              <a:buFont typeface="Wingdings" panose="05000000000000000000" pitchFamily="2" charset="2"/>
              <a:buChar char="§"/>
              <a:tabLst>
                <a:tab pos="1085850" algn="l"/>
              </a:tabLst>
            </a:pPr>
            <a:r>
              <a:rPr lang="fr-FR" altLang="fr-FR" sz="12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RG23 : Un inventaire concerne 1 à n produits</a:t>
            </a:r>
            <a:endParaRPr lang="fr-FR" altLang="fr-FR" sz="1200" dirty="0">
              <a:solidFill>
                <a:schemeClr val="bg1"/>
              </a:solidFill>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buClrTx/>
              <a:buFont typeface="Wingdings" panose="05000000000000000000" pitchFamily="2" charset="2"/>
              <a:buChar char="§"/>
              <a:tabLst>
                <a:tab pos="1085850" algn="l"/>
              </a:tabLst>
            </a:pPr>
            <a:r>
              <a:rPr lang="fr-FR" altLang="fr-FR" sz="12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RG24 : Un produit peut apparaître dans 0 à n inventaires</a:t>
            </a:r>
            <a:endParaRPr lang="fr-FR" altLang="fr-FR" sz="1200" dirty="0">
              <a:solidFill>
                <a:schemeClr val="bg1"/>
              </a:solidFill>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buClrTx/>
              <a:buFont typeface="Wingdings" panose="05000000000000000000" pitchFamily="2" charset="2"/>
              <a:buChar char="§"/>
              <a:tabLst>
                <a:tab pos="1085850" algn="l"/>
              </a:tabLst>
            </a:pPr>
            <a:r>
              <a:rPr lang="fr-FR" altLang="fr-FR" sz="12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RG25 : Un utilisateur possède un seul rôle.</a:t>
            </a:r>
          </a:p>
          <a:p>
            <a:pPr eaLnBrk="0" fontAlgn="base" hangingPunct="0">
              <a:lnSpc>
                <a:spcPct val="100000"/>
              </a:lnSpc>
              <a:spcBef>
                <a:spcPct val="0"/>
              </a:spcBef>
              <a:spcAft>
                <a:spcPct val="0"/>
              </a:spcAft>
              <a:buClrTx/>
              <a:buFont typeface="Wingdings" panose="05000000000000000000" pitchFamily="2" charset="2"/>
              <a:buChar char="§"/>
              <a:tabLst>
                <a:tab pos="1085850" algn="l"/>
              </a:tabLst>
            </a:pPr>
            <a:r>
              <a:rPr lang="fr-FR" sz="1200" dirty="0">
                <a:solidFill>
                  <a:schemeClr val="bg1"/>
                </a:solidFill>
                <a:latin typeface="Times New Roman" panose="02020603050405020304" pitchFamily="18" charset="0"/>
                <a:cs typeface="Times New Roman" panose="02020603050405020304" pitchFamily="18" charset="0"/>
              </a:rPr>
              <a:t>RG26 : Chaque action ( Insertion, Modification ,Suppression) doit être tracée.</a:t>
            </a:r>
            <a:endParaRPr lang="fr-FR" sz="1200" u="sng" dirty="0">
              <a:solidFill>
                <a:schemeClr val="bg1"/>
              </a:solidFill>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buClrTx/>
              <a:buFont typeface="Wingdings" panose="05000000000000000000" pitchFamily="2" charset="2"/>
              <a:buChar char="§"/>
              <a:tabLst>
                <a:tab pos="1085850" algn="l"/>
              </a:tabLst>
            </a:pPr>
            <a:r>
              <a:rPr lang="fr-FR" sz="1200" dirty="0">
                <a:solidFill>
                  <a:schemeClr val="bg1"/>
                </a:solidFill>
                <a:latin typeface="Times New Roman" panose="02020603050405020304" pitchFamily="18" charset="0"/>
                <a:cs typeface="Times New Roman" panose="02020603050405020304" pitchFamily="18" charset="0"/>
              </a:rPr>
              <a:t>RG27 : L’utilisateur de chaque action doit être identifier.</a:t>
            </a:r>
            <a:endParaRPr lang="fr-FR" sz="1200" u="sng" dirty="0">
              <a:solidFill>
                <a:schemeClr val="bg1"/>
              </a:solidFill>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buClrTx/>
              <a:buFont typeface="Wingdings" panose="05000000000000000000" pitchFamily="2" charset="2"/>
              <a:buChar char="§"/>
              <a:tabLst>
                <a:tab pos="1085850" algn="l"/>
              </a:tabLst>
            </a:pPr>
            <a:r>
              <a:rPr lang="fr-FR" sz="1200" dirty="0">
                <a:solidFill>
                  <a:schemeClr val="bg1"/>
                </a:solidFill>
                <a:latin typeface="Times New Roman" panose="02020603050405020304" pitchFamily="18" charset="0"/>
                <a:cs typeface="Times New Roman" panose="02020603050405020304" pitchFamily="18" charset="0"/>
              </a:rPr>
              <a:t>RG28 : La date et l’heure précis de L’évènement doit être enregistrer</a:t>
            </a:r>
            <a:endParaRPr lang="fr-FR" sz="1200" u="sng" dirty="0">
              <a:solidFill>
                <a:schemeClr val="bg1"/>
              </a:solidFill>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buClrTx/>
              <a:buFont typeface="Wingdings" panose="05000000000000000000" pitchFamily="2" charset="2"/>
              <a:buChar char="§"/>
              <a:tabLst>
                <a:tab pos="1085850" algn="l"/>
              </a:tabLst>
            </a:pPr>
            <a:r>
              <a:rPr lang="fr-FR" sz="1200" dirty="0">
                <a:solidFill>
                  <a:schemeClr val="bg1"/>
                </a:solidFill>
                <a:latin typeface="Times New Roman" panose="02020603050405020304" pitchFamily="18" charset="0"/>
                <a:cs typeface="Times New Roman" panose="02020603050405020304" pitchFamily="18" charset="0"/>
              </a:rPr>
              <a:t>RG29 : Pour une modification, l’ancienne valeur et la nouvelle valeur doit être conserver.</a:t>
            </a:r>
            <a:endParaRPr lang="fr-FR" sz="1200" u="sng" dirty="0">
              <a:solidFill>
                <a:schemeClr val="bg1"/>
              </a:solidFill>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buClrTx/>
              <a:buFont typeface="Wingdings" panose="05000000000000000000" pitchFamily="2" charset="2"/>
              <a:buChar char="§"/>
              <a:tabLst>
                <a:tab pos="1085850" algn="l"/>
              </a:tabLst>
            </a:pPr>
            <a:endParaRPr lang="fr-FR" altLang="fr-FR" sz="1200" dirty="0"/>
          </a:p>
          <a:p>
            <a:pPr eaLnBrk="0" fontAlgn="base" hangingPunct="0">
              <a:lnSpc>
                <a:spcPct val="100000"/>
              </a:lnSpc>
              <a:spcBef>
                <a:spcPct val="0"/>
              </a:spcBef>
              <a:spcAft>
                <a:spcPct val="0"/>
              </a:spcAft>
              <a:buClrTx/>
              <a:buFont typeface="Wingdings" panose="05000000000000000000" pitchFamily="2" charset="2"/>
              <a:buChar char="§"/>
              <a:tabLst>
                <a:tab pos="1085850" algn="l"/>
              </a:tabLst>
            </a:pPr>
            <a:endParaRPr lang="fr-FR" altLang="fr-FR" sz="1200" dirty="0">
              <a:latin typeface="Arial" panose="020B0604020202020204" pitchFamily="34" charset="0"/>
            </a:endParaRPr>
          </a:p>
          <a:p>
            <a:pPr>
              <a:buFont typeface="Wingdings" panose="05000000000000000000" pitchFamily="2" charset="2"/>
              <a:buChar char="§"/>
            </a:pPr>
            <a:endParaRPr lang="fr-FR" sz="1200" dirty="0"/>
          </a:p>
        </p:txBody>
      </p:sp>
    </p:spTree>
    <p:extLst>
      <p:ext uri="{BB962C8B-B14F-4D97-AF65-F5344CB8AC3E}">
        <p14:creationId xmlns:p14="http://schemas.microsoft.com/office/powerpoint/2010/main" val="21138026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DCDA770F-B776-7C69-778A-43AB4122C52A}"/>
              </a:ext>
            </a:extLst>
          </p:cNvPr>
          <p:cNvSpPr>
            <a:spLocks noGrp="1"/>
          </p:cNvSpPr>
          <p:nvPr>
            <p:ph type="title"/>
          </p:nvPr>
        </p:nvSpPr>
        <p:spPr/>
        <p:txBody>
          <a:bodyPr>
            <a:normAutofit/>
          </a:bodyPr>
          <a:lstStyle/>
          <a:p>
            <a:pPr algn="ctr"/>
            <a:r>
              <a:rPr lang="fr-FR" sz="2000" dirty="0"/>
              <a:t>modèle conceptuel de données (MCD) :</a:t>
            </a:r>
          </a:p>
        </p:txBody>
      </p:sp>
      <p:pic>
        <p:nvPicPr>
          <p:cNvPr id="8" name="Image 7">
            <a:extLst>
              <a:ext uri="{FF2B5EF4-FFF2-40B4-BE49-F238E27FC236}">
                <a16:creationId xmlns:a16="http://schemas.microsoft.com/office/drawing/2014/main" id="{F823F7FD-F1CD-F22F-1D50-B13F780D1F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593" y="1839432"/>
            <a:ext cx="11526610" cy="4734392"/>
          </a:xfrm>
          <a:prstGeom prst="rect">
            <a:avLst/>
          </a:prstGeom>
        </p:spPr>
      </p:pic>
    </p:spTree>
    <p:extLst>
      <p:ext uri="{BB962C8B-B14F-4D97-AF65-F5344CB8AC3E}">
        <p14:creationId xmlns:p14="http://schemas.microsoft.com/office/powerpoint/2010/main" val="22864655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BFE23943-8837-3D38-F8FC-40C1EDB1E38B}"/>
              </a:ext>
            </a:extLst>
          </p:cNvPr>
          <p:cNvSpPr>
            <a:spLocks noGrp="1"/>
          </p:cNvSpPr>
          <p:nvPr>
            <p:ph type="title"/>
          </p:nvPr>
        </p:nvSpPr>
        <p:spPr>
          <a:xfrm>
            <a:off x="1203959" y="647236"/>
            <a:ext cx="9784080" cy="614726"/>
          </a:xfrm>
        </p:spPr>
        <p:txBody>
          <a:bodyPr>
            <a:normAutofit/>
          </a:bodyPr>
          <a:lstStyle/>
          <a:p>
            <a:pPr algn="ctr"/>
            <a:r>
              <a:rPr lang="fr-FR" sz="2000" dirty="0"/>
              <a:t>Modèle Logique de données (MLD) : </a:t>
            </a:r>
          </a:p>
        </p:txBody>
      </p:sp>
      <p:sp>
        <p:nvSpPr>
          <p:cNvPr id="6" name="ZoneTexte 5">
            <a:extLst>
              <a:ext uri="{FF2B5EF4-FFF2-40B4-BE49-F238E27FC236}">
                <a16:creationId xmlns:a16="http://schemas.microsoft.com/office/drawing/2014/main" id="{37B6887C-164D-C930-02A1-C71717C521C3}"/>
              </a:ext>
            </a:extLst>
          </p:cNvPr>
          <p:cNvSpPr txBox="1"/>
          <p:nvPr/>
        </p:nvSpPr>
        <p:spPr>
          <a:xfrm>
            <a:off x="346128" y="2024262"/>
            <a:ext cx="11499743" cy="3879139"/>
          </a:xfrm>
          <a:prstGeom prst="rect">
            <a:avLst/>
          </a:prstGeom>
          <a:noFill/>
        </p:spPr>
        <p:txBody>
          <a:bodyPr wrap="square">
            <a:spAutoFit/>
          </a:bodyPr>
          <a:lstStyle/>
          <a:p>
            <a:pPr marL="342900" lvl="0" indent="-342900" rtl="0">
              <a:lnSpc>
                <a:spcPct val="107000"/>
              </a:lnSpc>
              <a:spcAft>
                <a:spcPts val="800"/>
              </a:spcAft>
              <a:buFont typeface="Symbol" panose="05050102010706020507" pitchFamily="18" charset="2"/>
              <a:buChar char=""/>
            </a:pPr>
            <a:r>
              <a:rPr lang="fr-FR" sz="1200" b="1" u="none" strike="noStrike" dirty="0">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Client (#id_Client, nom_ client, </a:t>
            </a:r>
            <a:r>
              <a:rPr lang="fr-FR" sz="1200" b="1" u="none" strike="noStrike" dirty="0" err="1">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Telephone</a:t>
            </a:r>
            <a:r>
              <a:rPr lang="fr-FR" sz="1200" b="1" i="1" u="none" strike="noStrike" dirty="0">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email</a:t>
            </a:r>
            <a:r>
              <a:rPr lang="fr-FR" sz="1200" b="1" u="none" strike="noStrike" dirty="0">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Adresse);</a:t>
            </a:r>
            <a:endParaRPr lang="fr-FR" sz="1200" u="sng" dirty="0">
              <a:solidFill>
                <a:schemeClr val="bg1"/>
              </a:solidFill>
              <a:effectLst/>
              <a:uFill>
                <a:solidFill>
                  <a:srgbClr val="000000"/>
                </a:solidFill>
              </a:uFill>
              <a:latin typeface="Times New Roman" panose="02020603050405020304" pitchFamily="18" charset="0"/>
              <a:ea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fr-FR" sz="1200" b="1" u="none" strike="noStrike" dirty="0">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Bon Livraison (#id_Bon_Livraison</a:t>
            </a:r>
            <a:r>
              <a:rPr lang="fr-FR" sz="1200" b="1" i="1" u="none" strike="noStrike" dirty="0">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a:t>
            </a:r>
            <a:r>
              <a:rPr lang="fr-FR" sz="1200" b="1" u="none" strike="noStrike" dirty="0">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r>
              <a:rPr lang="fr-FR" sz="1200" b="1" u="none" strike="noStrike" dirty="0" err="1">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date_livraison</a:t>
            </a:r>
            <a:r>
              <a:rPr lang="fr-FR" sz="1200" b="1" i="1" u="none" strike="noStrike" dirty="0">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r>
              <a:rPr lang="fr-FR" sz="1200" b="1" u="none" strike="noStrike" dirty="0">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Adresse);</a:t>
            </a:r>
            <a:endParaRPr lang="fr-FR" sz="1200" u="sng" dirty="0">
              <a:solidFill>
                <a:schemeClr val="bg1"/>
              </a:solidFill>
              <a:effectLst/>
              <a:uFill>
                <a:solidFill>
                  <a:srgbClr val="000000"/>
                </a:solidFill>
              </a:uFill>
              <a:latin typeface="Times New Roman" panose="02020603050405020304" pitchFamily="18" charset="0"/>
              <a:ea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fr-FR" sz="1200" b="1" u="none" strike="noStrike" dirty="0">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Fournisseur (#id_Fournisseur</a:t>
            </a:r>
            <a:r>
              <a:rPr lang="fr-FR" sz="1200" b="1" i="1" u="none" strike="noStrike" dirty="0">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r>
              <a:rPr lang="fr-FR" sz="1200" b="1" u="none" strike="noStrike" dirty="0">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r>
              <a:rPr lang="fr-FR" sz="1200" b="1" u="none" strike="noStrike" dirty="0" err="1">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nom_fournisseur</a:t>
            </a:r>
            <a:r>
              <a:rPr lang="fr-FR" sz="1200" b="1" u="none" strike="noStrike" dirty="0">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mail</a:t>
            </a:r>
            <a:r>
              <a:rPr lang="fr-FR" sz="1200" b="1" i="1" u="none" strike="noStrike" dirty="0">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r>
              <a:rPr lang="fr-FR" sz="1200" b="1" u="none" strike="noStrike" dirty="0">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adresse</a:t>
            </a:r>
            <a:r>
              <a:rPr lang="fr-FR" sz="1200" b="1" i="1" u="none" strike="noStrike" dirty="0">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r>
              <a:rPr lang="fr-FR" sz="1200" b="1" u="none" strike="noStrike" dirty="0">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r>
              <a:rPr lang="fr-FR" sz="1200" b="1" u="none" strike="noStrike" dirty="0" err="1">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telephone</a:t>
            </a:r>
            <a:r>
              <a:rPr lang="fr-FR" sz="1200" b="1" u="none" strike="noStrike" dirty="0">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a:t>
            </a:r>
            <a:endParaRPr lang="fr-FR" sz="1200" u="sng" dirty="0">
              <a:solidFill>
                <a:schemeClr val="bg1"/>
              </a:solidFill>
              <a:effectLst/>
              <a:uFill>
                <a:solidFill>
                  <a:srgbClr val="000000"/>
                </a:solidFill>
              </a:uFill>
              <a:latin typeface="Times New Roman" panose="02020603050405020304" pitchFamily="18" charset="0"/>
              <a:ea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en-AE" sz="1200" b="1" u="none" strike="noStrike" dirty="0" err="1">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Categorie</a:t>
            </a:r>
            <a:r>
              <a:rPr lang="en-AE" sz="1200" b="1" u="none" strike="noStrike" dirty="0">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(#id_Categorie, </a:t>
            </a:r>
            <a:r>
              <a:rPr lang="en-AE" sz="1200" b="1" u="none" strike="noStrike" dirty="0" err="1">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nom_categorie</a:t>
            </a:r>
            <a:r>
              <a:rPr lang="en-AE" sz="1200" b="1" i="1" u="none" strike="noStrike" dirty="0">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r>
              <a:rPr lang="en-AE" sz="1200" b="1" u="none" strike="noStrike" dirty="0">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a:t>
            </a:r>
            <a:endParaRPr lang="fr-FR" sz="1200" u="sng" dirty="0">
              <a:solidFill>
                <a:schemeClr val="bg1"/>
              </a:solidFill>
              <a:effectLst/>
              <a:uFill>
                <a:solidFill>
                  <a:srgbClr val="000000"/>
                </a:solidFill>
              </a:uFill>
              <a:latin typeface="Times New Roman" panose="02020603050405020304" pitchFamily="18" charset="0"/>
              <a:ea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fr-FR" sz="1200" b="1" u="none" strike="noStrike" dirty="0" err="1">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Entrepot</a:t>
            </a:r>
            <a:r>
              <a:rPr lang="fr-FR" sz="1200" b="1" u="none" strike="noStrike" dirty="0">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(#id_Entrpot</a:t>
            </a:r>
            <a:r>
              <a:rPr lang="fr-FR" sz="1200" b="1" i="1" u="none" strike="noStrike" dirty="0">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r>
              <a:rPr lang="fr-FR" sz="1200" b="1" u="none" strike="noStrike" dirty="0">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nom_magasin</a:t>
            </a:r>
            <a:r>
              <a:rPr lang="fr-FR" sz="1200" b="1" i="1" u="none" strike="noStrike" dirty="0">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r>
              <a:rPr lang="fr-FR" sz="1200" b="1" u="none" strike="noStrike" dirty="0">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adresse);</a:t>
            </a:r>
            <a:endParaRPr lang="fr-FR" sz="1200" u="sng" dirty="0">
              <a:solidFill>
                <a:schemeClr val="bg1"/>
              </a:solidFill>
              <a:effectLst/>
              <a:uFill>
                <a:solidFill>
                  <a:srgbClr val="000000"/>
                </a:solidFill>
              </a:uFill>
              <a:latin typeface="Times New Roman" panose="02020603050405020304" pitchFamily="18" charset="0"/>
              <a:ea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fr-FR" sz="1200" b="1" u="none" strike="noStrike" dirty="0" err="1">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Role</a:t>
            </a:r>
            <a:r>
              <a:rPr lang="fr-FR" sz="1200" b="1" u="none" strike="noStrike" dirty="0">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(#id_role</a:t>
            </a:r>
            <a:r>
              <a:rPr lang="fr-FR" sz="1200" b="1" i="1" u="none" strike="noStrike" dirty="0">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r>
              <a:rPr lang="fr-FR" sz="1200" b="1" u="none" strike="noStrike" dirty="0">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libelle</a:t>
            </a:r>
            <a:r>
              <a:rPr lang="fr-FR" sz="1200" b="1" i="1" u="none" strike="noStrike" dirty="0">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r>
              <a:rPr lang="fr-FR" sz="1200" b="1" u="none" strike="noStrike" dirty="0">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a:t>
            </a:r>
            <a:endParaRPr lang="fr-FR" sz="1200" u="sng" dirty="0">
              <a:solidFill>
                <a:schemeClr val="bg1"/>
              </a:solidFill>
              <a:effectLst/>
              <a:uFill>
                <a:solidFill>
                  <a:srgbClr val="000000"/>
                </a:solidFill>
              </a:uFill>
              <a:latin typeface="Times New Roman" panose="02020603050405020304" pitchFamily="18" charset="0"/>
              <a:ea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fr-FR" sz="1200" b="1" u="none" strike="noStrike" dirty="0">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Produit (#id_produit</a:t>
            </a:r>
            <a:r>
              <a:rPr lang="fr-FR" sz="1200" b="1" i="1" u="none" strike="noStrike" dirty="0">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#id_categorie* </a:t>
            </a:r>
            <a:r>
              <a:rPr lang="fr-FR" sz="1200" b="1" u="none" strike="noStrike" dirty="0">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r>
              <a:rPr lang="fr-FR" sz="1200" b="1" u="none" strike="noStrike" dirty="0" err="1">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designation</a:t>
            </a:r>
            <a:r>
              <a:rPr lang="fr-FR" sz="1200" b="1" i="1" u="none" strike="noStrike" dirty="0">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r>
              <a:rPr lang="fr-FR" sz="1200" b="1" u="none" strike="noStrike" dirty="0">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r>
              <a:rPr lang="fr-FR" sz="1200" b="1" u="none" strike="noStrike" dirty="0" err="1">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prix_unitaire</a:t>
            </a:r>
            <a:r>
              <a:rPr lang="fr-FR" sz="1200" b="1" i="1" u="none" strike="noStrike" dirty="0">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r>
              <a:rPr lang="fr-FR" sz="1200" b="1" u="none" strike="noStrike" dirty="0">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r>
              <a:rPr lang="fr-FR" sz="1200" b="1" u="none" strike="noStrike" dirty="0" err="1">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seuil_alerte</a:t>
            </a:r>
            <a:r>
              <a:rPr lang="fr-FR" sz="1200" b="1" i="1" u="none" strike="noStrike" dirty="0">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r>
              <a:rPr lang="fr-FR" sz="1200" b="1" u="none" strike="noStrike" dirty="0">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description);</a:t>
            </a:r>
            <a:endParaRPr lang="fr-FR" sz="1200" u="sng" dirty="0">
              <a:solidFill>
                <a:schemeClr val="bg1"/>
              </a:solidFill>
              <a:effectLst/>
              <a:uFill>
                <a:solidFill>
                  <a:srgbClr val="000000"/>
                </a:solidFill>
              </a:uFill>
              <a:latin typeface="Times New Roman" panose="02020603050405020304" pitchFamily="18" charset="0"/>
              <a:ea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fr-FR" sz="1200" b="1" u="none" strike="noStrike" dirty="0">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Emplacement (#id_Emplacement</a:t>
            </a:r>
            <a:r>
              <a:rPr lang="fr-FR" sz="1200" b="1" i="1" u="none" strike="noStrike" dirty="0">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 #id_entrpot*</a:t>
            </a:r>
            <a:r>
              <a:rPr lang="fr-FR" sz="1200" b="1" u="none" strike="noStrike" dirty="0">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r>
              <a:rPr lang="fr-FR" sz="1200" b="1" u="none" strike="noStrike" dirty="0" err="1">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code_emplacement</a:t>
            </a:r>
            <a:r>
              <a:rPr lang="fr-FR" sz="1200" b="1" u="none" strike="noStrike" dirty="0">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a:t>
            </a:r>
            <a:endParaRPr lang="fr-FR" sz="1200" u="sng" dirty="0">
              <a:solidFill>
                <a:schemeClr val="bg1"/>
              </a:solidFill>
              <a:effectLst/>
              <a:uFill>
                <a:solidFill>
                  <a:srgbClr val="000000"/>
                </a:solidFill>
              </a:uFill>
              <a:latin typeface="Times New Roman" panose="02020603050405020304" pitchFamily="18" charset="0"/>
              <a:ea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en-AE" sz="1200" b="1" u="none" strike="noStrike" dirty="0">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Lot (#id_lot </a:t>
            </a:r>
            <a:r>
              <a:rPr lang="en-AE" sz="1200" b="1" i="1" u="none" strike="noStrike" dirty="0">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r>
              <a:rPr lang="en-AE" sz="1200" b="1" i="1" u="none" strike="noStrike" dirty="0" err="1">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id_produit</a:t>
            </a:r>
            <a:r>
              <a:rPr lang="en-AE" sz="1200" b="1" i="1" u="none" strike="noStrike" dirty="0">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r>
              <a:rPr lang="en-AE" sz="1200" b="1" u="none" strike="noStrike" dirty="0">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r>
              <a:rPr lang="en-AE" sz="1200" b="1" u="none" strike="noStrike" dirty="0" err="1">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date_fabrication</a:t>
            </a:r>
            <a:r>
              <a:rPr lang="en-AE" sz="1200" b="1" i="1" u="none" strike="noStrike" dirty="0">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r>
              <a:rPr lang="en-AE" sz="1200" b="1" u="none" strike="noStrike" dirty="0">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r>
              <a:rPr lang="en-AE" sz="1200" b="1" u="none" strike="noStrike" dirty="0" err="1">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date_peremption</a:t>
            </a:r>
            <a:r>
              <a:rPr lang="en-AE" sz="1200" b="1" u="none" strike="noStrike" dirty="0">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a:t>
            </a:r>
            <a:endParaRPr lang="fr-FR" sz="1200" u="sng" dirty="0">
              <a:solidFill>
                <a:schemeClr val="bg1"/>
              </a:solidFill>
              <a:effectLst/>
              <a:uFill>
                <a:solidFill>
                  <a:srgbClr val="000000"/>
                </a:solidFill>
              </a:uFill>
              <a:latin typeface="Times New Roman" panose="02020603050405020304" pitchFamily="18" charset="0"/>
              <a:ea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fr-FR" sz="1200" b="1" u="none" strike="noStrike" dirty="0">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Utilisateur (#id_Utilisateur</a:t>
            </a:r>
            <a:r>
              <a:rPr lang="fr-FR" sz="1200" b="1" i="1" u="none" strike="noStrike" dirty="0">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#id_role* </a:t>
            </a:r>
            <a:r>
              <a:rPr lang="fr-FR" sz="1200" b="1" u="none" strike="noStrike" dirty="0">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Login</a:t>
            </a:r>
            <a:r>
              <a:rPr lang="fr-FR" sz="1200" b="1" i="1" u="none" strike="noStrike" dirty="0">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r>
              <a:rPr lang="fr-FR" sz="1200" b="1" u="none" strike="noStrike" dirty="0">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r>
              <a:rPr lang="fr-FR" sz="1200" b="1" u="none" strike="noStrike" dirty="0" err="1">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mot_passe</a:t>
            </a:r>
            <a:r>
              <a:rPr lang="fr-FR" sz="1200" b="1" u="none" strike="noStrike" dirty="0">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a:t>
            </a:r>
            <a:endParaRPr lang="fr-FR" sz="1200" u="sng" dirty="0">
              <a:solidFill>
                <a:schemeClr val="bg1"/>
              </a:solidFill>
              <a:effectLst/>
              <a:uFill>
                <a:solidFill>
                  <a:srgbClr val="000000"/>
                </a:solidFill>
              </a:uFill>
              <a:latin typeface="Times New Roman" panose="02020603050405020304" pitchFamily="18" charset="0"/>
              <a:ea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fr-FR" sz="1200" b="1" u="none" strike="noStrike" dirty="0">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Inventaire (#id_Inventaire</a:t>
            </a:r>
            <a:r>
              <a:rPr lang="fr-FR" sz="1200" b="1" i="1" u="none" strike="noStrike" dirty="0">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#id_entrpot*, #id_Utilisateur* </a:t>
            </a:r>
            <a:r>
              <a:rPr lang="fr-FR" sz="1200" b="1" u="none" strike="noStrike" dirty="0">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r>
              <a:rPr lang="fr-FR" sz="1200" b="1" u="none" strike="noStrike" dirty="0" err="1">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Date_inventaire</a:t>
            </a:r>
            <a:r>
              <a:rPr lang="fr-FR" sz="1200" b="1" u="none" strike="noStrike" dirty="0">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Remarque);</a:t>
            </a:r>
            <a:endParaRPr lang="fr-FR" sz="1200" u="sng" dirty="0">
              <a:solidFill>
                <a:schemeClr val="bg1"/>
              </a:solidFill>
              <a:effectLst/>
              <a:uFill>
                <a:solidFill>
                  <a:srgbClr val="000000"/>
                </a:solidFill>
              </a:uFill>
              <a:latin typeface="Times New Roman" panose="02020603050405020304" pitchFamily="18" charset="0"/>
              <a:ea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fr-FR" sz="1200" b="1" u="none" strike="noStrike" dirty="0">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Audit (#id_Audit, #id_Utilisateur*, #id_Enregistrement*</a:t>
            </a:r>
            <a:r>
              <a:rPr lang="fr-FR" sz="1200" b="1" i="1" u="none" strike="noStrike" dirty="0">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#id_Utilisateur* </a:t>
            </a:r>
            <a:r>
              <a:rPr lang="fr-FR" sz="1200" b="1" u="none" strike="noStrike" dirty="0">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r>
              <a:rPr lang="fr-FR" sz="1200" b="1" u="none" strike="noStrike" dirty="0" err="1">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type_op</a:t>
            </a:r>
            <a:r>
              <a:rPr lang="fr-FR" sz="1200" b="1" u="none" strike="noStrike" dirty="0">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r>
              <a:rPr lang="fr-FR" sz="1200" b="1" u="none" strike="noStrike" dirty="0" err="1">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ancienne_valeur</a:t>
            </a:r>
            <a:r>
              <a:rPr lang="fr-FR" sz="1200" b="1" i="1" u="none" strike="noStrike" dirty="0">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r>
              <a:rPr lang="fr-FR" sz="1200" b="1" u="none" strike="noStrike" dirty="0">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r>
              <a:rPr lang="fr-FR" sz="1200" b="1" u="none" strike="noStrike" dirty="0" err="1">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nouvelle_valeur</a:t>
            </a:r>
            <a:r>
              <a:rPr lang="fr-FR" sz="1200" b="1" u="none" strike="noStrike" dirty="0">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r>
              <a:rPr lang="fr-FR" sz="1200" b="1" u="none" strike="noStrike" dirty="0" err="1">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nom_table</a:t>
            </a:r>
            <a:r>
              <a:rPr lang="fr-FR" sz="1200" b="1" u="none" strike="noStrike" dirty="0">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a:t>
            </a:r>
            <a:endParaRPr lang="fr-FR" sz="1200" u="sng" dirty="0">
              <a:solidFill>
                <a:schemeClr val="bg1"/>
              </a:solidFill>
              <a:effectLst/>
              <a:uFill>
                <a:solidFill>
                  <a:srgbClr val="000000"/>
                </a:solidFill>
              </a:uFill>
              <a:latin typeface="Times New Roman" panose="02020603050405020304" pitchFamily="18" charset="0"/>
              <a:ea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fr-FR" sz="1200" b="1" u="none" strike="noStrike" dirty="0">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Vente  (#id_Vente</a:t>
            </a:r>
            <a:r>
              <a:rPr lang="fr-FR" sz="1200" b="1" i="1" u="none" strike="noStrike" dirty="0">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r>
              <a:rPr lang="fr-FR" sz="1200" b="1" u="none" strike="noStrike" dirty="0">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r>
              <a:rPr lang="fr-FR" sz="1200" b="1" u="none" strike="noStrike" dirty="0" err="1">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date_vente</a:t>
            </a:r>
            <a:r>
              <a:rPr lang="fr-FR" sz="1200" b="1" i="1" u="none" strike="noStrike" dirty="0">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 #id_Utilisateur*, #id_Bon_Livraison*, #id_client*</a:t>
            </a:r>
            <a:r>
              <a:rPr lang="fr-FR" sz="1200" b="1" u="none" strike="noStrike" dirty="0">
                <a:solidFill>
                  <a:schemeClr val="bg1"/>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a:t>
            </a:r>
            <a:endParaRPr lang="fr-FR" sz="1200" u="sng" dirty="0">
              <a:solidFill>
                <a:schemeClr val="bg1"/>
              </a:solidFill>
              <a:effectLst/>
              <a:uFill>
                <a:solidFill>
                  <a:srgbClr val="000000"/>
                </a:solidFill>
              </a:uFill>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1012797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125CF5E9-9901-CF1F-C0D1-8C346DB9931E}"/>
              </a:ext>
            </a:extLst>
          </p:cNvPr>
          <p:cNvSpPr txBox="1"/>
          <p:nvPr/>
        </p:nvSpPr>
        <p:spPr>
          <a:xfrm>
            <a:off x="619931" y="1162541"/>
            <a:ext cx="11127783" cy="2862322"/>
          </a:xfrm>
          <a:prstGeom prst="rect">
            <a:avLst/>
          </a:prstGeom>
          <a:noFill/>
        </p:spPr>
        <p:txBody>
          <a:bodyPr wrap="square">
            <a:spAutoFit/>
          </a:bodyPr>
          <a:lstStyle/>
          <a:p>
            <a:pPr marL="285750" lvl="0" indent="-285750">
              <a:buFont typeface="Arial" panose="020B0604020202020204" pitchFamily="34" charset="0"/>
              <a:buChar char="•"/>
            </a:pPr>
            <a:r>
              <a:rPr lang="fr-FR" b="1" dirty="0" err="1">
                <a:solidFill>
                  <a:schemeClr val="bg1"/>
                </a:solidFill>
              </a:rPr>
              <a:t>Commande_Achat</a:t>
            </a:r>
            <a:r>
              <a:rPr lang="fr-FR" b="1" dirty="0">
                <a:solidFill>
                  <a:schemeClr val="bg1"/>
                </a:solidFill>
              </a:rPr>
              <a:t> (#id_commande</a:t>
            </a:r>
            <a:r>
              <a:rPr lang="fr-FR" b="1" i="1" dirty="0">
                <a:solidFill>
                  <a:schemeClr val="bg1"/>
                </a:solidFill>
              </a:rPr>
              <a:t> </a:t>
            </a:r>
            <a:r>
              <a:rPr lang="fr-FR" b="1" dirty="0">
                <a:solidFill>
                  <a:schemeClr val="bg1"/>
                </a:solidFill>
              </a:rPr>
              <a:t>, </a:t>
            </a:r>
            <a:r>
              <a:rPr lang="fr-FR" b="1" dirty="0" err="1">
                <a:solidFill>
                  <a:schemeClr val="bg1"/>
                </a:solidFill>
              </a:rPr>
              <a:t>date_commande</a:t>
            </a:r>
            <a:r>
              <a:rPr lang="fr-FR" b="1" i="1" dirty="0">
                <a:solidFill>
                  <a:schemeClr val="bg1"/>
                </a:solidFill>
              </a:rPr>
              <a:t> </a:t>
            </a:r>
            <a:r>
              <a:rPr lang="fr-FR" b="1" dirty="0">
                <a:solidFill>
                  <a:schemeClr val="bg1"/>
                </a:solidFill>
              </a:rPr>
              <a:t>, statut</a:t>
            </a:r>
            <a:r>
              <a:rPr lang="fr-FR" b="1" i="1" dirty="0">
                <a:solidFill>
                  <a:schemeClr val="bg1"/>
                </a:solidFill>
              </a:rPr>
              <a:t>, #id_Utilisateur*, #id_Fournisseur*</a:t>
            </a:r>
            <a:r>
              <a:rPr lang="fr-FR" b="1" dirty="0">
                <a:solidFill>
                  <a:schemeClr val="bg1"/>
                </a:solidFill>
              </a:rPr>
              <a:t>);</a:t>
            </a:r>
            <a:endParaRPr lang="fr-FR" u="sng" dirty="0">
              <a:solidFill>
                <a:schemeClr val="bg1"/>
              </a:solidFill>
            </a:endParaRPr>
          </a:p>
          <a:p>
            <a:pPr marL="285750" lvl="0" indent="-285750">
              <a:buFont typeface="Arial" panose="020B0604020202020204" pitchFamily="34" charset="0"/>
              <a:buChar char="•"/>
            </a:pPr>
            <a:r>
              <a:rPr lang="fr-FR" b="1" dirty="0">
                <a:solidFill>
                  <a:schemeClr val="bg1"/>
                </a:solidFill>
              </a:rPr>
              <a:t>Paiement (#id_ paiement</a:t>
            </a:r>
            <a:r>
              <a:rPr lang="fr-FR" b="1" i="1" dirty="0">
                <a:solidFill>
                  <a:schemeClr val="bg1"/>
                </a:solidFill>
              </a:rPr>
              <a:t>,</a:t>
            </a:r>
            <a:r>
              <a:rPr lang="fr-FR" b="1" dirty="0">
                <a:solidFill>
                  <a:schemeClr val="bg1"/>
                </a:solidFill>
              </a:rPr>
              <a:t> </a:t>
            </a:r>
            <a:r>
              <a:rPr lang="fr-FR" b="1" dirty="0" err="1">
                <a:solidFill>
                  <a:schemeClr val="bg1"/>
                </a:solidFill>
              </a:rPr>
              <a:t>Date_paiement</a:t>
            </a:r>
            <a:r>
              <a:rPr lang="fr-FR" b="1" dirty="0">
                <a:solidFill>
                  <a:schemeClr val="bg1"/>
                </a:solidFill>
              </a:rPr>
              <a:t>, </a:t>
            </a:r>
            <a:r>
              <a:rPr lang="fr-FR" b="1" dirty="0" err="1">
                <a:solidFill>
                  <a:schemeClr val="bg1"/>
                </a:solidFill>
              </a:rPr>
              <a:t>Mode_Paiement</a:t>
            </a:r>
            <a:r>
              <a:rPr lang="fr-FR" b="1" i="1" dirty="0">
                <a:solidFill>
                  <a:schemeClr val="bg1"/>
                </a:solidFill>
              </a:rPr>
              <a:t>, #id_Vente*</a:t>
            </a:r>
            <a:r>
              <a:rPr lang="fr-FR" b="1" dirty="0">
                <a:solidFill>
                  <a:schemeClr val="bg1"/>
                </a:solidFill>
              </a:rPr>
              <a:t>);</a:t>
            </a:r>
            <a:endParaRPr lang="fr-FR" u="sng" dirty="0">
              <a:solidFill>
                <a:schemeClr val="bg1"/>
              </a:solidFill>
            </a:endParaRPr>
          </a:p>
          <a:p>
            <a:pPr marL="285750" lvl="0" indent="-285750">
              <a:buFont typeface="Arial" panose="020B0604020202020204" pitchFamily="34" charset="0"/>
              <a:buChar char="•"/>
            </a:pPr>
            <a:r>
              <a:rPr lang="fr-FR" b="1" dirty="0">
                <a:solidFill>
                  <a:schemeClr val="bg1"/>
                </a:solidFill>
              </a:rPr>
              <a:t>Fournir (</a:t>
            </a:r>
            <a:r>
              <a:rPr lang="fr-FR" b="1" i="1" dirty="0">
                <a:solidFill>
                  <a:schemeClr val="bg1"/>
                </a:solidFill>
              </a:rPr>
              <a:t>#id_produit*, #id_Fournisseur*</a:t>
            </a:r>
            <a:r>
              <a:rPr lang="fr-FR" b="1" dirty="0">
                <a:solidFill>
                  <a:schemeClr val="bg1"/>
                </a:solidFill>
              </a:rPr>
              <a:t>);</a:t>
            </a:r>
            <a:endParaRPr lang="fr-FR" u="sng" dirty="0">
              <a:solidFill>
                <a:schemeClr val="bg1"/>
              </a:solidFill>
            </a:endParaRPr>
          </a:p>
          <a:p>
            <a:pPr marL="285750" lvl="0" indent="-285750">
              <a:buFont typeface="Arial" panose="020B0604020202020204" pitchFamily="34" charset="0"/>
              <a:buChar char="•"/>
            </a:pPr>
            <a:r>
              <a:rPr lang="fr-FR" b="1" dirty="0" err="1">
                <a:solidFill>
                  <a:schemeClr val="bg1"/>
                </a:solidFill>
              </a:rPr>
              <a:t>Ligne_Stock</a:t>
            </a:r>
            <a:r>
              <a:rPr lang="fr-FR" b="1" dirty="0">
                <a:solidFill>
                  <a:schemeClr val="bg1"/>
                </a:solidFill>
              </a:rPr>
              <a:t> (</a:t>
            </a:r>
            <a:r>
              <a:rPr lang="fr-FR" b="1" i="1" dirty="0">
                <a:solidFill>
                  <a:schemeClr val="bg1"/>
                </a:solidFill>
              </a:rPr>
              <a:t>#id_produit*, #id_Emplacement*</a:t>
            </a:r>
            <a:r>
              <a:rPr lang="fr-FR" b="1" dirty="0">
                <a:solidFill>
                  <a:schemeClr val="bg1"/>
                </a:solidFill>
              </a:rPr>
              <a:t>, </a:t>
            </a:r>
            <a:r>
              <a:rPr lang="fr-FR" b="1" dirty="0" err="1">
                <a:solidFill>
                  <a:schemeClr val="bg1"/>
                </a:solidFill>
              </a:rPr>
              <a:t>Quantite</a:t>
            </a:r>
            <a:r>
              <a:rPr lang="fr-FR" b="1" i="1" dirty="0">
                <a:solidFill>
                  <a:schemeClr val="bg1"/>
                </a:solidFill>
              </a:rPr>
              <a:t> </a:t>
            </a:r>
            <a:r>
              <a:rPr lang="fr-FR" b="1" dirty="0">
                <a:solidFill>
                  <a:schemeClr val="bg1"/>
                </a:solidFill>
              </a:rPr>
              <a:t>);</a:t>
            </a:r>
            <a:endParaRPr lang="fr-FR" u="sng" dirty="0">
              <a:solidFill>
                <a:schemeClr val="bg1"/>
              </a:solidFill>
            </a:endParaRPr>
          </a:p>
          <a:p>
            <a:pPr marL="285750" lvl="0" indent="-285750">
              <a:buFont typeface="Arial" panose="020B0604020202020204" pitchFamily="34" charset="0"/>
              <a:buChar char="•"/>
            </a:pPr>
            <a:r>
              <a:rPr lang="fr-FR" b="1" dirty="0" err="1">
                <a:solidFill>
                  <a:schemeClr val="bg1"/>
                </a:solidFill>
              </a:rPr>
              <a:t>Ligne_Achat</a:t>
            </a:r>
            <a:r>
              <a:rPr lang="fr-FR" b="1" dirty="0">
                <a:solidFill>
                  <a:schemeClr val="bg1"/>
                </a:solidFill>
              </a:rPr>
              <a:t> (</a:t>
            </a:r>
            <a:r>
              <a:rPr lang="fr-FR" b="1" i="1" dirty="0">
                <a:solidFill>
                  <a:schemeClr val="bg1"/>
                </a:solidFill>
              </a:rPr>
              <a:t>#id_produit*, #id_commande*, #id_lot*</a:t>
            </a:r>
            <a:r>
              <a:rPr lang="fr-FR" b="1" dirty="0">
                <a:solidFill>
                  <a:schemeClr val="bg1"/>
                </a:solidFill>
              </a:rPr>
              <a:t>, </a:t>
            </a:r>
            <a:r>
              <a:rPr lang="fr-FR" b="1" dirty="0" err="1">
                <a:solidFill>
                  <a:schemeClr val="bg1"/>
                </a:solidFill>
              </a:rPr>
              <a:t>Prix_achat</a:t>
            </a:r>
            <a:r>
              <a:rPr lang="fr-FR" b="1" i="1" dirty="0">
                <a:solidFill>
                  <a:schemeClr val="bg1"/>
                </a:solidFill>
              </a:rPr>
              <a:t> </a:t>
            </a:r>
            <a:r>
              <a:rPr lang="fr-FR" b="1" dirty="0">
                <a:solidFill>
                  <a:schemeClr val="bg1"/>
                </a:solidFill>
              </a:rPr>
              <a:t>, </a:t>
            </a:r>
            <a:r>
              <a:rPr lang="fr-FR" b="1" dirty="0" err="1">
                <a:solidFill>
                  <a:schemeClr val="bg1"/>
                </a:solidFill>
              </a:rPr>
              <a:t>Quantite</a:t>
            </a:r>
            <a:r>
              <a:rPr lang="fr-FR" b="1" dirty="0">
                <a:solidFill>
                  <a:schemeClr val="bg1"/>
                </a:solidFill>
              </a:rPr>
              <a:t>);</a:t>
            </a:r>
            <a:endParaRPr lang="fr-FR" u="sng" dirty="0">
              <a:solidFill>
                <a:schemeClr val="bg1"/>
              </a:solidFill>
            </a:endParaRPr>
          </a:p>
          <a:p>
            <a:pPr marL="285750" lvl="0" indent="-285750">
              <a:buFont typeface="Arial" panose="020B0604020202020204" pitchFamily="34" charset="0"/>
              <a:buChar char="•"/>
            </a:pPr>
            <a:r>
              <a:rPr lang="fr-FR" b="1" dirty="0" err="1">
                <a:solidFill>
                  <a:schemeClr val="bg1"/>
                </a:solidFill>
              </a:rPr>
              <a:t>Ligne_Vente</a:t>
            </a:r>
            <a:r>
              <a:rPr lang="fr-FR" b="1" dirty="0">
                <a:solidFill>
                  <a:schemeClr val="bg1"/>
                </a:solidFill>
              </a:rPr>
              <a:t> (</a:t>
            </a:r>
            <a:r>
              <a:rPr lang="fr-FR" b="1" i="1" dirty="0">
                <a:solidFill>
                  <a:schemeClr val="bg1"/>
                </a:solidFill>
              </a:rPr>
              <a:t>#id_Vente*, #id_produit*, #id_lot*</a:t>
            </a:r>
            <a:r>
              <a:rPr lang="fr-FR" b="1" dirty="0">
                <a:solidFill>
                  <a:schemeClr val="bg1"/>
                </a:solidFill>
              </a:rPr>
              <a:t>, </a:t>
            </a:r>
            <a:r>
              <a:rPr lang="fr-FR" b="1" dirty="0" err="1">
                <a:solidFill>
                  <a:schemeClr val="bg1"/>
                </a:solidFill>
              </a:rPr>
              <a:t>Quantite</a:t>
            </a:r>
            <a:r>
              <a:rPr lang="fr-FR" b="1" i="1" dirty="0">
                <a:solidFill>
                  <a:schemeClr val="bg1"/>
                </a:solidFill>
              </a:rPr>
              <a:t> </a:t>
            </a:r>
            <a:r>
              <a:rPr lang="fr-FR" b="1" dirty="0">
                <a:solidFill>
                  <a:schemeClr val="bg1"/>
                </a:solidFill>
              </a:rPr>
              <a:t>, </a:t>
            </a:r>
            <a:r>
              <a:rPr lang="fr-FR" b="1" dirty="0" err="1">
                <a:solidFill>
                  <a:schemeClr val="bg1"/>
                </a:solidFill>
              </a:rPr>
              <a:t>prix_Vente</a:t>
            </a:r>
            <a:r>
              <a:rPr lang="fr-FR" b="1" i="1" dirty="0">
                <a:solidFill>
                  <a:schemeClr val="bg1"/>
                </a:solidFill>
              </a:rPr>
              <a:t> </a:t>
            </a:r>
            <a:r>
              <a:rPr lang="fr-FR" b="1" dirty="0">
                <a:solidFill>
                  <a:schemeClr val="bg1"/>
                </a:solidFill>
              </a:rPr>
              <a:t>);</a:t>
            </a:r>
            <a:endParaRPr lang="fr-FR" u="sng" dirty="0">
              <a:solidFill>
                <a:schemeClr val="bg1"/>
              </a:solidFill>
            </a:endParaRPr>
          </a:p>
          <a:p>
            <a:pPr marL="285750" lvl="0" indent="-285750">
              <a:buFont typeface="Arial" panose="020B0604020202020204" pitchFamily="34" charset="0"/>
              <a:buChar char="•"/>
            </a:pPr>
            <a:r>
              <a:rPr lang="fr-FR" b="1" dirty="0" err="1">
                <a:solidFill>
                  <a:schemeClr val="bg1"/>
                </a:solidFill>
              </a:rPr>
              <a:t>Ligne_inventaire</a:t>
            </a:r>
            <a:r>
              <a:rPr lang="fr-FR" b="1" dirty="0">
                <a:solidFill>
                  <a:schemeClr val="bg1"/>
                </a:solidFill>
              </a:rPr>
              <a:t> (</a:t>
            </a:r>
            <a:r>
              <a:rPr lang="fr-FR" b="1" i="1" dirty="0">
                <a:solidFill>
                  <a:schemeClr val="bg1"/>
                </a:solidFill>
              </a:rPr>
              <a:t>#id_produit*, #id_Inventaire*</a:t>
            </a:r>
            <a:r>
              <a:rPr lang="fr-FR" b="1" dirty="0">
                <a:solidFill>
                  <a:schemeClr val="bg1"/>
                </a:solidFill>
              </a:rPr>
              <a:t>, </a:t>
            </a:r>
            <a:r>
              <a:rPr lang="fr-FR" b="1" dirty="0" err="1">
                <a:solidFill>
                  <a:schemeClr val="bg1"/>
                </a:solidFill>
              </a:rPr>
              <a:t>Stock_theorique</a:t>
            </a:r>
            <a:r>
              <a:rPr lang="fr-FR" b="1" i="1" dirty="0">
                <a:solidFill>
                  <a:schemeClr val="bg1"/>
                </a:solidFill>
              </a:rPr>
              <a:t> </a:t>
            </a:r>
            <a:r>
              <a:rPr lang="fr-FR" b="1" dirty="0">
                <a:solidFill>
                  <a:schemeClr val="bg1"/>
                </a:solidFill>
              </a:rPr>
              <a:t>, </a:t>
            </a:r>
            <a:r>
              <a:rPr lang="fr-FR" b="1" dirty="0" err="1">
                <a:solidFill>
                  <a:schemeClr val="bg1"/>
                </a:solidFill>
              </a:rPr>
              <a:t>Stock_reel</a:t>
            </a:r>
            <a:r>
              <a:rPr lang="fr-FR" b="1" dirty="0">
                <a:solidFill>
                  <a:schemeClr val="bg1"/>
                </a:solidFill>
              </a:rPr>
              <a:t>);</a:t>
            </a:r>
            <a:endParaRPr lang="fr-FR" u="sng" dirty="0">
              <a:solidFill>
                <a:schemeClr val="bg1"/>
              </a:solidFill>
            </a:endParaRPr>
          </a:p>
          <a:p>
            <a:r>
              <a:rPr lang="fr-FR" b="1" dirty="0">
                <a:solidFill>
                  <a:schemeClr val="bg1"/>
                </a:solidFill>
              </a:rPr>
              <a:t> </a:t>
            </a:r>
            <a:endParaRPr lang="fr-FR" u="sng" dirty="0">
              <a:solidFill>
                <a:schemeClr val="bg1"/>
              </a:solidFill>
            </a:endParaRPr>
          </a:p>
          <a:p>
            <a:r>
              <a:rPr lang="fr-FR" b="1" dirty="0">
                <a:solidFill>
                  <a:schemeClr val="bg1"/>
                </a:solidFill>
              </a:rPr>
              <a:t>[ * ] : Clé étrangère</a:t>
            </a:r>
            <a:endParaRPr lang="fr-FR" u="sng" dirty="0">
              <a:solidFill>
                <a:schemeClr val="bg1"/>
              </a:solidFill>
            </a:endParaRPr>
          </a:p>
          <a:p>
            <a:r>
              <a:rPr lang="fr-FR" b="1" dirty="0">
                <a:solidFill>
                  <a:schemeClr val="bg1"/>
                </a:solidFill>
              </a:rPr>
              <a:t>[ # ] : Clé primaire</a:t>
            </a:r>
            <a:endParaRPr lang="fr-FR" u="sng" dirty="0">
              <a:solidFill>
                <a:schemeClr val="bg1"/>
              </a:solidFill>
            </a:endParaRPr>
          </a:p>
        </p:txBody>
      </p:sp>
    </p:spTree>
    <p:extLst>
      <p:ext uri="{BB962C8B-B14F-4D97-AF65-F5344CB8AC3E}">
        <p14:creationId xmlns:p14="http://schemas.microsoft.com/office/powerpoint/2010/main" val="106534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A8E844-9B50-DBBE-8FF1-E26FFE580DBA}"/>
              </a:ext>
            </a:extLst>
          </p:cNvPr>
          <p:cNvSpPr>
            <a:spLocks noGrp="1"/>
          </p:cNvSpPr>
          <p:nvPr>
            <p:ph type="title"/>
          </p:nvPr>
        </p:nvSpPr>
        <p:spPr/>
        <p:txBody>
          <a:bodyPr>
            <a:normAutofit/>
          </a:bodyPr>
          <a:lstStyle/>
          <a:p>
            <a:pPr algn="ctr"/>
            <a:r>
              <a:rPr lang="fr-FR" sz="2000" dirty="0"/>
              <a:t>Modèle physique de Données (MPD) :</a:t>
            </a:r>
          </a:p>
        </p:txBody>
      </p:sp>
      <p:pic>
        <p:nvPicPr>
          <p:cNvPr id="3" name="Image 2">
            <a:extLst>
              <a:ext uri="{FF2B5EF4-FFF2-40B4-BE49-F238E27FC236}">
                <a16:creationId xmlns:a16="http://schemas.microsoft.com/office/drawing/2014/main" id="{C2FCC632-010A-A540-5966-E7C78110AB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2133" y="1823932"/>
            <a:ext cx="11185651" cy="4913955"/>
          </a:xfrm>
          <a:prstGeom prst="rect">
            <a:avLst/>
          </a:prstGeom>
        </p:spPr>
      </p:pic>
    </p:spTree>
    <p:extLst>
      <p:ext uri="{BB962C8B-B14F-4D97-AF65-F5344CB8AC3E}">
        <p14:creationId xmlns:p14="http://schemas.microsoft.com/office/powerpoint/2010/main" val="26766609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E7B2D8E-4238-42E5-DE11-A6FDFA9DBFAB}"/>
              </a:ext>
            </a:extLst>
          </p:cNvPr>
          <p:cNvSpPr>
            <a:spLocks noGrp="1"/>
          </p:cNvSpPr>
          <p:nvPr>
            <p:ph type="title"/>
          </p:nvPr>
        </p:nvSpPr>
        <p:spPr/>
        <p:txBody>
          <a:bodyPr>
            <a:normAutofit/>
          </a:bodyPr>
          <a:lstStyle/>
          <a:p>
            <a:pPr algn="ctr"/>
            <a:r>
              <a:rPr lang="fr-FR" sz="3200" dirty="0"/>
              <a:t>Unified modeling language (UML) :</a:t>
            </a:r>
            <a:endParaRPr lang="fr-FR" sz="2000" dirty="0">
              <a:solidFill>
                <a:schemeClr val="bg1"/>
              </a:solidFill>
            </a:endParaRPr>
          </a:p>
        </p:txBody>
      </p:sp>
      <p:sp>
        <p:nvSpPr>
          <p:cNvPr id="6" name="ZoneTexte 5">
            <a:extLst>
              <a:ext uri="{FF2B5EF4-FFF2-40B4-BE49-F238E27FC236}">
                <a16:creationId xmlns:a16="http://schemas.microsoft.com/office/drawing/2014/main" id="{820D54B1-694C-2FC0-D95E-DBB0C04C5F09}"/>
              </a:ext>
            </a:extLst>
          </p:cNvPr>
          <p:cNvSpPr txBox="1"/>
          <p:nvPr/>
        </p:nvSpPr>
        <p:spPr>
          <a:xfrm>
            <a:off x="1518834" y="2971209"/>
            <a:ext cx="7629040" cy="646331"/>
          </a:xfrm>
          <a:prstGeom prst="rect">
            <a:avLst/>
          </a:prstGeom>
          <a:noFill/>
        </p:spPr>
        <p:txBody>
          <a:bodyPr wrap="square">
            <a:spAutoFit/>
          </a:bodyPr>
          <a:lstStyle/>
          <a:p>
            <a:pPr algn="ctr"/>
            <a:r>
              <a:rPr lang="fr-FR" dirty="0">
                <a:solidFill>
                  <a:schemeClr val="bg1"/>
                </a:solidFill>
              </a:rPr>
              <a:t>UML est un langage de modélisation qui permet de représenter graphiquement le fonctionnement du système avant son développement.</a:t>
            </a:r>
          </a:p>
        </p:txBody>
      </p:sp>
    </p:spTree>
    <p:extLst>
      <p:ext uri="{BB962C8B-B14F-4D97-AF65-F5344CB8AC3E}">
        <p14:creationId xmlns:p14="http://schemas.microsoft.com/office/powerpoint/2010/main" val="37640185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D051BDF3-D199-19F7-4DE5-DEC63B4FF0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4940" y="967330"/>
            <a:ext cx="10622120" cy="5439906"/>
          </a:xfrm>
          <a:prstGeom prst="rect">
            <a:avLst/>
          </a:prstGeom>
        </p:spPr>
      </p:pic>
      <p:sp>
        <p:nvSpPr>
          <p:cNvPr id="6" name="ZoneTexte 5">
            <a:extLst>
              <a:ext uri="{FF2B5EF4-FFF2-40B4-BE49-F238E27FC236}">
                <a16:creationId xmlns:a16="http://schemas.microsoft.com/office/drawing/2014/main" id="{7FFF0C37-359A-510F-B762-A15D6F3E9367}"/>
              </a:ext>
            </a:extLst>
          </p:cNvPr>
          <p:cNvSpPr txBox="1"/>
          <p:nvPr/>
        </p:nvSpPr>
        <p:spPr>
          <a:xfrm>
            <a:off x="3046708" y="597998"/>
            <a:ext cx="6098582" cy="369332"/>
          </a:xfrm>
          <a:prstGeom prst="rect">
            <a:avLst/>
          </a:prstGeom>
          <a:noFill/>
        </p:spPr>
        <p:txBody>
          <a:bodyPr wrap="square">
            <a:spAutoFit/>
          </a:bodyPr>
          <a:lstStyle/>
          <a:p>
            <a:r>
              <a:rPr lang="fr-FR" sz="1800" dirty="0">
                <a:solidFill>
                  <a:schemeClr val="bg1"/>
                </a:solidFill>
              </a:rPr>
              <a:t>Diagramme de cas d’utilisation :</a:t>
            </a:r>
            <a:endParaRPr lang="fr-FR" dirty="0"/>
          </a:p>
        </p:txBody>
      </p:sp>
    </p:spTree>
    <p:extLst>
      <p:ext uri="{BB962C8B-B14F-4D97-AF65-F5344CB8AC3E}">
        <p14:creationId xmlns:p14="http://schemas.microsoft.com/office/powerpoint/2010/main" val="38526157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BFA53E3-111E-4BD0-8A54-392AC4C7CC11}"/>
              </a:ext>
            </a:extLst>
          </p:cNvPr>
          <p:cNvSpPr>
            <a:spLocks noGrp="1"/>
          </p:cNvSpPr>
          <p:nvPr>
            <p:ph type="title"/>
          </p:nvPr>
        </p:nvSpPr>
        <p:spPr/>
        <p:txBody>
          <a:bodyPr>
            <a:normAutofit/>
          </a:bodyPr>
          <a:lstStyle/>
          <a:p>
            <a:pPr algn="ctr"/>
            <a:r>
              <a:rPr lang="fr-FR" sz="2000" dirty="0"/>
              <a:t>Diagramme de Classe :</a:t>
            </a:r>
          </a:p>
        </p:txBody>
      </p:sp>
      <p:pic>
        <p:nvPicPr>
          <p:cNvPr id="3" name="Image 2">
            <a:extLst>
              <a:ext uri="{FF2B5EF4-FFF2-40B4-BE49-F238E27FC236}">
                <a16:creationId xmlns:a16="http://schemas.microsoft.com/office/drawing/2014/main" id="{2142DAC9-1BCF-1877-8FBA-40CC16E937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4310" y="1814853"/>
            <a:ext cx="11441298" cy="4607864"/>
          </a:xfrm>
          <a:prstGeom prst="rect">
            <a:avLst/>
          </a:prstGeom>
        </p:spPr>
      </p:pic>
    </p:spTree>
    <p:extLst>
      <p:ext uri="{BB962C8B-B14F-4D97-AF65-F5344CB8AC3E}">
        <p14:creationId xmlns:p14="http://schemas.microsoft.com/office/powerpoint/2010/main" val="22057098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A9EE35E-289C-7571-D1FB-EF1D1A35DD18}"/>
              </a:ext>
            </a:extLst>
          </p:cNvPr>
          <p:cNvSpPr>
            <a:spLocks noGrp="1"/>
          </p:cNvSpPr>
          <p:nvPr>
            <p:ph type="title"/>
          </p:nvPr>
        </p:nvSpPr>
        <p:spPr/>
        <p:txBody>
          <a:bodyPr>
            <a:normAutofit/>
          </a:bodyPr>
          <a:lstStyle/>
          <a:p>
            <a:pPr algn="ctr"/>
            <a:r>
              <a:rPr lang="fr-FR" sz="2000" dirty="0"/>
              <a:t>Diagramme de séquence :</a:t>
            </a:r>
          </a:p>
        </p:txBody>
      </p:sp>
      <p:pic>
        <p:nvPicPr>
          <p:cNvPr id="5" name="Image 4">
            <a:extLst>
              <a:ext uri="{FF2B5EF4-FFF2-40B4-BE49-F238E27FC236}">
                <a16:creationId xmlns:a16="http://schemas.microsoft.com/office/drawing/2014/main" id="{FE80C0CB-E68A-4F7E-0C6D-133F5FC133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1911" y="1792936"/>
            <a:ext cx="9386096" cy="4936210"/>
          </a:xfrm>
          <a:prstGeom prst="rect">
            <a:avLst/>
          </a:prstGeom>
        </p:spPr>
      </p:pic>
    </p:spTree>
    <p:extLst>
      <p:ext uri="{BB962C8B-B14F-4D97-AF65-F5344CB8AC3E}">
        <p14:creationId xmlns:p14="http://schemas.microsoft.com/office/powerpoint/2010/main" val="10073720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2B0F8BC-4988-28F1-3CAD-F97F802C1B87}"/>
              </a:ext>
            </a:extLst>
          </p:cNvPr>
          <p:cNvSpPr>
            <a:spLocks noGrp="1"/>
          </p:cNvSpPr>
          <p:nvPr>
            <p:ph type="title"/>
          </p:nvPr>
        </p:nvSpPr>
        <p:spPr/>
        <p:txBody>
          <a:bodyPr>
            <a:normAutofit/>
          </a:bodyPr>
          <a:lstStyle/>
          <a:p>
            <a:pPr algn="ctr"/>
            <a:r>
              <a:rPr lang="fr-FR" dirty="0"/>
              <a:t>Technologies :</a:t>
            </a:r>
          </a:p>
        </p:txBody>
      </p:sp>
      <p:sp>
        <p:nvSpPr>
          <p:cNvPr id="4" name="ZoneTexte 3">
            <a:extLst>
              <a:ext uri="{FF2B5EF4-FFF2-40B4-BE49-F238E27FC236}">
                <a16:creationId xmlns:a16="http://schemas.microsoft.com/office/drawing/2014/main" id="{33234142-B637-4320-A89A-B2D57C564378}"/>
              </a:ext>
            </a:extLst>
          </p:cNvPr>
          <p:cNvSpPr txBox="1"/>
          <p:nvPr/>
        </p:nvSpPr>
        <p:spPr>
          <a:xfrm>
            <a:off x="791564" y="1915619"/>
            <a:ext cx="10606789" cy="3293209"/>
          </a:xfrm>
          <a:prstGeom prst="rect">
            <a:avLst/>
          </a:prstGeom>
          <a:noFill/>
        </p:spPr>
        <p:txBody>
          <a:bodyPr wrap="square">
            <a:spAutoFit/>
          </a:bodyPr>
          <a:lstStyle/>
          <a:p>
            <a:r>
              <a:rPr lang="fr-FR" sz="1600" b="1" dirty="0">
                <a:solidFill>
                  <a:schemeClr val="bg1"/>
                </a:solidFill>
              </a:rPr>
              <a:t>Langage :</a:t>
            </a:r>
            <a:r>
              <a:rPr lang="fr-FR" sz="1600" dirty="0">
                <a:solidFill>
                  <a:schemeClr val="bg1"/>
                </a:solidFill>
              </a:rPr>
              <a:t> C#</a:t>
            </a:r>
          </a:p>
          <a:p>
            <a:r>
              <a:rPr lang="fr-FR" sz="1600" dirty="0">
                <a:solidFill>
                  <a:schemeClr val="bg1"/>
                </a:solidFill>
              </a:rPr>
              <a:t> </a:t>
            </a:r>
            <a:r>
              <a:rPr lang="fr-FR" sz="1600" b="1" dirty="0">
                <a:solidFill>
                  <a:schemeClr val="bg1"/>
                </a:solidFill>
              </a:rPr>
              <a:t>Framework :</a:t>
            </a:r>
            <a:r>
              <a:rPr lang="fr-FR" sz="1600" dirty="0">
                <a:solidFill>
                  <a:schemeClr val="bg1"/>
                </a:solidFill>
              </a:rPr>
              <a:t> .NET Framework 4.8 </a:t>
            </a:r>
          </a:p>
          <a:p>
            <a:r>
              <a:rPr lang="fr-FR" sz="1600" b="1" dirty="0">
                <a:solidFill>
                  <a:schemeClr val="bg1"/>
                </a:solidFill>
              </a:rPr>
              <a:t>Interface graphique :</a:t>
            </a:r>
            <a:r>
              <a:rPr lang="fr-FR" sz="1600" dirty="0">
                <a:solidFill>
                  <a:schemeClr val="bg1"/>
                </a:solidFill>
              </a:rPr>
              <a:t> Windows Forms (</a:t>
            </a:r>
            <a:r>
              <a:rPr lang="fr-FR" sz="1600" dirty="0" err="1">
                <a:solidFill>
                  <a:schemeClr val="bg1"/>
                </a:solidFill>
              </a:rPr>
              <a:t>WinForms</a:t>
            </a:r>
            <a:r>
              <a:rPr lang="fr-FR" sz="1600" dirty="0">
                <a:solidFill>
                  <a:schemeClr val="bg1"/>
                </a:solidFill>
              </a:rPr>
              <a:t>)</a:t>
            </a:r>
          </a:p>
          <a:p>
            <a:r>
              <a:rPr lang="fr-FR" sz="1600" dirty="0">
                <a:solidFill>
                  <a:schemeClr val="bg1"/>
                </a:solidFill>
              </a:rPr>
              <a:t> </a:t>
            </a:r>
            <a:r>
              <a:rPr lang="fr-FR" sz="1600" b="1" dirty="0">
                <a:solidFill>
                  <a:schemeClr val="bg1"/>
                </a:solidFill>
              </a:rPr>
              <a:t>Environnement de développement :</a:t>
            </a:r>
            <a:r>
              <a:rPr lang="fr-FR" sz="1600" dirty="0">
                <a:solidFill>
                  <a:schemeClr val="bg1"/>
                </a:solidFill>
              </a:rPr>
              <a:t> Microsoft Visual Studio Community 2019 </a:t>
            </a:r>
          </a:p>
          <a:p>
            <a:r>
              <a:rPr lang="fr-FR" sz="1600" b="1" dirty="0">
                <a:solidFill>
                  <a:schemeClr val="bg1"/>
                </a:solidFill>
              </a:rPr>
              <a:t>SGBD :</a:t>
            </a:r>
            <a:r>
              <a:rPr lang="fr-FR" sz="1600" dirty="0">
                <a:solidFill>
                  <a:schemeClr val="bg1"/>
                </a:solidFill>
              </a:rPr>
              <a:t> Microsoft SQL Server </a:t>
            </a:r>
          </a:p>
          <a:p>
            <a:r>
              <a:rPr lang="fr-FR" sz="1600" b="1" dirty="0">
                <a:solidFill>
                  <a:schemeClr val="bg1"/>
                </a:solidFill>
              </a:rPr>
              <a:t>Administration de la base :</a:t>
            </a:r>
            <a:r>
              <a:rPr lang="fr-FR" sz="1600" dirty="0">
                <a:solidFill>
                  <a:schemeClr val="bg1"/>
                </a:solidFill>
              </a:rPr>
              <a:t> SQL Server Management Studio (SSMS) </a:t>
            </a:r>
          </a:p>
          <a:p>
            <a:r>
              <a:rPr lang="fr-FR" sz="1600" b="1" dirty="0">
                <a:solidFill>
                  <a:schemeClr val="bg1"/>
                </a:solidFill>
              </a:rPr>
              <a:t>Accès aux données :</a:t>
            </a:r>
            <a:r>
              <a:rPr lang="fr-FR" sz="1600" dirty="0">
                <a:solidFill>
                  <a:schemeClr val="bg1"/>
                </a:solidFill>
              </a:rPr>
              <a:t> ADO.NET (</a:t>
            </a:r>
            <a:r>
              <a:rPr lang="fr-FR" sz="1600" dirty="0" err="1">
                <a:solidFill>
                  <a:schemeClr val="bg1"/>
                </a:solidFill>
              </a:rPr>
              <a:t>SqlConnection</a:t>
            </a:r>
            <a:r>
              <a:rPr lang="fr-FR" sz="1600" dirty="0">
                <a:solidFill>
                  <a:schemeClr val="bg1"/>
                </a:solidFill>
              </a:rPr>
              <a:t>, </a:t>
            </a:r>
            <a:r>
              <a:rPr lang="fr-FR" sz="1600" dirty="0" err="1">
                <a:solidFill>
                  <a:schemeClr val="bg1"/>
                </a:solidFill>
              </a:rPr>
              <a:t>SqlCommand</a:t>
            </a:r>
            <a:r>
              <a:rPr lang="fr-FR" sz="1600" dirty="0">
                <a:solidFill>
                  <a:schemeClr val="bg1"/>
                </a:solidFill>
              </a:rPr>
              <a:t>, </a:t>
            </a:r>
            <a:r>
              <a:rPr lang="fr-FR" sz="1600" dirty="0" err="1">
                <a:solidFill>
                  <a:schemeClr val="bg1"/>
                </a:solidFill>
              </a:rPr>
              <a:t>SqlDataAdapter</a:t>
            </a:r>
            <a:r>
              <a:rPr lang="fr-FR" sz="1600" dirty="0">
                <a:solidFill>
                  <a:schemeClr val="bg1"/>
                </a:solidFill>
              </a:rPr>
              <a:t>)</a:t>
            </a:r>
          </a:p>
          <a:p>
            <a:r>
              <a:rPr lang="fr-FR" sz="1600" b="1" dirty="0">
                <a:solidFill>
                  <a:schemeClr val="bg1"/>
                </a:solidFill>
              </a:rPr>
              <a:t>Procédures stockées :</a:t>
            </a:r>
          </a:p>
          <a:p>
            <a:pPr marL="285750" indent="-285750">
              <a:buFont typeface="Arial" panose="020B0604020202020204" pitchFamily="34" charset="0"/>
              <a:buChar char="•"/>
            </a:pPr>
            <a:r>
              <a:rPr lang="fr-FR" sz="1600" dirty="0">
                <a:solidFill>
                  <a:schemeClr val="bg1"/>
                </a:solidFill>
              </a:rPr>
              <a:t>Gestion des opérations métier </a:t>
            </a:r>
          </a:p>
          <a:p>
            <a:pPr marL="285750" indent="-285750">
              <a:buFont typeface="Arial" panose="020B0604020202020204" pitchFamily="34" charset="0"/>
              <a:buChar char="•"/>
            </a:pPr>
            <a:r>
              <a:rPr lang="fr-FR" sz="1600" dirty="0">
                <a:solidFill>
                  <a:schemeClr val="bg1"/>
                </a:solidFill>
              </a:rPr>
              <a:t>Validation des données</a:t>
            </a:r>
          </a:p>
          <a:p>
            <a:pPr marL="285750" indent="-285750">
              <a:buFont typeface="Arial" panose="020B0604020202020204" pitchFamily="34" charset="0"/>
              <a:buChar char="•"/>
            </a:pPr>
            <a:r>
              <a:rPr lang="fr-FR" sz="1600" b="1" dirty="0">
                <a:solidFill>
                  <a:schemeClr val="bg1"/>
                </a:solidFill>
              </a:rPr>
              <a:t>Triggers :</a:t>
            </a:r>
          </a:p>
          <a:p>
            <a:pPr marL="285750" indent="-285750">
              <a:buFont typeface="Arial" panose="020B0604020202020204" pitchFamily="34" charset="0"/>
              <a:buChar char="•"/>
            </a:pPr>
            <a:r>
              <a:rPr lang="fr-FR" sz="1600" dirty="0">
                <a:solidFill>
                  <a:schemeClr val="bg1"/>
                </a:solidFill>
              </a:rPr>
              <a:t> Audit des opérations (INSERT, UPDATE, DELETE) </a:t>
            </a:r>
          </a:p>
          <a:p>
            <a:pPr marL="285750" indent="-285750">
              <a:buFont typeface="Arial" panose="020B0604020202020204" pitchFamily="34" charset="0"/>
              <a:buChar char="•"/>
            </a:pPr>
            <a:r>
              <a:rPr lang="fr-FR" sz="1600" dirty="0">
                <a:solidFill>
                  <a:schemeClr val="bg1"/>
                </a:solidFill>
              </a:rPr>
              <a:t>Contrôle du seuil d'alerte des produits</a:t>
            </a:r>
          </a:p>
        </p:txBody>
      </p:sp>
    </p:spTree>
    <p:extLst>
      <p:ext uri="{BB962C8B-B14F-4D97-AF65-F5344CB8AC3E}">
        <p14:creationId xmlns:p14="http://schemas.microsoft.com/office/powerpoint/2010/main" val="14572913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1D3697F-A44F-DE96-9504-906F48994A4D}"/>
              </a:ext>
            </a:extLst>
          </p:cNvPr>
          <p:cNvSpPr>
            <a:spLocks noGrp="1"/>
          </p:cNvSpPr>
          <p:nvPr>
            <p:ph type="title"/>
          </p:nvPr>
        </p:nvSpPr>
        <p:spPr/>
        <p:txBody>
          <a:bodyPr/>
          <a:lstStyle/>
          <a:p>
            <a:pPr algn="ctr"/>
            <a:r>
              <a:rPr lang="fr-FR" dirty="0"/>
              <a:t>Démonstration :</a:t>
            </a:r>
          </a:p>
        </p:txBody>
      </p:sp>
      <p:sp>
        <p:nvSpPr>
          <p:cNvPr id="4" name="ZoneTexte 3">
            <a:extLst>
              <a:ext uri="{FF2B5EF4-FFF2-40B4-BE49-F238E27FC236}">
                <a16:creationId xmlns:a16="http://schemas.microsoft.com/office/drawing/2014/main" id="{EC39A451-80DD-BAEC-7A63-D2A2BDD406CA}"/>
              </a:ext>
            </a:extLst>
          </p:cNvPr>
          <p:cNvSpPr txBox="1"/>
          <p:nvPr/>
        </p:nvSpPr>
        <p:spPr>
          <a:xfrm>
            <a:off x="991892" y="2417212"/>
            <a:ext cx="9670942" cy="3139321"/>
          </a:xfrm>
          <a:prstGeom prst="rect">
            <a:avLst/>
          </a:prstGeom>
          <a:noFill/>
        </p:spPr>
        <p:txBody>
          <a:bodyPr wrap="square">
            <a:spAutoFit/>
          </a:bodyPr>
          <a:lstStyle/>
          <a:p>
            <a:r>
              <a:rPr lang="fr-FR" b="1" dirty="0">
                <a:solidFill>
                  <a:schemeClr val="bg1">
                    <a:lumMod val="95000"/>
                    <a:lumOff val="5000"/>
                  </a:schemeClr>
                </a:solidFill>
              </a:rPr>
              <a:t>Objectif :</a:t>
            </a:r>
          </a:p>
          <a:p>
            <a:br>
              <a:rPr lang="fr-FR" dirty="0">
                <a:solidFill>
                  <a:schemeClr val="bg1">
                    <a:lumMod val="95000"/>
                    <a:lumOff val="5000"/>
                  </a:schemeClr>
                </a:solidFill>
              </a:rPr>
            </a:br>
            <a:r>
              <a:rPr lang="fr-FR" dirty="0">
                <a:solidFill>
                  <a:schemeClr val="bg1">
                    <a:lumMod val="95000"/>
                    <a:lumOff val="5000"/>
                  </a:schemeClr>
                </a:solidFill>
              </a:rPr>
              <a:t>Faciliter et organiser la gestion de stock.</a:t>
            </a:r>
          </a:p>
          <a:p>
            <a:endParaRPr lang="fr-FR" dirty="0">
              <a:solidFill>
                <a:schemeClr val="bg1">
                  <a:lumMod val="95000"/>
                  <a:lumOff val="5000"/>
                </a:schemeClr>
              </a:solidFill>
            </a:endParaRPr>
          </a:p>
          <a:p>
            <a:r>
              <a:rPr lang="fr-FR" b="1" dirty="0">
                <a:solidFill>
                  <a:schemeClr val="bg1">
                    <a:lumMod val="95000"/>
                    <a:lumOff val="5000"/>
                  </a:schemeClr>
                </a:solidFill>
              </a:rPr>
              <a:t>Fonctionnalités :</a:t>
            </a:r>
          </a:p>
          <a:p>
            <a:endParaRPr lang="fr-FR" dirty="0">
              <a:solidFill>
                <a:schemeClr val="bg1">
                  <a:lumMod val="95000"/>
                  <a:lumOff val="5000"/>
                </a:schemeClr>
              </a:solidFill>
            </a:endParaRPr>
          </a:p>
          <a:p>
            <a:pPr marL="285750" indent="-285750">
              <a:buFont typeface="Arial" panose="020B0604020202020204" pitchFamily="34" charset="0"/>
              <a:buChar char="•"/>
            </a:pPr>
            <a:r>
              <a:rPr lang="fr-FR" dirty="0">
                <a:solidFill>
                  <a:schemeClr val="bg1">
                    <a:lumMod val="95000"/>
                    <a:lumOff val="5000"/>
                  </a:schemeClr>
                </a:solidFill>
              </a:rPr>
              <a:t>Gérer les acteurs de stock(ajout, modification, suppression) .</a:t>
            </a:r>
          </a:p>
          <a:p>
            <a:pPr marL="285750" indent="-285750">
              <a:buFont typeface="Arial" panose="020B0604020202020204" pitchFamily="34" charset="0"/>
              <a:buChar char="•"/>
            </a:pPr>
            <a:r>
              <a:rPr lang="fr-FR" dirty="0">
                <a:solidFill>
                  <a:schemeClr val="bg1">
                    <a:lumMod val="95000"/>
                    <a:lumOff val="5000"/>
                  </a:schemeClr>
                </a:solidFill>
              </a:rPr>
              <a:t>Assurer la traçabilité des actions , des acteurs et la date d’action .</a:t>
            </a:r>
          </a:p>
          <a:p>
            <a:pPr marL="285750" indent="-285750">
              <a:buFont typeface="Arial" panose="020B0604020202020204" pitchFamily="34" charset="0"/>
              <a:buChar char="•"/>
            </a:pPr>
            <a:r>
              <a:rPr lang="fr-FR" dirty="0">
                <a:solidFill>
                  <a:schemeClr val="bg1">
                    <a:lumMod val="95000"/>
                    <a:lumOff val="5000"/>
                  </a:schemeClr>
                </a:solidFill>
              </a:rPr>
              <a:t>Suivi des mouvements de stock .</a:t>
            </a:r>
          </a:p>
          <a:p>
            <a:pPr marL="285750" indent="-285750">
              <a:buFont typeface="Arial" panose="020B0604020202020204" pitchFamily="34" charset="0"/>
              <a:buChar char="•"/>
            </a:pPr>
            <a:r>
              <a:rPr lang="fr-FR" dirty="0">
                <a:solidFill>
                  <a:schemeClr val="bg1">
                    <a:lumMod val="95000"/>
                    <a:lumOff val="5000"/>
                  </a:schemeClr>
                </a:solidFill>
              </a:rPr>
              <a:t>Interface simple et claire .</a:t>
            </a:r>
          </a:p>
          <a:p>
            <a:endParaRPr lang="fr-FR" dirty="0">
              <a:solidFill>
                <a:schemeClr val="bg1">
                  <a:lumMod val="95000"/>
                  <a:lumOff val="5000"/>
                </a:schemeClr>
              </a:solidFill>
            </a:endParaRPr>
          </a:p>
        </p:txBody>
      </p:sp>
    </p:spTree>
    <p:extLst>
      <p:ext uri="{BB962C8B-B14F-4D97-AF65-F5344CB8AC3E}">
        <p14:creationId xmlns:p14="http://schemas.microsoft.com/office/powerpoint/2010/main" val="4444519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A30C299D-49A0-4DC7-9DFA-B7947F94C1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9418" y="1539412"/>
            <a:ext cx="6493138" cy="3779176"/>
          </a:xfrm>
          <a:prstGeom prst="rect">
            <a:avLst/>
          </a:prstGeom>
        </p:spPr>
      </p:pic>
      <p:sp>
        <p:nvSpPr>
          <p:cNvPr id="6" name="ZoneTexte 5">
            <a:extLst>
              <a:ext uri="{FF2B5EF4-FFF2-40B4-BE49-F238E27FC236}">
                <a16:creationId xmlns:a16="http://schemas.microsoft.com/office/drawing/2014/main" id="{212C2577-CC6B-73DB-55E7-77DDE983B1EE}"/>
              </a:ext>
            </a:extLst>
          </p:cNvPr>
          <p:cNvSpPr txBox="1"/>
          <p:nvPr/>
        </p:nvSpPr>
        <p:spPr>
          <a:xfrm>
            <a:off x="2139418" y="536004"/>
            <a:ext cx="6098582" cy="369332"/>
          </a:xfrm>
          <a:prstGeom prst="rect">
            <a:avLst/>
          </a:prstGeom>
          <a:noFill/>
        </p:spPr>
        <p:txBody>
          <a:bodyPr wrap="square">
            <a:spAutoFit/>
          </a:bodyPr>
          <a:lstStyle/>
          <a:p>
            <a:r>
              <a:rPr lang="fr-FR" sz="1800" dirty="0"/>
              <a:t>INTERFACE DE FORM AUTHENTIFICATION :</a:t>
            </a:r>
            <a:endParaRPr lang="fr-FR" dirty="0"/>
          </a:p>
        </p:txBody>
      </p:sp>
    </p:spTree>
    <p:extLst>
      <p:ext uri="{BB962C8B-B14F-4D97-AF65-F5344CB8AC3E}">
        <p14:creationId xmlns:p14="http://schemas.microsoft.com/office/powerpoint/2010/main" val="2887789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B0571A31-5A9F-7F21-F94F-008E0BC47F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84297" y="1095049"/>
            <a:ext cx="8640381" cy="4667901"/>
          </a:xfrm>
          <a:prstGeom prst="rect">
            <a:avLst/>
          </a:prstGeom>
        </p:spPr>
      </p:pic>
      <p:sp>
        <p:nvSpPr>
          <p:cNvPr id="6" name="ZoneTexte 5">
            <a:extLst>
              <a:ext uri="{FF2B5EF4-FFF2-40B4-BE49-F238E27FC236}">
                <a16:creationId xmlns:a16="http://schemas.microsoft.com/office/drawing/2014/main" id="{4370A54B-9414-89E5-A412-5BA6A3BF8B60}"/>
              </a:ext>
            </a:extLst>
          </p:cNvPr>
          <p:cNvSpPr txBox="1"/>
          <p:nvPr/>
        </p:nvSpPr>
        <p:spPr>
          <a:xfrm>
            <a:off x="2413862" y="505008"/>
            <a:ext cx="6098582" cy="369332"/>
          </a:xfrm>
          <a:prstGeom prst="rect">
            <a:avLst/>
          </a:prstGeom>
          <a:noFill/>
        </p:spPr>
        <p:txBody>
          <a:bodyPr wrap="square">
            <a:spAutoFit/>
          </a:bodyPr>
          <a:lstStyle/>
          <a:p>
            <a:r>
              <a:rPr lang="fr-FR" sz="1800" dirty="0"/>
              <a:t>INTERFACE DE FORM </a:t>
            </a:r>
            <a:r>
              <a:rPr lang="fr-FR" dirty="0"/>
              <a:t> MEMU PRINCIPALE</a:t>
            </a:r>
            <a:r>
              <a:rPr lang="fr-FR" sz="1800" dirty="0"/>
              <a:t> :</a:t>
            </a:r>
            <a:endParaRPr lang="fr-FR" dirty="0"/>
          </a:p>
        </p:txBody>
      </p:sp>
    </p:spTree>
    <p:extLst>
      <p:ext uri="{BB962C8B-B14F-4D97-AF65-F5344CB8AC3E}">
        <p14:creationId xmlns:p14="http://schemas.microsoft.com/office/powerpoint/2010/main" val="42266229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AA8E5FA5-63AC-8BDA-3971-53A27C0473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32941" y="1107137"/>
            <a:ext cx="8726118" cy="4953691"/>
          </a:xfrm>
          <a:prstGeom prst="rect">
            <a:avLst/>
          </a:prstGeom>
        </p:spPr>
      </p:pic>
      <p:sp>
        <p:nvSpPr>
          <p:cNvPr id="5" name="ZoneTexte 4">
            <a:extLst>
              <a:ext uri="{FF2B5EF4-FFF2-40B4-BE49-F238E27FC236}">
                <a16:creationId xmlns:a16="http://schemas.microsoft.com/office/drawing/2014/main" id="{C7A10A40-F420-9B12-A3BC-FD0DC8637411}"/>
              </a:ext>
            </a:extLst>
          </p:cNvPr>
          <p:cNvSpPr txBox="1"/>
          <p:nvPr/>
        </p:nvSpPr>
        <p:spPr>
          <a:xfrm>
            <a:off x="3046709" y="582822"/>
            <a:ext cx="6098582" cy="369332"/>
          </a:xfrm>
          <a:prstGeom prst="rect">
            <a:avLst/>
          </a:prstGeom>
          <a:noFill/>
        </p:spPr>
        <p:txBody>
          <a:bodyPr wrap="square">
            <a:spAutoFit/>
          </a:bodyPr>
          <a:lstStyle/>
          <a:p>
            <a:r>
              <a:rPr lang="fr-FR" sz="1800" dirty="0"/>
              <a:t>GESTION DES CLIENTS :</a:t>
            </a:r>
            <a:endParaRPr lang="fr-FR" dirty="0"/>
          </a:p>
        </p:txBody>
      </p:sp>
    </p:spTree>
    <p:extLst>
      <p:ext uri="{BB962C8B-B14F-4D97-AF65-F5344CB8AC3E}">
        <p14:creationId xmlns:p14="http://schemas.microsoft.com/office/powerpoint/2010/main" val="19855273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AC2BFAF0-F0F4-F2B8-E716-B7A5125EFF72}"/>
              </a:ext>
            </a:extLst>
          </p:cNvPr>
          <p:cNvSpPr txBox="1"/>
          <p:nvPr/>
        </p:nvSpPr>
        <p:spPr>
          <a:xfrm>
            <a:off x="3046709" y="737482"/>
            <a:ext cx="6098582" cy="369332"/>
          </a:xfrm>
          <a:prstGeom prst="rect">
            <a:avLst/>
          </a:prstGeom>
          <a:noFill/>
        </p:spPr>
        <p:txBody>
          <a:bodyPr wrap="square">
            <a:spAutoFit/>
          </a:bodyPr>
          <a:lstStyle/>
          <a:p>
            <a:r>
              <a:rPr lang="fr-FR" sz="1800" dirty="0"/>
              <a:t>GESTION DES PRODUITS :</a:t>
            </a:r>
            <a:endParaRPr lang="fr-FR" dirty="0"/>
          </a:p>
        </p:txBody>
      </p:sp>
      <p:pic>
        <p:nvPicPr>
          <p:cNvPr id="5" name="Image 4">
            <a:extLst>
              <a:ext uri="{FF2B5EF4-FFF2-40B4-BE49-F238E27FC236}">
                <a16:creationId xmlns:a16="http://schemas.microsoft.com/office/drawing/2014/main" id="{2638C3A7-A5BC-293F-551A-2B58758BF4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0967" y="1328948"/>
            <a:ext cx="9250066" cy="5068007"/>
          </a:xfrm>
          <a:prstGeom prst="rect">
            <a:avLst/>
          </a:prstGeom>
        </p:spPr>
      </p:pic>
    </p:spTree>
    <p:extLst>
      <p:ext uri="{BB962C8B-B14F-4D97-AF65-F5344CB8AC3E}">
        <p14:creationId xmlns:p14="http://schemas.microsoft.com/office/powerpoint/2010/main" val="19642972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48CB0CE4-ACBC-C2E2-D81D-877B03994AC8}"/>
              </a:ext>
            </a:extLst>
          </p:cNvPr>
          <p:cNvSpPr txBox="1"/>
          <p:nvPr/>
        </p:nvSpPr>
        <p:spPr>
          <a:xfrm>
            <a:off x="3046709" y="381021"/>
            <a:ext cx="6098582" cy="369332"/>
          </a:xfrm>
          <a:prstGeom prst="rect">
            <a:avLst/>
          </a:prstGeom>
          <a:noFill/>
        </p:spPr>
        <p:txBody>
          <a:bodyPr wrap="square">
            <a:spAutoFit/>
          </a:bodyPr>
          <a:lstStyle/>
          <a:p>
            <a:r>
              <a:rPr lang="fr-FR" sz="1800" dirty="0"/>
              <a:t>GESTION DES PAIEMENTS :</a:t>
            </a:r>
            <a:endParaRPr lang="fr-FR" dirty="0"/>
          </a:p>
        </p:txBody>
      </p:sp>
      <p:pic>
        <p:nvPicPr>
          <p:cNvPr id="5" name="Image 4">
            <a:extLst>
              <a:ext uri="{FF2B5EF4-FFF2-40B4-BE49-F238E27FC236}">
                <a16:creationId xmlns:a16="http://schemas.microsoft.com/office/drawing/2014/main" id="{40E1BA75-76C5-9F43-2F36-8D97DD8629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47363" y="1075996"/>
            <a:ext cx="7697274" cy="4706007"/>
          </a:xfrm>
          <a:prstGeom prst="rect">
            <a:avLst/>
          </a:prstGeom>
        </p:spPr>
      </p:pic>
    </p:spTree>
    <p:extLst>
      <p:ext uri="{BB962C8B-B14F-4D97-AF65-F5344CB8AC3E}">
        <p14:creationId xmlns:p14="http://schemas.microsoft.com/office/powerpoint/2010/main" val="279859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E9C33C98-E70B-54DC-08B8-EDD890518E31}"/>
              </a:ext>
            </a:extLst>
          </p:cNvPr>
          <p:cNvSpPr txBox="1"/>
          <p:nvPr/>
        </p:nvSpPr>
        <p:spPr>
          <a:xfrm>
            <a:off x="3046709" y="443015"/>
            <a:ext cx="6098582" cy="369332"/>
          </a:xfrm>
          <a:prstGeom prst="rect">
            <a:avLst/>
          </a:prstGeom>
          <a:noFill/>
        </p:spPr>
        <p:txBody>
          <a:bodyPr wrap="square">
            <a:spAutoFit/>
          </a:bodyPr>
          <a:lstStyle/>
          <a:p>
            <a:r>
              <a:rPr lang="fr-FR" sz="1800" dirty="0"/>
              <a:t>GESTION D’AUDIT :</a:t>
            </a:r>
            <a:endParaRPr lang="fr-FR" dirty="0"/>
          </a:p>
        </p:txBody>
      </p:sp>
      <p:pic>
        <p:nvPicPr>
          <p:cNvPr id="5" name="Image 4">
            <a:extLst>
              <a:ext uri="{FF2B5EF4-FFF2-40B4-BE49-F238E27FC236}">
                <a16:creationId xmlns:a16="http://schemas.microsoft.com/office/drawing/2014/main" id="{588D07DE-6AB5-2930-5751-5FB080A3F6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3203" y="1318918"/>
            <a:ext cx="10345594" cy="4220164"/>
          </a:xfrm>
          <a:prstGeom prst="rect">
            <a:avLst/>
          </a:prstGeom>
        </p:spPr>
      </p:pic>
    </p:spTree>
    <p:extLst>
      <p:ext uri="{BB962C8B-B14F-4D97-AF65-F5344CB8AC3E}">
        <p14:creationId xmlns:p14="http://schemas.microsoft.com/office/powerpoint/2010/main" val="38723614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357FB66-BADB-C1F1-AB58-75AB97130DBA}"/>
              </a:ext>
            </a:extLst>
          </p:cNvPr>
          <p:cNvSpPr>
            <a:spLocks noGrp="1"/>
          </p:cNvSpPr>
          <p:nvPr>
            <p:ph type="title"/>
          </p:nvPr>
        </p:nvSpPr>
        <p:spPr/>
        <p:txBody>
          <a:bodyPr/>
          <a:lstStyle/>
          <a:p>
            <a:pPr algn="ctr"/>
            <a:r>
              <a:rPr lang="fr-FR" dirty="0"/>
              <a:t>Conclusion :</a:t>
            </a:r>
          </a:p>
        </p:txBody>
      </p:sp>
      <p:sp>
        <p:nvSpPr>
          <p:cNvPr id="4" name="ZoneTexte 3">
            <a:extLst>
              <a:ext uri="{FF2B5EF4-FFF2-40B4-BE49-F238E27FC236}">
                <a16:creationId xmlns:a16="http://schemas.microsoft.com/office/drawing/2014/main" id="{7B04CAED-770B-E59B-9703-0933AF5E5939}"/>
              </a:ext>
            </a:extLst>
          </p:cNvPr>
          <p:cNvSpPr txBox="1"/>
          <p:nvPr/>
        </p:nvSpPr>
        <p:spPr>
          <a:xfrm>
            <a:off x="681925" y="2994590"/>
            <a:ext cx="10305074" cy="3416320"/>
          </a:xfrm>
          <a:prstGeom prst="rect">
            <a:avLst/>
          </a:prstGeom>
          <a:noFill/>
        </p:spPr>
        <p:txBody>
          <a:bodyPr wrap="square">
            <a:spAutoFit/>
          </a:bodyPr>
          <a:lstStyle/>
          <a:p>
            <a:r>
              <a:rPr lang="fr-FR" dirty="0">
                <a:solidFill>
                  <a:schemeClr val="bg1"/>
                </a:solidFill>
              </a:rPr>
              <a:t>Ce projet m'a permis de développer une application complète de gestion de stock en utilisant </a:t>
            </a:r>
            <a:r>
              <a:rPr lang="fr-FR" b="1" dirty="0">
                <a:solidFill>
                  <a:schemeClr val="bg1"/>
                </a:solidFill>
              </a:rPr>
              <a:t>C#</a:t>
            </a:r>
            <a:r>
              <a:rPr lang="fr-FR" dirty="0">
                <a:solidFill>
                  <a:schemeClr val="bg1"/>
                </a:solidFill>
              </a:rPr>
              <a:t>, </a:t>
            </a:r>
            <a:r>
              <a:rPr lang="fr-FR" b="1" dirty="0" err="1">
                <a:solidFill>
                  <a:schemeClr val="bg1"/>
                </a:solidFill>
              </a:rPr>
              <a:t>WinForms</a:t>
            </a:r>
            <a:r>
              <a:rPr lang="fr-FR" dirty="0">
                <a:solidFill>
                  <a:schemeClr val="bg1"/>
                </a:solidFill>
              </a:rPr>
              <a:t> et </a:t>
            </a:r>
            <a:r>
              <a:rPr lang="fr-FR" b="1" dirty="0">
                <a:solidFill>
                  <a:schemeClr val="bg1"/>
                </a:solidFill>
              </a:rPr>
              <a:t>SQL Server</a:t>
            </a:r>
            <a:r>
              <a:rPr lang="fr-FR" dirty="0">
                <a:solidFill>
                  <a:schemeClr val="bg1"/>
                </a:solidFill>
              </a:rPr>
              <a:t>.</a:t>
            </a:r>
          </a:p>
          <a:p>
            <a:r>
              <a:rPr lang="fr-FR" dirty="0">
                <a:solidFill>
                  <a:schemeClr val="bg1"/>
                </a:solidFill>
              </a:rPr>
              <a:t>Il m'a permis de mettre en pratique les compétences acquises en :</a:t>
            </a:r>
          </a:p>
          <a:p>
            <a:pPr marL="285750" indent="-285750">
              <a:buFont typeface="Arial" panose="020B0604020202020204" pitchFamily="34" charset="0"/>
              <a:buChar char="•"/>
            </a:pPr>
            <a:r>
              <a:rPr lang="fr-FR" dirty="0">
                <a:solidFill>
                  <a:schemeClr val="bg1"/>
                </a:solidFill>
              </a:rPr>
              <a:t>Analyse </a:t>
            </a:r>
          </a:p>
          <a:p>
            <a:pPr marL="285750" indent="-285750">
              <a:buFont typeface="Arial" panose="020B0604020202020204" pitchFamily="34" charset="0"/>
              <a:buChar char="•"/>
            </a:pPr>
            <a:r>
              <a:rPr lang="fr-FR" dirty="0">
                <a:solidFill>
                  <a:schemeClr val="bg1"/>
                </a:solidFill>
              </a:rPr>
              <a:t>Conception </a:t>
            </a:r>
          </a:p>
          <a:p>
            <a:pPr marL="285750" indent="-285750">
              <a:buFont typeface="Arial" panose="020B0604020202020204" pitchFamily="34" charset="0"/>
              <a:buChar char="•"/>
            </a:pPr>
            <a:r>
              <a:rPr lang="fr-FR" dirty="0">
                <a:solidFill>
                  <a:schemeClr val="bg1"/>
                </a:solidFill>
              </a:rPr>
              <a:t>Modélisation </a:t>
            </a:r>
          </a:p>
          <a:p>
            <a:pPr marL="285750" indent="-285750">
              <a:buFont typeface="Arial" panose="020B0604020202020204" pitchFamily="34" charset="0"/>
              <a:buChar char="•"/>
            </a:pPr>
            <a:r>
              <a:rPr lang="fr-FR" dirty="0">
                <a:solidFill>
                  <a:schemeClr val="bg1"/>
                </a:solidFill>
              </a:rPr>
              <a:t>Développement </a:t>
            </a:r>
          </a:p>
          <a:p>
            <a:pPr marL="285750" indent="-285750">
              <a:buFont typeface="Arial" panose="020B0604020202020204" pitchFamily="34" charset="0"/>
              <a:buChar char="•"/>
            </a:pPr>
            <a:r>
              <a:rPr lang="fr-FR" dirty="0">
                <a:solidFill>
                  <a:schemeClr val="bg1"/>
                </a:solidFill>
              </a:rPr>
              <a:t>Administration de bases de données </a:t>
            </a:r>
          </a:p>
          <a:p>
            <a:pPr marL="285750" indent="-285750">
              <a:buFont typeface="Wingdings" panose="05000000000000000000" pitchFamily="2" charset="2"/>
              <a:buChar char="v"/>
            </a:pPr>
            <a:r>
              <a:rPr lang="fr-FR" b="1" dirty="0">
                <a:solidFill>
                  <a:schemeClr val="bg1"/>
                </a:solidFill>
              </a:rPr>
              <a:t>CETTE EXPÉRIENCE A RENFORCÉ MES COMPÉTENCES TECHNIQUES ET M'A PRÉPARÉ AU DÉVELOPPEMENT D'APPLICATIONS PROFESSIONNELLES.</a:t>
            </a:r>
          </a:p>
          <a:p>
            <a:endParaRPr lang="fr-FR" b="1" dirty="0">
              <a:solidFill>
                <a:schemeClr val="bg1"/>
              </a:solidFill>
              <a:effectLst>
                <a:outerShdw blurRad="38100" dist="38100" dir="2700000" algn="tl">
                  <a:srgbClr val="000000">
                    <a:alpha val="43137"/>
                  </a:srgbClr>
                </a:outerShdw>
              </a:effectLst>
            </a:endParaRPr>
          </a:p>
          <a:p>
            <a:endParaRPr lang="fr-FR" b="1" dirty="0">
              <a:solidFill>
                <a:schemeClr val="bg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77621098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À bandes">
  <a:themeElements>
    <a:clrScheme name="À bandes">
      <a:dk1>
        <a:srgbClr val="2C2C2C"/>
      </a:dk1>
      <a:lt1>
        <a:srgbClr val="FFFFFF"/>
      </a:lt1>
      <a:dk2>
        <a:srgbClr val="099BDD"/>
      </a:dk2>
      <a:lt2>
        <a:srgbClr val="F2F2F2"/>
      </a:lt2>
      <a:accent1>
        <a:srgbClr val="FFC000"/>
      </a:accent1>
      <a:accent2>
        <a:srgbClr val="A5D028"/>
      </a:accent2>
      <a:accent3>
        <a:srgbClr val="08CC78"/>
      </a:accent3>
      <a:accent4>
        <a:srgbClr val="F24099"/>
      </a:accent4>
      <a:accent5>
        <a:srgbClr val="828288"/>
      </a:accent5>
      <a:accent6>
        <a:srgbClr val="F56617"/>
      </a:accent6>
      <a:hlink>
        <a:srgbClr val="005DBA"/>
      </a:hlink>
      <a:folHlink>
        <a:srgbClr val="6C606A"/>
      </a:folHlink>
    </a:clrScheme>
    <a:fontScheme name="À bande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À bandes">
      <a:fillStyleLst>
        <a:solidFill>
          <a:schemeClr val="phClr"/>
        </a:solidFill>
        <a:gradFill rotWithShape="1">
          <a:gsLst>
            <a:gs pos="0">
              <a:schemeClr val="phClr">
                <a:tint val="65000"/>
                <a:satMod val="120000"/>
                <a:lumMod val="107000"/>
              </a:schemeClr>
            </a:gs>
            <a:gs pos="50000">
              <a:schemeClr val="phClr">
                <a:tint val="70000"/>
                <a:satMod val="124000"/>
                <a:lumMod val="103000"/>
              </a:schemeClr>
            </a:gs>
            <a:gs pos="100000">
              <a:schemeClr val="phClr">
                <a:tint val="85000"/>
                <a:satMod val="120000"/>
                <a:lumMod val="100000"/>
              </a:schemeClr>
            </a:gs>
          </a:gsLst>
          <a:lin ang="5400000" scaled="0"/>
        </a:gradFill>
        <a:gradFill rotWithShape="1">
          <a:gsLst>
            <a:gs pos="0">
              <a:schemeClr val="phClr">
                <a:tint val="85000"/>
                <a:shade val="98000"/>
                <a:satMod val="110000"/>
                <a:lumMod val="103000"/>
              </a:schemeClr>
            </a:gs>
            <a:gs pos="50000">
              <a:schemeClr val="phClr">
                <a:shade val="85000"/>
                <a:satMod val="105000"/>
                <a:lumMod val="100000"/>
              </a:schemeClr>
            </a:gs>
            <a:gs pos="100000">
              <a:schemeClr val="phClr">
                <a:shade val="60000"/>
                <a:satMod val="12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15875" dir="5400000" algn="ctr" rotWithShape="0">
              <a:srgbClr val="000000">
                <a:alpha val="68000"/>
              </a:srgbClr>
            </a:outerShdw>
          </a:effectLst>
        </a:effectStyle>
        <a:effectStyle>
          <a:effectLst>
            <a:outerShdw blurRad="88900" dist="27940" dir="5400000" algn="ctr" rotWithShape="0">
              <a:srgbClr val="000000">
                <a:alpha val="63000"/>
              </a:srgbClr>
            </a:outerShdw>
          </a:effectLst>
        </a:effectStyle>
      </a:effectStyleLst>
      <a:bgFillStyleLst>
        <a:solidFill>
          <a:schemeClr val="phClr"/>
        </a:solidFill>
        <a:blipFill rotWithShape="1">
          <a:blip xmlns:r="http://schemas.openxmlformats.org/officeDocument/2006/relationships" r:embed="rId1">
            <a:duotone>
              <a:schemeClr val="phClr"/>
              <a:schemeClr val="phClr">
                <a:shade val="91000"/>
                <a:satMod val="105000"/>
              </a:schemeClr>
            </a:duotone>
          </a:blip>
          <a:tile tx="0" ty="0" sx="100000" sy="100000" flip="none" algn="tl"/>
        </a:blipFill>
        <a:gradFill rotWithShape="1">
          <a:gsLst>
            <a:gs pos="0">
              <a:schemeClr val="phClr">
                <a:tint val="100000"/>
                <a:shade val="0"/>
                <a:satMod val="100000"/>
              </a:schemeClr>
            </a:gs>
            <a:gs pos="100000">
              <a:schemeClr val="phClr">
                <a:shade val="10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Banded" id="{98DFF888-2449-4D28-977C-6306C017633E}" vid="{9792607F-9579-4224-82FF-9C88C3E1E53D}"/>
    </a:ext>
  </a:extLst>
</a:theme>
</file>

<file path=docProps/app.xml><?xml version="1.0" encoding="utf-8"?>
<Properties xmlns="http://schemas.openxmlformats.org/officeDocument/2006/extended-properties" xmlns:vt="http://schemas.openxmlformats.org/officeDocument/2006/docPropsVTypes">
  <Template>TM03090430[[fn=À bandes]]</Template>
  <TotalTime>415</TotalTime>
  <Words>2344</Words>
  <Application>Microsoft Office PowerPoint</Application>
  <PresentationFormat>Grand écran</PresentationFormat>
  <Paragraphs>684</Paragraphs>
  <Slides>29</Slides>
  <Notes>0</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29</vt:i4>
      </vt:variant>
    </vt:vector>
  </HeadingPairs>
  <TitlesOfParts>
    <vt:vector size="38" baseType="lpstr">
      <vt:lpstr>Algerian</vt:lpstr>
      <vt:lpstr>Arial</vt:lpstr>
      <vt:lpstr>Arial Black</vt:lpstr>
      <vt:lpstr>Corbel</vt:lpstr>
      <vt:lpstr>Symbol</vt:lpstr>
      <vt:lpstr>Tahoma</vt:lpstr>
      <vt:lpstr>Times New Roman</vt:lpstr>
      <vt:lpstr>Wingdings</vt:lpstr>
      <vt:lpstr>À bandes</vt:lpstr>
      <vt:lpstr>Projet de fin Formation « GESTION DE STOCK » Filière : Technicien Spécialisé  « En Développement Informatique »       Encadré par :  M. MUSTAPHA LAGHZIL</vt:lpstr>
      <vt:lpstr>PLAN</vt:lpstr>
      <vt:lpstr>Introduction</vt:lpstr>
      <vt:lpstr>Présentation de projet :</vt:lpstr>
      <vt:lpstr>Partie analyse :  Dictionnaire de données</vt:lpstr>
      <vt:lpstr>Présentation PowerPoint</vt:lpstr>
      <vt:lpstr>Présentation PowerPoint</vt:lpstr>
      <vt:lpstr>Présentation PowerPoint</vt:lpstr>
      <vt:lpstr>Présentation PowerPoint</vt:lpstr>
      <vt:lpstr>Présentation PowerPoint</vt:lpstr>
      <vt:lpstr>Présentation PowerPoint</vt:lpstr>
      <vt:lpstr>Règles de gestion :</vt:lpstr>
      <vt:lpstr>modèle conceptuel de données (MCD) :</vt:lpstr>
      <vt:lpstr>Modèle Logique de données (MLD) : </vt:lpstr>
      <vt:lpstr>Présentation PowerPoint</vt:lpstr>
      <vt:lpstr>Modèle physique de Données (MPD) :</vt:lpstr>
      <vt:lpstr>Unified modeling language (UML) :</vt:lpstr>
      <vt:lpstr>Présentation PowerPoint</vt:lpstr>
      <vt:lpstr>Diagramme de Classe :</vt:lpstr>
      <vt:lpstr>Diagramme de séquence :</vt:lpstr>
      <vt:lpstr>Technologies :</vt:lpstr>
      <vt:lpstr>Démonstration :</vt:lpstr>
      <vt:lpstr>Présentation PowerPoint</vt:lpstr>
      <vt:lpstr>Présentation PowerPoint</vt:lpstr>
      <vt:lpstr>Présentation PowerPoint</vt:lpstr>
      <vt:lpstr>Présentation PowerPoint</vt:lpstr>
      <vt:lpstr>Présentation PowerPoint</vt:lpstr>
      <vt:lpstr>Présentation PowerPoint</vt:lpstr>
      <vt:lpstr>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Amine Jebbouj</dc:creator>
  <cp:lastModifiedBy>Amine Jebbouj</cp:lastModifiedBy>
  <cp:revision>18</cp:revision>
  <dcterms:created xsi:type="dcterms:W3CDTF">2026-07-06T21:41:49Z</dcterms:created>
  <dcterms:modified xsi:type="dcterms:W3CDTF">2026-07-07T07:11:47Z</dcterms:modified>
</cp:coreProperties>
</file>